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Default Extension="jpeg" ContentType="image/jpeg"/>
  <Default Extension="png" ContentType="image/png"/>
  <Override PartName="/ppt/presentation.xml" ContentType="application/vnd.openxmlformats-officedocument.presentationml.presentation.main+xml"/>
  <Override PartName="/ppt/slideMasters/slideMaster.xml" ContentType="application/vnd.openxmlformats-officedocument.presentationml.slideMaster+xml"/>
  <Override PartName="/ppt/slideLayouts/slideLayout.xml" ContentType="application/vnd.openxmlformats-officedocument.presentationml.slideLayout+xml"/>
  <Override PartName="/ppt/theme/theme.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&#65279;<?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1"/>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7555992" cy="10692384"/>
  <p:notesSz cx="6858000" cy="9144000"/>
</p:presentation>
</file>

<file path=ppt/presProps.xml><?xml version="1.0" encoding="utf-8"?>
<p:presentationPr xmlns:p="http://schemas.openxmlformats.org/presentationml/2006/main" xmlns:a="http://schemas.openxmlformats.org/drawingml/2006/main" xmlns:r="http://schemas.openxmlformats.org/officeDocument/2006/relationships">
</p:presentationPr>
</file>

<file path=ppt/tableStyles.xml><?xml version="1.0" encoding="utf-8"?>
<a:tblStyleLst xmlns:a="http://schemas.openxmlformats.org/drawingml/2006/main" def="{5C22544A-7EE6-4342-B048-85BDC9FD1C3A}">
</a:tblStyleLst>
</file>

<file path=ppt/_rels/presentation.xml.rels>&#65279;<?xml version="1.0" encoding="UTF-8" standalone="yes"?>
<Relationships xmlns="http://schemas.openxmlformats.org/package/2006/relationships"><Relationship Id="rId1" Type="http://schemas.openxmlformats.org/officeDocument/2006/relationships/slideMaster" Target="slideMasters/slideMaster.xml"/><Relationship Id="rId2" Type="http://schemas.openxmlformats.org/officeDocument/2006/relationships/theme" Target="theme/theme.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s>
</file>

<file path=ppt/slideLayouts/_rels/slideLayout.xml.rels>&#65279;<?xml version="1.0" encoding="UTF-8" standalone="yes"?>
<Relationships xmlns="http://schemas.openxmlformats.org/package/2006/relationships"><Relationship Id="rId1" Type="http://schemas.openxmlformats.org/officeDocument/2006/relationships/slideMaster" Target="../slideMasters/slideMaster.xml"/></Relationships>
</file>

<file path=ppt/slideLayouts/slideLayout.xml><?xml version="1.0" encoding="utf-8"?>
<p:sldLayout xmlns:p="http://schemas.openxmlformats.org/presentationml/2006/main" xmlns:a="http://schemas.openxmlformats.org/drawingml/2006/main" xmlns:r="http://schemas.openxmlformats.org/officeDocument/2006/relationships">
  <p:cSld>
    <p:spTree>
      <p:nvGrpSpPr>
        <p:cNvPr id="1" name=""/>
        <p:cNvGrpSpPr/>
        <p:nvPr/>
      </p:nvGrpSpPr>
      <p:grpSpPr/>
    </p:spTree>
  </p:cSld>
  <p:clrMapOvr>
    <a:masterClrMapping/>
  </p:clrMapOvr>
</p:sldLayout>
</file>

<file path=ppt/slideMasters/_rels/slideMaster.xml.rels>&#65279;<?xml version="1.0" encoding="UTF-8" standalone="yes"?>
<Relationships xmlns="http://schemas.openxmlformats.org/package/2006/relationships"><Relationship Id="rId1" Type="http://schemas.openxmlformats.org/officeDocument/2006/relationships/slideLayout" Target="../slideLayouts/slideLayout.xml"/><Relationship Id="rId2" Type="http://schemas.openxmlformats.org/officeDocument/2006/relationships/theme" Target="../theme/theme.xml"/></Relationships>
</file>

<file path=ppt/slideMasters/slideMaster.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2.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3.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4.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5.xml.rels>&#65279;<?xml version="1.0" encoding="UTF-8" standalone="yes"?>
<Relationships xmlns="http://schemas.openxmlformats.org/package/2006/relationships"><Relationship Id="rPictId0" Type="http://schemas.openxmlformats.org/officeDocument/2006/relationships/image" Target="../media/image1.jpeg"/><Relationship Id="rId1" Type="http://schemas.openxmlformats.org/officeDocument/2006/relationships/slideLayout" Target="../slideLayouts/slideLayout.xml"/></Relationships>
</file>

<file path=ppt/slides/_rels/slide6.xml.rels>&#65279;<?xml version="1.0" encoding="UTF-8" standalone="yes"?>
<Relationships xmlns="http://schemas.openxmlformats.org/package/2006/relationships"><Relationship Id="rPictId0" Type="http://schemas.openxmlformats.org/officeDocument/2006/relationships/image" Target="../media/image2.jpeg"/><Relationship Id="rPictId1" Type="http://schemas.openxmlformats.org/officeDocument/2006/relationships/image" Target="../media/image3.jpeg"/><Relationship Id="rId1" Type="http://schemas.openxmlformats.org/officeDocument/2006/relationships/slideLayout" Target="../slideLayouts/slideLayout.xml"/></Relationships>
</file>

<file path=ppt/slides/_rels/slide7.xml.rels>&#65279;<?xml version="1.0" encoding="UTF-8" standalone="yes"?>
<Relationships xmlns="http://schemas.openxmlformats.org/package/2006/relationships"><Relationship Id="rPictId0" Type="http://schemas.openxmlformats.org/officeDocument/2006/relationships/image" Target="../media/image4.jpeg"/><Relationship Id="rPictId1" Type="http://schemas.openxmlformats.org/officeDocument/2006/relationships/image" Target="../media/image5.jpeg"/><Relationship Id="rId1" Type="http://schemas.openxmlformats.org/officeDocument/2006/relationships/slideLayout" Target="../slideLayouts/slideLayout.xml"/></Relationships>
</file>

<file path=ppt/slides/_rels/slide8.xml.rels>&#65279;<?xml version="1.0" encoding="UTF-8" standalone="yes"?>
<Relationships xmlns="http://schemas.openxmlformats.org/package/2006/relationships"><Relationship Id="rPictId0" Type="http://schemas.openxmlformats.org/officeDocument/2006/relationships/image" Target="../media/image6.jpeg"/><Relationship Id="rPictId1" Type="http://schemas.openxmlformats.org/officeDocument/2006/relationships/image" Target="../media/image7.jpeg"/><Relationship Id="rId1" Type="http://schemas.openxmlformats.org/officeDocument/2006/relationships/slideLayout" Target="../slideLayouts/slideLayout.xml"/></Relationships>
</file>

<file path=ppt/slides/_rels/slide9.xml.rels>&#65279;<?xml version="1.0" encoding="UTF-8" standalone="yes"?>
<Relationships xmlns="http://schemas.openxmlformats.org/package/2006/relationships"><Relationship Id="rPictId0" Type="http://schemas.openxmlformats.org/officeDocument/2006/relationships/image" Target="../media/image8.jpeg"/><Relationship Id="rId1" Type="http://schemas.openxmlformats.org/officeDocument/2006/relationships/slideLayout" Target="../slideLayouts/slideLayout.xml"/></Relationships>
</file>

<file path=ppt/slides/_rels/slide10.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1.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2.xml.rels>&#65279;<?xml version="1.0" encoding="UTF-8" standalone="yes"?>
<Relationships xmlns="http://schemas.openxmlformats.org/package/2006/relationships"><Relationship Id="rPictId0" Type="http://schemas.openxmlformats.org/officeDocument/2006/relationships/image" Target="../media/image9.jpeg"/><Relationship Id="rId1" Type="http://schemas.openxmlformats.org/officeDocument/2006/relationships/slideLayout" Target="../slideLayouts/slideLayout.xml"/></Relationships>
</file>

<file path=ppt/slides/_rels/slide13.xml.rels>&#65279;<?xml version="1.0" encoding="UTF-8" standalone="yes"?>
<Relationships xmlns="http://schemas.openxmlformats.org/package/2006/relationships"><Relationship Id="rPictId0" Type="http://schemas.openxmlformats.org/officeDocument/2006/relationships/image" Target="../media/image10.jpeg"/><Relationship Id="rId1" Type="http://schemas.openxmlformats.org/officeDocument/2006/relationships/slideLayout" Target="../slideLayouts/slideLayout.xml"/></Relationships>
</file>

<file path=ppt/slides/_rels/slide14.xml.rels>&#65279;<?xml version="1.0" encoding="UTF-8" standalone="yes"?>
<Relationships xmlns="http://schemas.openxmlformats.org/package/2006/relationships"><Relationship Id="rPictId0" Type="http://schemas.openxmlformats.org/officeDocument/2006/relationships/image" Target="../media/image11.jpeg"/><Relationship Id="rId1" Type="http://schemas.openxmlformats.org/officeDocument/2006/relationships/slideLayout" Target="../slideLayouts/slideLayout.xml"/></Relationships>
</file>

<file path=ppt/slides/_rels/slide15.xml.rels>&#65279;<?xml version="1.0" encoding="UTF-8" standalone="yes"?>
<Relationships xmlns="http://schemas.openxmlformats.org/package/2006/relationships"><Relationship Id="rPictId0" Type="http://schemas.openxmlformats.org/officeDocument/2006/relationships/image" Target="../media/image12.jpeg"/><Relationship Id="rId1" Type="http://schemas.openxmlformats.org/officeDocument/2006/relationships/slideLayout" Target="../slideLayouts/slideLayout.xml"/></Relationships>
</file>

<file path=ppt/slides/_rels/slide16.xml.rels>&#65279;<?xml version="1.0" encoding="UTF-8" standalone="yes"?>
<Relationships xmlns="http://schemas.openxmlformats.org/package/2006/relationships"><Relationship Id="rPictId0" Type="http://schemas.openxmlformats.org/officeDocument/2006/relationships/image" Target="../media/image13.jpeg"/><Relationship Id="rPictId1" Type="http://schemas.openxmlformats.org/officeDocument/2006/relationships/image" Target="../media/image14.jpeg"/><Relationship Id="rId1" Type="http://schemas.openxmlformats.org/officeDocument/2006/relationships/slideLayout" Target="../slideLayouts/slideLayout.xml"/></Relationships>
</file>

<file path=ppt/slides/_rels/slide17.xml.rels>&#65279;<?xml version="1.0" encoding="UTF-8" standalone="yes"?>
<Relationships xmlns="http://schemas.openxmlformats.org/package/2006/relationships"><Relationship Id="rPictId0" Type="http://schemas.openxmlformats.org/officeDocument/2006/relationships/image" Target="../media/image15.jpeg"/><Relationship Id="rId1" Type="http://schemas.openxmlformats.org/officeDocument/2006/relationships/slideLayout" Target="../slideLayouts/slideLayout.xml"/></Relationships>
</file>

<file path=ppt/slides/_rels/slide18.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_rels/slide19.xml.rels>&#65279;<?xml version="1.0" encoding="UTF-8" standalone="yes"?>
<Relationships xmlns="http://schemas.openxmlformats.org/package/2006/relationships"><Relationship Id="rId1" Type="http://schemas.openxmlformats.org/officeDocument/2006/relationships/slideLayout" Target="../slideLayouts/slideLayout.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60960" y="164592"/>
            <a:ext cx="6147816" cy="268224"/>
          </a:xfrm>
          <a:prstGeom prst="rect">
            <a:avLst/>
          </a:prstGeom>
        </p:spPr>
        <p:txBody>
          <a:bodyPr lIns="0" tIns="0" rIns="0" bIns="0" wrap="none">
            <a:noAutofit/>
          </a:bodyPr>
          <a:p>
            <a:pPr indent="0">
              <a:spcAft>
                <a:spcPts val="1680"/>
              </a:spcAft>
            </a:pPr>
            <a:r>
              <a:rPr lang="en-US" b="1" sz="1900">
                <a:latin typeface="Arial"/>
              </a:rPr>
              <a:t>Project Python Foundations: FoodHub Data Analysis</a:t>
            </a:r>
          </a:p>
        </p:txBody>
      </p:sp>
      <p:sp>
        <p:nvSpPr>
          <p:cNvPr id="3" name=""/>
          <p:cNvSpPr/>
          <p:nvPr/>
        </p:nvSpPr>
        <p:spPr>
          <a:xfrm>
            <a:off x="42672" y="697992"/>
            <a:ext cx="7312152" cy="9659112"/>
          </a:xfrm>
          <a:prstGeom prst="rect">
            <a:avLst/>
          </a:prstGeom>
        </p:spPr>
        <p:txBody>
          <a:bodyPr lIns="0" tIns="0" rIns="0" bIns="0">
            <a:noAutofit/>
          </a:bodyPr>
          <a:p>
            <a:pPr indent="0">
              <a:spcBef>
                <a:spcPts val="1680"/>
              </a:spcBef>
              <a:spcAft>
                <a:spcPts val="1050"/>
              </a:spcAft>
            </a:pPr>
            <a:r>
              <a:rPr lang="en-US" b="1" sz="1100">
                <a:latin typeface="Arial"/>
              </a:rPr>
              <a:t>Context</a:t>
            </a:r>
          </a:p>
          <a:p>
            <a:pPr indent="0">
              <a:lnSpc>
                <a:spcPts val="1128"/>
              </a:lnSpc>
              <a:spcAft>
                <a:spcPts val="630"/>
              </a:spcAft>
            </a:pPr>
            <a:r>
              <a:rPr lang="en-US" sz="950">
                <a:latin typeface="Arial"/>
              </a:rPr>
              <a:t>The number of restaurants in New York is increasing day by day. Lots of students and busy professionals rely on those restaurants due to their hectic lifestyles. Online food delivery service is a great option for them. It provides them with good food from their favorite restaurants. A food aggregator company FoodHub offers access to multiple restaurants through a single smartphone app.</a:t>
            </a:r>
          </a:p>
          <a:p>
            <a:pPr indent="0">
              <a:lnSpc>
                <a:spcPts val="1128"/>
              </a:lnSpc>
              <a:spcAft>
                <a:spcPts val="630"/>
              </a:spcAft>
            </a:pPr>
            <a:r>
              <a:rPr lang="en-US" sz="950">
                <a:latin typeface="Arial"/>
              </a:rPr>
              <a:t>The app allows the restaurants to receive a direct online order from a customer. The app assigns a delivery person from the company to pick up the order after it is confirmed by the restaurant. The delivery person then uses the map to reach the restaurant and waits for the food package. Once the food package is handed over to the delivery person, he/she confirms the pick-up in the app and travels to the customer's location to deliver the food. The delivery person confirms the drop-off in the app after delivering the food package to the customer. The customer can rate the order in the app. The food aggregator earns money by collecting a fixed margin of the delivery order from the restaurants.</a:t>
            </a:r>
          </a:p>
          <a:p>
            <a:pPr indent="0">
              <a:spcAft>
                <a:spcPts val="1050"/>
              </a:spcAft>
            </a:pPr>
            <a:r>
              <a:rPr lang="en-US" b="1" sz="1100">
                <a:latin typeface="Arial"/>
              </a:rPr>
              <a:t>Objective</a:t>
            </a:r>
          </a:p>
          <a:p>
            <a:pPr indent="0">
              <a:lnSpc>
                <a:spcPts val="1128"/>
              </a:lnSpc>
              <a:spcAft>
                <a:spcPts val="630"/>
              </a:spcAft>
            </a:pPr>
            <a:r>
              <a:rPr lang="en-US" sz="950">
                <a:latin typeface="Arial"/>
              </a:rPr>
              <a:t>The food aggregator company has stored the data of the different orders made by the registered customers in their online portal. They want to analyze the data to get a fair idea about the demand of different restaurants which will help them in enhancing their customer experience. Suppose you are hired as a Data Scientist in this company and the Data Science team has shared some of the key questions that need to be answered. Perform the data analysis to find answers to these questions that will help the company to improve the business.</a:t>
            </a:r>
          </a:p>
          <a:p>
            <a:pPr indent="0">
              <a:lnSpc>
                <a:spcPts val="2328"/>
              </a:lnSpc>
            </a:pPr>
            <a:r>
              <a:rPr lang="en-US" b="1" sz="1100">
                <a:latin typeface="Arial"/>
              </a:rPr>
              <a:t>Data Description</a:t>
            </a:r>
          </a:p>
          <a:p>
            <a:pPr indent="0">
              <a:lnSpc>
                <a:spcPts val="2328"/>
              </a:lnSpc>
            </a:pPr>
            <a:r>
              <a:rPr lang="en-US" sz="950">
                <a:latin typeface="Arial"/>
              </a:rPr>
              <a:t>The data contains the different data related to a food order. The detailed data dictionary is given below.</a:t>
            </a:r>
          </a:p>
          <a:p>
            <a:pPr indent="0">
              <a:lnSpc>
                <a:spcPts val="2328"/>
              </a:lnSpc>
            </a:pPr>
            <a:r>
              <a:rPr lang="en-US" b="1" sz="1100">
                <a:latin typeface="Arial"/>
              </a:rPr>
              <a:t>Data Dictionary</a:t>
            </a:r>
          </a:p>
          <a:p>
            <a:pPr algn="just" marL="139700" indent="0">
              <a:lnSpc>
                <a:spcPts val="1128"/>
              </a:lnSpc>
            </a:pPr>
            <a:r>
              <a:rPr lang="en-US" sz="950">
                <a:latin typeface="Arial"/>
              </a:rPr>
              <a:t>•    order_id: Unique ID of the order</a:t>
            </a:r>
          </a:p>
          <a:p>
            <a:pPr algn="just" marL="139700" indent="0">
              <a:lnSpc>
                <a:spcPts val="1128"/>
              </a:lnSpc>
            </a:pPr>
            <a:r>
              <a:rPr lang="en-US" sz="950">
                <a:latin typeface="Arial"/>
              </a:rPr>
              <a:t>•    customer_id: ID of the customer who ordered the food</a:t>
            </a:r>
          </a:p>
          <a:p>
            <a:pPr algn="just" marL="139700" indent="0">
              <a:lnSpc>
                <a:spcPts val="1128"/>
              </a:lnSpc>
            </a:pPr>
            <a:r>
              <a:rPr lang="en-US" sz="950">
                <a:latin typeface="Arial"/>
              </a:rPr>
              <a:t>•    restaurant_name: Name of the restaurant</a:t>
            </a:r>
          </a:p>
          <a:p>
            <a:pPr algn="just" marL="139700" indent="0">
              <a:lnSpc>
                <a:spcPts val="1128"/>
              </a:lnSpc>
            </a:pPr>
            <a:r>
              <a:rPr lang="en-US" sz="950">
                <a:latin typeface="Arial"/>
              </a:rPr>
              <a:t>•    cuisine_type: Cuisine ordered by the customer</a:t>
            </a:r>
          </a:p>
          <a:p>
            <a:pPr algn="just" marL="139700" indent="0">
              <a:lnSpc>
                <a:spcPts val="1128"/>
              </a:lnSpc>
            </a:pPr>
            <a:r>
              <a:rPr lang="en-US" sz="950">
                <a:latin typeface="Arial"/>
              </a:rPr>
              <a:t>•    cost_of_the_order: Cost of the order</a:t>
            </a:r>
          </a:p>
          <a:p>
            <a:pPr marL="266700" indent="-127000">
              <a:lnSpc>
                <a:spcPts val="1128"/>
              </a:lnSpc>
            </a:pPr>
            <a:r>
              <a:rPr lang="en-US" sz="950">
                <a:latin typeface="Arial"/>
              </a:rPr>
              <a:t>•    day_of_the_week: Indicates whether the order is placed on a weekday or weekend (The weekday is from Monday to Friday and the weekend is Saturday and Sunday)</a:t>
            </a:r>
          </a:p>
          <a:p>
            <a:pPr algn="just" marL="139700" indent="0">
              <a:lnSpc>
                <a:spcPts val="1128"/>
              </a:lnSpc>
            </a:pPr>
            <a:r>
              <a:rPr lang="en-US" sz="950">
                <a:latin typeface="Arial"/>
              </a:rPr>
              <a:t>•    rating: Rating given by the customer out of 5</a:t>
            </a:r>
          </a:p>
          <a:p>
            <a:pPr marL="266700" indent="-127000">
              <a:lnSpc>
                <a:spcPts val="1128"/>
              </a:lnSpc>
            </a:pPr>
            <a:r>
              <a:rPr lang="en-US" sz="950">
                <a:latin typeface="Arial"/>
              </a:rPr>
              <a:t>•    food_preparation_time: Time (in minutes) taken by the restaurant to prepare the food. This is calculated by taking the difference between the timestamps of the restaurant's order confirmation and the delivery person's pick-up confirmation.</a:t>
            </a:r>
          </a:p>
          <a:p>
            <a:pPr marL="266700" indent="-127000">
              <a:lnSpc>
                <a:spcPts val="1128"/>
              </a:lnSpc>
              <a:spcAft>
                <a:spcPts val="1050"/>
              </a:spcAft>
            </a:pPr>
            <a:r>
              <a:rPr lang="en-US" sz="950">
                <a:latin typeface="Arial"/>
              </a:rPr>
              <a:t>•    delivery_time: Time (in minutes) taken by the delivery person to deliver the food package. This is calculated by taking the difference between the timestamps of the delivery person's pick-up confirmation and drop-off information</a:t>
            </a:r>
          </a:p>
          <a:p>
            <a:pPr indent="0">
              <a:spcAft>
                <a:spcPts val="630"/>
              </a:spcAft>
            </a:pPr>
            <a:r>
              <a:rPr lang="en-US" b="1" sz="1100">
                <a:latin typeface="Arial"/>
              </a:rPr>
              <a:t>Let us start by importing the required libraries</a:t>
            </a:r>
          </a:p>
          <a:p>
            <a:pPr indent="0">
              <a:lnSpc>
                <a:spcPts val="1128"/>
              </a:lnSpc>
            </a:pPr>
            <a:r>
              <a:rPr lang="en-US" sz="950">
                <a:latin typeface="Arial"/>
              </a:rPr>
              <a:t>In [1]:</a:t>
            </a:r>
          </a:p>
          <a:p>
            <a:pPr indent="0">
              <a:lnSpc>
                <a:spcPts val="1128"/>
              </a:lnSpc>
            </a:pPr>
            <a:r>
              <a:rPr lang="en-US" i="1" sz="950">
                <a:latin typeface="Arial"/>
              </a:rPr>
              <a:t># Installing the libraries with the specified version.</a:t>
            </a:r>
          </a:p>
          <a:p>
            <a:pPr indent="0">
              <a:lnSpc>
                <a:spcPts val="1128"/>
              </a:lnSpc>
            </a:pPr>
            <a:r>
              <a:rPr lang="en-US" b="1" sz="850">
                <a:latin typeface="Arial"/>
              </a:rPr>
              <a:t>!</a:t>
            </a:r>
            <a:r>
              <a:rPr lang="en-US" sz="950">
                <a:latin typeface="Arial"/>
              </a:rPr>
              <a:t>pip install numpy</a:t>
            </a:r>
            <a:r>
              <a:rPr lang="en-US" b="1" sz="850">
                <a:latin typeface="Arial"/>
              </a:rPr>
              <a:t>==</a:t>
            </a:r>
            <a:r>
              <a:rPr lang="en-US" sz="950">
                <a:latin typeface="Arial"/>
              </a:rPr>
              <a:t>1.25.2 pandas</a:t>
            </a:r>
            <a:r>
              <a:rPr lang="en-US" b="1" sz="850">
                <a:latin typeface="Arial"/>
              </a:rPr>
              <a:t>==</a:t>
            </a:r>
            <a:r>
              <a:rPr lang="en-US" sz="950">
                <a:latin typeface="Arial"/>
              </a:rPr>
              <a:t>1.5.3 matplotlib</a:t>
            </a:r>
            <a:r>
              <a:rPr lang="en-US" b="1" sz="850">
                <a:latin typeface="Arial"/>
              </a:rPr>
              <a:t>==</a:t>
            </a:r>
            <a:r>
              <a:rPr lang="en-US" sz="950">
                <a:latin typeface="Arial"/>
              </a:rPr>
              <a:t>3.7.1 seaborn</a:t>
            </a:r>
            <a:r>
              <a:rPr lang="en-US" b="1" sz="850">
                <a:latin typeface="Arial"/>
              </a:rPr>
              <a:t>==</a:t>
            </a:r>
            <a:r>
              <a:rPr lang="en-US" sz="950">
                <a:latin typeface="Arial"/>
              </a:rPr>
              <a:t>0.13.1 -q --user</a:t>
            </a:r>
          </a:p>
          <a:p>
            <a:pPr algn="just" marL="139700" indent="0">
              <a:lnSpc>
                <a:spcPts val="960"/>
              </a:lnSpc>
            </a:pPr>
            <a:r>
              <a:rPr lang="en-US" sz="750">
                <a:solidFill>
                  <a:srgbClr val="2D2D2D"/>
                </a:solidFill>
                <a:latin typeface="Arial"/>
              </a:rPr>
              <a:t>-</a:t>
            </a:r>
            <a:r>
              <a:rPr lang="en-US" sz="750">
                <a:solidFill>
                  <a:srgbClr val="00A250"/>
                </a:solidFill>
                <a:latin typeface="Arial"/>
              </a:rPr>
              <a:t>10.8/10.8 MB </a:t>
            </a:r>
            <a:r>
              <a:rPr lang="en-US" sz="750">
                <a:solidFill>
                  <a:srgbClr val="E75C58"/>
                </a:solidFill>
                <a:latin typeface="Arial"/>
              </a:rPr>
              <a:t>60.0 MB/s </a:t>
            </a:r>
            <a:r>
              <a:rPr lang="en-US" sz="750">
                <a:latin typeface="Arial"/>
              </a:rPr>
              <a:t>eta </a:t>
            </a:r>
            <a:r>
              <a:rPr lang="en-US" sz="750">
                <a:solidFill>
                  <a:srgbClr val="60C6C8"/>
                </a:solidFill>
                <a:latin typeface="Arial"/>
              </a:rPr>
              <a:t>0:00:00</a:t>
            </a:r>
          </a:p>
          <a:p>
            <a:pPr marR="3683000" indent="0">
              <a:lnSpc>
                <a:spcPts val="960"/>
              </a:lnSpc>
              <a:spcAft>
                <a:spcPts val="630"/>
              </a:spcAft>
            </a:pPr>
            <a:r>
              <a:rPr lang="en-US" sz="750">
                <a:latin typeface="Arial"/>
              </a:rPr>
              <a:t>Installing build dependencies ... done </a:t>
            </a:r>
            <a:r>
              <a:rPr lang="en-US" b="1" sz="750">
                <a:solidFill>
                  <a:srgbClr val="B22B31"/>
                </a:solidFill>
                <a:latin typeface="Arial"/>
              </a:rPr>
              <a:t>error</a:t>
            </a:r>
            <a:r>
              <a:rPr lang="en-US" sz="750">
                <a:latin typeface="Arial"/>
              </a:rPr>
              <a:t>: </a:t>
            </a:r>
            <a:r>
              <a:rPr lang="en-US" b="1" sz="750">
                <a:latin typeface="Arial"/>
              </a:rPr>
              <a:t>subprocess-exited-with-error</a:t>
            </a:r>
          </a:p>
          <a:p>
            <a:pPr indent="0">
              <a:lnSpc>
                <a:spcPts val="960"/>
              </a:lnSpc>
            </a:pPr>
            <a:r>
              <a:rPr lang="en-US" sz="750">
                <a:solidFill>
                  <a:srgbClr val="E75C58"/>
                </a:solidFill>
                <a:latin typeface="Arial"/>
              </a:rPr>
              <a:t>x </a:t>
            </a:r>
            <a:r>
              <a:rPr lang="en-US" sz="750">
                <a:solidFill>
                  <a:srgbClr val="00A250"/>
                </a:solidFill>
                <a:latin typeface="Arial"/>
              </a:rPr>
              <a:t>Getting requirements to build wheel </a:t>
            </a:r>
            <a:r>
              <a:rPr lang="en-US" sz="750">
                <a:latin typeface="Arial"/>
              </a:rPr>
              <a:t>did not run successfully.</a:t>
            </a:r>
          </a:p>
          <a:p>
            <a:pPr algn="just" marL="139700" indent="0">
              <a:lnSpc>
                <a:spcPts val="960"/>
              </a:lnSpc>
            </a:pPr>
            <a:r>
              <a:rPr lang="en-US" sz="750">
                <a:solidFill>
                  <a:srgbClr val="E75C58"/>
                </a:solidFill>
                <a:latin typeface="Arial"/>
              </a:rPr>
              <a:t>| </a:t>
            </a:r>
            <a:r>
              <a:rPr lang="en-US" sz="750">
                <a:latin typeface="Arial"/>
              </a:rPr>
              <a:t>exit code: </a:t>
            </a:r>
            <a:r>
              <a:rPr lang="en-US" b="1" sz="750">
                <a:solidFill>
                  <a:srgbClr val="258F8F"/>
                </a:solidFill>
                <a:latin typeface="Arial"/>
              </a:rPr>
              <a:t>1</a:t>
            </a:r>
          </a:p>
          <a:p>
            <a:pPr algn="just" marL="139700" indent="0">
              <a:lnSpc>
                <a:spcPts val="960"/>
              </a:lnSpc>
              <a:spcAft>
                <a:spcPts val="630"/>
              </a:spcAft>
            </a:pPr>
            <a:r>
              <a:rPr lang="en-US" sz="750">
                <a:solidFill>
                  <a:srgbClr val="E75C58"/>
                </a:solidFill>
                <a:latin typeface="Arial"/>
              </a:rPr>
              <a:t>—&gt; </a:t>
            </a:r>
            <a:r>
              <a:rPr lang="en-US" sz="750">
                <a:latin typeface="Arial"/>
              </a:rPr>
              <a:t>See above for output.</a:t>
            </a:r>
          </a:p>
          <a:p>
            <a:pPr indent="0">
              <a:lnSpc>
                <a:spcPts val="960"/>
              </a:lnSpc>
            </a:pPr>
            <a:r>
              <a:rPr lang="en-US" b="1" sz="750">
                <a:solidFill>
                  <a:srgbClr val="A03196"/>
                </a:solidFill>
                <a:latin typeface="Arial"/>
              </a:rPr>
              <a:t>note</a:t>
            </a:r>
            <a:r>
              <a:rPr lang="en-US" sz="750">
                <a:latin typeface="Arial"/>
              </a:rPr>
              <a:t>: This error originates from a subprocess, and is likely not a problem with pip.</a:t>
            </a:r>
          </a:p>
          <a:p>
            <a:pPr marR="3683000" indent="0">
              <a:lnSpc>
                <a:spcPts val="960"/>
              </a:lnSpc>
              <a:spcAft>
                <a:spcPts val="630"/>
              </a:spcAft>
            </a:pPr>
            <a:r>
              <a:rPr lang="en-US" sz="750">
                <a:latin typeface="Arial"/>
              </a:rPr>
              <a:t>Getting requirements to build wheel ... error </a:t>
            </a:r>
            <a:r>
              <a:rPr lang="en-US" b="1" sz="750">
                <a:solidFill>
                  <a:srgbClr val="B22B31"/>
                </a:solidFill>
                <a:latin typeface="Arial"/>
              </a:rPr>
              <a:t>error</a:t>
            </a:r>
            <a:r>
              <a:rPr lang="en-US" sz="750">
                <a:latin typeface="Arial"/>
              </a:rPr>
              <a:t>: </a:t>
            </a:r>
            <a:r>
              <a:rPr lang="en-US" b="1" sz="750">
                <a:latin typeface="Arial"/>
              </a:rPr>
              <a:t>subprocess-exited-with-error</a:t>
            </a:r>
          </a:p>
          <a:p>
            <a:pPr indent="0">
              <a:lnSpc>
                <a:spcPts val="960"/>
              </a:lnSpc>
            </a:pPr>
            <a:r>
              <a:rPr lang="en-US" sz="750">
                <a:solidFill>
                  <a:srgbClr val="E75C58"/>
                </a:solidFill>
                <a:latin typeface="Arial"/>
              </a:rPr>
              <a:t>x </a:t>
            </a:r>
            <a:r>
              <a:rPr lang="en-US" sz="750">
                <a:solidFill>
                  <a:srgbClr val="00A250"/>
                </a:solidFill>
                <a:latin typeface="Arial"/>
              </a:rPr>
              <a:t>Getting requirements to build wheel </a:t>
            </a:r>
            <a:r>
              <a:rPr lang="en-US" sz="750">
                <a:latin typeface="Arial"/>
              </a:rPr>
              <a:t>did not run successfully.</a:t>
            </a:r>
          </a:p>
          <a:p>
            <a:pPr indent="0">
              <a:lnSpc>
                <a:spcPts val="960"/>
              </a:lnSpc>
            </a:pPr>
            <a:r>
              <a:rPr lang="en-US" sz="750">
                <a:solidFill>
                  <a:srgbClr val="E75C58"/>
                </a:solidFill>
                <a:latin typeface="Arial"/>
              </a:rPr>
              <a:t>| </a:t>
            </a:r>
            <a:r>
              <a:rPr lang="en-US" sz="750">
                <a:latin typeface="Arial"/>
              </a:rPr>
              <a:t>exit code: </a:t>
            </a:r>
            <a:r>
              <a:rPr lang="en-US" b="1" sz="750">
                <a:solidFill>
                  <a:srgbClr val="258F8F"/>
                </a:solidFill>
                <a:latin typeface="Arial"/>
              </a:rPr>
              <a:t>1</a:t>
            </a:r>
          </a:p>
          <a:p>
            <a:pPr indent="0">
              <a:lnSpc>
                <a:spcPts val="960"/>
              </a:lnSpc>
              <a:spcAft>
                <a:spcPts val="630"/>
              </a:spcAft>
            </a:pPr>
            <a:r>
              <a:rPr lang="en-US" sz="750">
                <a:solidFill>
                  <a:srgbClr val="E75C58"/>
                </a:solidFill>
                <a:latin typeface="Arial"/>
              </a:rPr>
              <a:t>—&gt; </a:t>
            </a:r>
            <a:r>
              <a:rPr lang="en-US" sz="750">
                <a:latin typeface="Arial"/>
              </a:rPr>
              <a:t>See above for output.</a:t>
            </a:r>
          </a:p>
          <a:p>
            <a:pPr indent="0"/>
            <a:r>
              <a:rPr lang="en-US" b="1" sz="750">
                <a:solidFill>
                  <a:srgbClr val="A03196"/>
                </a:solidFill>
                <a:latin typeface="Arial"/>
              </a:rPr>
              <a:t>note</a:t>
            </a:r>
            <a:r>
              <a:rPr lang="en-US" sz="750">
                <a:latin typeface="Arial"/>
              </a:rPr>
              <a:t>: This error originates from a subprocess, and is likely not a problem with pip.</a:t>
            </a:r>
          </a:p>
          <a:p>
            <a:pPr indent="0">
              <a:spcAft>
                <a:spcPts val="630"/>
              </a:spcAft>
            </a:pPr>
            <a:r>
              <a:rPr lang="en-US" b="1" sz="850">
                <a:latin typeface="Arial"/>
              </a:rPr>
              <a:t>Note</a:t>
            </a:r>
            <a:r>
              <a:rPr lang="en-US" sz="950">
                <a:latin typeface="Arial"/>
              </a:rPr>
              <a:t>:</a:t>
            </a:r>
          </a:p>
          <a:p>
            <a:pPr marL="266700" indent="-127000">
              <a:lnSpc>
                <a:spcPts val="1128"/>
              </a:lnSpc>
            </a:pPr>
            <a:r>
              <a:rPr lang="en-US" sz="950">
                <a:latin typeface="Arial"/>
              </a:rPr>
              <a:t>•    After running the above cell, kindly restart the runtime (for Google Colab) or notebook kernel (for Jupyter Notebook), and run all cells sequentially from the next cell.</a:t>
            </a:r>
          </a:p>
          <a:p>
            <a:pPr marL="266700" indent="-127000">
              <a:lnSpc>
                <a:spcPts val="1128"/>
              </a:lnSpc>
            </a:pPr>
            <a:r>
              <a:rPr lang="en-US" sz="950">
                <a:latin typeface="Arial"/>
              </a:rPr>
              <a:t>•    On executing the above line of code, you might see a warning regarding package dependencies. This error message can be ignored as the above code ensures that all necessary libraries and their dependencies are maintained to successfully execute the code in </a:t>
            </a:r>
            <a:r>
              <a:rPr lang="en-US" b="1" i="1" sz="950">
                <a:latin typeface="Arial"/>
              </a:rPr>
              <a:t>this notebook.</a:t>
            </a:r>
          </a:p>
        </p:txBody>
      </p:sp>
      <p:sp>
        <p:nvSpPr>
          <p:cNvPr id="4" name=""/>
          <p:cNvSpPr/>
          <p:nvPr/>
        </p:nvSpPr>
        <p:spPr>
          <a:xfrm>
            <a:off x="54864" y="10433304"/>
            <a:ext cx="323088" cy="149352"/>
          </a:xfrm>
          <a:prstGeom prst="rect">
            <a:avLst/>
          </a:prstGeom>
        </p:spPr>
        <p:txBody>
          <a:bodyPr lIns="0" tIns="0" rIns="0" bIns="0" wrap="none">
            <a:noAutofit/>
          </a:bodyPr>
          <a:p>
            <a:pPr indent="0"/>
            <a:r>
              <a:rPr lang="en-US" sz="950">
                <a:latin typeface="Arial"/>
              </a:rPr>
              <a:t>In [2]:</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45720" y="0"/>
            <a:ext cx="5855208" cy="3883152"/>
          </a:xfrm>
          <a:prstGeom prst="rect">
            <a:avLst/>
          </a:prstGeom>
        </p:spPr>
        <p:txBody>
          <a:bodyPr lIns="0" tIns="0" rIns="0" bIns="0">
            <a:noAutofit/>
          </a:bodyPr>
          <a:p>
            <a:pPr marR="3124708" indent="0">
              <a:lnSpc>
                <a:spcPts val="1128"/>
              </a:lnSpc>
            </a:pPr>
            <a:r>
              <a:rPr lang="en-US" i="1" sz="950">
                <a:latin typeface="Arial"/>
              </a:rPr>
              <a:t>#    import libraries for data manipulation </a:t>
            </a:r>
            <a:r>
              <a:rPr lang="en-US" b="1" sz="850">
                <a:latin typeface="Arial"/>
              </a:rPr>
              <a:t>import </a:t>
            </a:r>
            <a:r>
              <a:rPr lang="en-US" sz="950">
                <a:latin typeface="Arial"/>
              </a:rPr>
              <a:t>numpy </a:t>
            </a:r>
            <a:r>
              <a:rPr lang="en-US" b="1" sz="850">
                <a:latin typeface="Arial"/>
              </a:rPr>
              <a:t>as </a:t>
            </a:r>
            <a:r>
              <a:rPr lang="en-US" sz="950">
                <a:latin typeface="Arial"/>
              </a:rPr>
              <a:t>np</a:t>
            </a:r>
          </a:p>
          <a:p>
            <a:pPr indent="0">
              <a:lnSpc>
                <a:spcPts val="1128"/>
              </a:lnSpc>
              <a:spcAft>
                <a:spcPts val="630"/>
              </a:spcAft>
            </a:pPr>
            <a:r>
              <a:rPr lang="en-US" b="1" sz="850">
                <a:latin typeface="Arial"/>
              </a:rPr>
              <a:t>import </a:t>
            </a:r>
            <a:r>
              <a:rPr lang="en-US" sz="950">
                <a:latin typeface="Arial"/>
              </a:rPr>
              <a:t>pandas </a:t>
            </a:r>
            <a:r>
              <a:rPr lang="en-US" b="1" sz="850">
                <a:latin typeface="Arial"/>
              </a:rPr>
              <a:t>as </a:t>
            </a:r>
            <a:r>
              <a:rPr lang="en-US" sz="950">
                <a:latin typeface="Arial"/>
              </a:rPr>
              <a:t>pd</a:t>
            </a:r>
          </a:p>
          <a:p>
            <a:pPr marR="3124708" indent="0">
              <a:lnSpc>
                <a:spcPts val="1128"/>
              </a:lnSpc>
              <a:spcAft>
                <a:spcPts val="1260"/>
              </a:spcAft>
            </a:pPr>
            <a:r>
              <a:rPr lang="en-US" i="1" sz="950">
                <a:latin typeface="Arial"/>
              </a:rPr>
              <a:t>#    import libraries for data visualization </a:t>
            </a:r>
            <a:r>
              <a:rPr lang="en-US" b="1" sz="850">
                <a:latin typeface="Arial"/>
              </a:rPr>
              <a:t>import </a:t>
            </a:r>
            <a:r>
              <a:rPr lang="en-US" sz="950">
                <a:latin typeface="Arial"/>
              </a:rPr>
              <a:t>matplotlib.pyplot </a:t>
            </a:r>
            <a:r>
              <a:rPr lang="en-US" b="1" sz="850">
                <a:latin typeface="Arial"/>
              </a:rPr>
              <a:t>as </a:t>
            </a:r>
            <a:r>
              <a:rPr lang="en-US" sz="950">
                <a:latin typeface="Arial"/>
              </a:rPr>
              <a:t>plt </a:t>
            </a:r>
            <a:r>
              <a:rPr lang="en-US" b="1" sz="850">
                <a:latin typeface="Arial"/>
              </a:rPr>
              <a:t>import </a:t>
            </a:r>
            <a:r>
              <a:rPr lang="en-US" sz="950">
                <a:latin typeface="Arial"/>
              </a:rPr>
              <a:t>seaborn </a:t>
            </a:r>
            <a:r>
              <a:rPr lang="en-US" b="1" sz="850">
                <a:latin typeface="Arial"/>
              </a:rPr>
              <a:t>as </a:t>
            </a:r>
            <a:r>
              <a:rPr lang="en-US" sz="950">
                <a:latin typeface="Arial"/>
              </a:rPr>
              <a:t>sns</a:t>
            </a:r>
          </a:p>
          <a:p>
            <a:pPr indent="0">
              <a:spcAft>
                <a:spcPts val="630"/>
              </a:spcAft>
            </a:pPr>
            <a:r>
              <a:rPr lang="en-US" b="1" sz="1100">
                <a:latin typeface="Arial"/>
              </a:rPr>
              <a:t>Understanding the structure of the data</a:t>
            </a:r>
          </a:p>
          <a:p>
            <a:pPr indent="0">
              <a:lnSpc>
                <a:spcPts val="1152"/>
              </a:lnSpc>
            </a:pPr>
            <a:r>
              <a:rPr lang="en-US" sz="950">
                <a:latin typeface="Arial"/>
              </a:rPr>
              <a:t>In [9]:</a:t>
            </a:r>
          </a:p>
          <a:p>
            <a:pPr marR="940308" indent="0">
              <a:lnSpc>
                <a:spcPts val="1152"/>
              </a:lnSpc>
            </a:pPr>
            <a:r>
              <a:rPr lang="en-US" i="1" sz="950">
                <a:latin typeface="Arial"/>
              </a:rPr>
              <a:t>#    uncomment and run the below code snippets if the dataset is present in the Google Drive </a:t>
            </a:r>
            <a:r>
              <a:rPr lang="en-US" b="1" sz="850">
                <a:latin typeface="Arial"/>
              </a:rPr>
              <a:t>from </a:t>
            </a:r>
            <a:r>
              <a:rPr lang="en-US" sz="950">
                <a:latin typeface="Arial"/>
              </a:rPr>
              <a:t>google.colab </a:t>
            </a:r>
            <a:r>
              <a:rPr lang="en-US" b="1" sz="850">
                <a:latin typeface="Arial"/>
              </a:rPr>
              <a:t>import </a:t>
            </a:r>
            <a:r>
              <a:rPr lang="en-US" sz="950">
                <a:latin typeface="Arial"/>
              </a:rPr>
              <a:t>drive</a:t>
            </a:r>
          </a:p>
          <a:p>
            <a:pPr indent="0">
              <a:lnSpc>
                <a:spcPts val="1152"/>
              </a:lnSpc>
            </a:pPr>
            <a:r>
              <a:rPr lang="en-US" sz="950">
                <a:latin typeface="Arial"/>
              </a:rPr>
              <a:t>drive</a:t>
            </a:r>
            <a:r>
              <a:rPr lang="en-US" b="1" sz="850">
                <a:latin typeface="Arial"/>
              </a:rPr>
              <a:t>.</a:t>
            </a:r>
            <a:r>
              <a:rPr lang="en-US" sz="950">
                <a:latin typeface="Arial"/>
              </a:rPr>
              <a:t>mount('/content/drive')</a:t>
            </a:r>
          </a:p>
          <a:p>
            <a:pPr marR="940308" indent="0">
              <a:lnSpc>
                <a:spcPts val="1056"/>
              </a:lnSpc>
            </a:pPr>
            <a:r>
              <a:rPr lang="en-US" sz="750">
                <a:latin typeface="Arial"/>
              </a:rPr>
              <a:t>Mounted at /content/drive </a:t>
            </a:r>
            <a:r>
              <a:rPr lang="en-US" sz="950">
                <a:latin typeface="Arial"/>
              </a:rPr>
              <a:t>In [5]:</a:t>
            </a:r>
          </a:p>
          <a:p>
            <a:pPr marR="940308" indent="0">
              <a:lnSpc>
                <a:spcPts val="1152"/>
              </a:lnSpc>
            </a:pPr>
            <a:r>
              <a:rPr lang="en-US" b="1" sz="850">
                <a:latin typeface="Arial"/>
              </a:rPr>
              <a:t>from </a:t>
            </a:r>
            <a:r>
              <a:rPr lang="en-US" sz="950">
                <a:latin typeface="Arial"/>
              </a:rPr>
              <a:t>google.colab </a:t>
            </a:r>
            <a:r>
              <a:rPr lang="en-US" b="1" sz="850">
                <a:latin typeface="Arial"/>
              </a:rPr>
              <a:t>import </a:t>
            </a:r>
            <a:r>
              <a:rPr lang="en-US" sz="950">
                <a:latin typeface="Arial"/>
              </a:rPr>
              <a:t>drive drive</a:t>
            </a:r>
            <a:r>
              <a:rPr lang="en-US" b="1" sz="850">
                <a:latin typeface="Arial"/>
              </a:rPr>
              <a:t>.</a:t>
            </a:r>
            <a:r>
              <a:rPr lang="en-US" sz="950">
                <a:latin typeface="Arial"/>
              </a:rPr>
              <a:t>mount('/content/drive')</a:t>
            </a:r>
          </a:p>
          <a:p>
            <a:pPr marR="940308" indent="0">
              <a:lnSpc>
                <a:spcPts val="1056"/>
              </a:lnSpc>
            </a:pPr>
            <a:r>
              <a:rPr lang="en-US" sz="750">
                <a:latin typeface="Arial"/>
              </a:rPr>
              <a:t>Mounted at /content/drive </a:t>
            </a:r>
            <a:r>
              <a:rPr lang="en-US" sz="950">
                <a:latin typeface="Arial"/>
              </a:rPr>
              <a:t>In [16]:</a:t>
            </a:r>
          </a:p>
          <a:p>
            <a:pPr algn="just" indent="0">
              <a:lnSpc>
                <a:spcPts val="1128"/>
              </a:lnSpc>
            </a:pPr>
            <a:r>
              <a:rPr lang="en-US" i="1" sz="950">
                <a:latin typeface="Arial"/>
              </a:rPr>
              <a:t>#    Write your code here to read the data</a:t>
            </a:r>
          </a:p>
          <a:p>
            <a:pPr indent="0">
              <a:lnSpc>
                <a:spcPts val="1128"/>
              </a:lnSpc>
            </a:pPr>
            <a:r>
              <a:rPr lang="en-US" sz="950">
                <a:latin typeface="Arial"/>
              </a:rPr>
              <a:t>df </a:t>
            </a:r>
            <a:r>
              <a:rPr lang="en-US" b="1" sz="850">
                <a:latin typeface="Arial"/>
              </a:rPr>
              <a:t>= </a:t>
            </a:r>
            <a:r>
              <a:rPr lang="en-US" sz="950">
                <a:latin typeface="Arial"/>
              </a:rPr>
              <a:t>pd</a:t>
            </a:r>
            <a:r>
              <a:rPr lang="en-US" b="1" sz="850">
                <a:latin typeface="Arial"/>
              </a:rPr>
              <a:t>.</a:t>
            </a:r>
            <a:r>
              <a:rPr lang="en-US" sz="950">
                <a:latin typeface="Arial"/>
              </a:rPr>
              <a:t>read_csv('/content/drive/MyDrive/Colab Notebooks/PYF-FoodHub Data Analysis/foodhub_order.csv') In [17]:</a:t>
            </a:r>
          </a:p>
          <a:p>
            <a:pPr indent="0">
              <a:lnSpc>
                <a:spcPts val="1128"/>
              </a:lnSpc>
            </a:pPr>
            <a:r>
              <a:rPr lang="en-US" i="1" sz="950">
                <a:latin typeface="Arial"/>
              </a:rPr>
              <a:t>#    Write your code here to view the first 5 rows </a:t>
            </a:r>
            <a:r>
              <a:rPr lang="en-US" sz="950">
                <a:latin typeface="Arial"/>
              </a:rPr>
              <a:t>df</a:t>
            </a:r>
            <a:r>
              <a:rPr lang="en-US" b="1" sz="850">
                <a:latin typeface="Arial"/>
              </a:rPr>
              <a:t>.</a:t>
            </a:r>
            <a:r>
              <a:rPr lang="en-US" sz="950">
                <a:latin typeface="Arial"/>
              </a:rPr>
              <a:t>head()</a:t>
            </a:r>
          </a:p>
          <a:p>
            <a:pPr algn="just" indent="0"/>
            <a:r>
              <a:rPr lang="en-US" sz="950">
                <a:latin typeface="Arial"/>
              </a:rPr>
              <a:t>Out[17]:</a:t>
            </a:r>
          </a:p>
        </p:txBody>
      </p:sp>
      <p:graphicFrame>
        <p:nvGraphicFramePr>
          <p:cNvPr id="3" name=""/>
          <p:cNvGraphicFramePr>
            <a:graphicFrameLocks noGrp="1"/>
          </p:cNvGraphicFramePr>
          <p:nvPr/>
        </p:nvGraphicFramePr>
        <p:xfrm>
          <a:off x="106680" y="3941064"/>
          <a:ext cx="7465568" cy="1920240"/>
        </p:xfrm>
        <a:graphic>
          <a:graphicData uri="http://schemas.openxmlformats.org/drawingml/2006/table">
            <a:tbl>
              <a:tblPr/>
              <a:tblGrid>
                <a:gridCol w="208280"/>
                <a:gridCol w="609600"/>
                <a:gridCol w="847344"/>
                <a:gridCol w="1106424"/>
                <a:gridCol w="856488"/>
                <a:gridCol w="1182624"/>
                <a:gridCol w="1130808"/>
                <a:gridCol w="1524000"/>
              </a:tblGrid>
              <a:tr h="234696">
                <a:tc>
                  <a:txBody>
                    <a:bodyPr lIns="0" tIns="0" rIns="0" bIns="0">
                      <a:noAutofit/>
                    </a:bodyPr>
                    <a:p>
                      <a:endParaRPr sz="1200"/>
                    </a:p>
                  </a:txBody>
                  <a:tcPr marL="0" marR="0" marT="0" marB="0"/>
                </a:tc>
                <a:tc>
                  <a:txBody>
                    <a:bodyPr lIns="0" tIns="0" rIns="0" bIns="0">
                      <a:noAutofit/>
                    </a:bodyPr>
                    <a:p>
                      <a:pPr indent="0"/>
                      <a:r>
                        <a:rPr lang="en-US" b="1" sz="850">
                          <a:latin typeface="Arial"/>
                        </a:rPr>
                        <a:t>order_id</a:t>
                      </a:r>
                    </a:p>
                  </a:txBody>
                  <a:tcPr marL="0" marR="0" marT="0" marB="0"/>
                </a:tc>
                <a:tc>
                  <a:txBody>
                    <a:bodyPr lIns="0" tIns="0" rIns="0" bIns="0">
                      <a:noAutofit/>
                    </a:bodyPr>
                    <a:p>
                      <a:pPr algn="r" indent="0"/>
                      <a:r>
                        <a:rPr lang="en-US" b="1" sz="850">
                          <a:latin typeface="Arial"/>
                        </a:rPr>
                        <a:t>customer_id</a:t>
                      </a:r>
                    </a:p>
                  </a:txBody>
                  <a:tcPr marL="0" marR="0" marT="0" marB="0"/>
                </a:tc>
                <a:tc>
                  <a:txBody>
                    <a:bodyPr lIns="0" tIns="0" rIns="0" bIns="0">
                      <a:noAutofit/>
                    </a:bodyPr>
                    <a:p>
                      <a:pPr algn="r" indent="0"/>
                      <a:r>
                        <a:rPr lang="en-US" b="1" sz="850">
                          <a:latin typeface="Arial"/>
                        </a:rPr>
                        <a:t>restaurant_name</a:t>
                      </a:r>
                    </a:p>
                  </a:txBody>
                  <a:tcPr marL="0" marR="0" marT="0" marB="0"/>
                </a:tc>
                <a:tc>
                  <a:txBody>
                    <a:bodyPr lIns="0" tIns="0" rIns="0" bIns="0">
                      <a:noAutofit/>
                    </a:bodyPr>
                    <a:p>
                      <a:pPr algn="r" indent="0"/>
                      <a:r>
                        <a:rPr lang="en-US" b="1" sz="850">
                          <a:latin typeface="Arial"/>
                        </a:rPr>
                        <a:t>cuisine_type</a:t>
                      </a:r>
                    </a:p>
                  </a:txBody>
                  <a:tcPr marL="0" marR="0" marT="0" marB="0"/>
                </a:tc>
                <a:tc>
                  <a:txBody>
                    <a:bodyPr lIns="0" tIns="0" rIns="0" bIns="0">
                      <a:noAutofit/>
                    </a:bodyPr>
                    <a:p>
                      <a:pPr algn="r" indent="0"/>
                      <a:r>
                        <a:rPr lang="en-US" b="1" sz="850">
                          <a:latin typeface="Arial"/>
                        </a:rPr>
                        <a:t>cost_of_the_order</a:t>
                      </a:r>
                    </a:p>
                  </a:txBody>
                  <a:tcPr marL="0" marR="0" marT="0" marB="0"/>
                </a:tc>
                <a:tc>
                  <a:txBody>
                    <a:bodyPr lIns="0" tIns="0" rIns="0" bIns="0">
                      <a:noAutofit/>
                    </a:bodyPr>
                    <a:p>
                      <a:pPr algn="r" indent="0"/>
                      <a:r>
                        <a:rPr lang="en-US" b="1" sz="850">
                          <a:latin typeface="Arial"/>
                        </a:rPr>
                        <a:t>day_of_the_week</a:t>
                      </a:r>
                    </a:p>
                  </a:txBody>
                  <a:tcPr marL="0" marR="0" marT="0" marB="0"/>
                </a:tc>
                <a:tc>
                  <a:txBody>
                    <a:bodyPr lIns="0" tIns="0" rIns="0" bIns="0">
                      <a:noAutofit/>
                    </a:bodyPr>
                    <a:p>
                      <a:pPr marL="88900" indent="0"/>
                      <a:r>
                        <a:rPr lang="en-US" b="1" sz="850">
                          <a:latin typeface="Arial"/>
                        </a:rPr>
                        <a:t>rating food_preparation</a:t>
                      </a:r>
                    </a:p>
                  </a:txBody>
                  <a:tcPr marL="0" marR="0" marT="0" marB="0"/>
                </a:tc>
              </a:tr>
              <a:tr h="384048">
                <a:tc>
                  <a:txBody>
                    <a:bodyPr lIns="0" tIns="0" rIns="0" bIns="0">
                      <a:noAutofit/>
                    </a:bodyPr>
                    <a:p>
                      <a:pPr indent="0"/>
                      <a:r>
                        <a:rPr lang="en-US" b="1" sz="950">
                          <a:latin typeface="Arial"/>
                        </a:rPr>
                        <a:t>0</a:t>
                      </a:r>
                    </a:p>
                  </a:txBody>
                  <a:tcPr marL="0" marR="0" marT="0" marB="0" anchor="ctr"/>
                </a:tc>
                <a:tc>
                  <a:txBody>
                    <a:bodyPr lIns="0" tIns="0" rIns="0" bIns="0">
                      <a:noAutofit/>
                    </a:bodyPr>
                    <a:p>
                      <a:pPr indent="0"/>
                      <a:r>
                        <a:rPr lang="en-US" sz="950">
                          <a:latin typeface="Arial"/>
                        </a:rPr>
                        <a:t>1477147</a:t>
                      </a:r>
                    </a:p>
                  </a:txBody>
                  <a:tcPr marL="0" marR="0" marT="0" marB="0" anchor="ctr"/>
                </a:tc>
                <a:tc>
                  <a:txBody>
                    <a:bodyPr lIns="0" tIns="0" rIns="0" bIns="0">
                      <a:noAutofit/>
                    </a:bodyPr>
                    <a:p>
                      <a:pPr algn="r" indent="0"/>
                      <a:r>
                        <a:rPr lang="en-US" sz="950">
                          <a:latin typeface="Arial"/>
                        </a:rPr>
                        <a:t>337525</a:t>
                      </a:r>
                    </a:p>
                  </a:txBody>
                  <a:tcPr marL="0" marR="0" marT="0" marB="0" anchor="ctr"/>
                </a:tc>
                <a:tc>
                  <a:txBody>
                    <a:bodyPr lIns="0" tIns="0" rIns="0" bIns="0">
                      <a:noAutofit/>
                    </a:bodyPr>
                    <a:p>
                      <a:pPr algn="r" indent="0"/>
                      <a:r>
                        <a:rPr lang="en-US" sz="950">
                          <a:latin typeface="Arial"/>
                        </a:rPr>
                        <a:t>Hangawi</a:t>
                      </a:r>
                    </a:p>
                  </a:txBody>
                  <a:tcPr marL="0" marR="0" marT="0" marB="0" anchor="ctr"/>
                </a:tc>
                <a:tc>
                  <a:txBody>
                    <a:bodyPr lIns="0" tIns="0" rIns="0" bIns="0">
                      <a:noAutofit/>
                    </a:bodyPr>
                    <a:p>
                      <a:pPr algn="r" indent="0"/>
                      <a:r>
                        <a:rPr lang="en-US" sz="950">
                          <a:latin typeface="Arial"/>
                        </a:rPr>
                        <a:t>Korean</a:t>
                      </a:r>
                    </a:p>
                  </a:txBody>
                  <a:tcPr marL="0" marR="0" marT="0" marB="0" anchor="ctr"/>
                </a:tc>
                <a:tc>
                  <a:txBody>
                    <a:bodyPr lIns="0" tIns="0" rIns="0" bIns="0">
                      <a:noAutofit/>
                    </a:bodyPr>
                    <a:p>
                      <a:pPr algn="r" indent="0"/>
                      <a:r>
                        <a:rPr lang="en-US" sz="950">
                          <a:latin typeface="Arial"/>
                        </a:rPr>
                        <a:t>30.75</a:t>
                      </a:r>
                    </a:p>
                  </a:txBody>
                  <a:tcPr marL="0" marR="0" marT="0" marB="0" anchor="ctr"/>
                </a:tc>
                <a:tc>
                  <a:txBody>
                    <a:bodyPr lIns="0" tIns="0" rIns="0" bIns="0">
                      <a:noAutofit/>
                    </a:bodyPr>
                    <a:p>
                      <a:pPr algn="r" indent="0"/>
                      <a:r>
                        <a:rPr lang="en-US" sz="950">
                          <a:latin typeface="Arial"/>
                        </a:rPr>
                        <a:t>Weekend</a:t>
                      </a:r>
                    </a:p>
                  </a:txBody>
                  <a:tcPr marL="0" marR="0" marT="0" marB="0" anchor="ctr"/>
                </a:tc>
                <a:tc>
                  <a:txBody>
                    <a:bodyPr lIns="0" tIns="0" rIns="0" bIns="0">
                      <a:noAutofit/>
                    </a:bodyPr>
                    <a:p>
                      <a:pPr algn="r" marR="1143000" indent="0">
                        <a:spcAft>
                          <a:spcPts val="210"/>
                        </a:spcAft>
                      </a:pPr>
                      <a:r>
                        <a:rPr lang="en-US" sz="950">
                          <a:latin typeface="Arial"/>
                        </a:rPr>
                        <a:t>Not</a:t>
                      </a:r>
                    </a:p>
                    <a:p>
                      <a:pPr algn="r" marR="1143000" indent="0"/>
                      <a:r>
                        <a:rPr lang="en-US" sz="950">
                          <a:latin typeface="Arial"/>
                        </a:rPr>
                        <a:t>given</a:t>
                      </a:r>
                    </a:p>
                  </a:txBody>
                  <a:tcPr marL="0" marR="0" marT="0" marB="0"/>
                </a:tc>
              </a:tr>
              <a:tr h="411480">
                <a:tc>
                  <a:txBody>
                    <a:bodyPr lIns="0" tIns="0" rIns="0" bIns="0">
                      <a:noAutofit/>
                    </a:bodyPr>
                    <a:p>
                      <a:pPr indent="0"/>
                      <a:r>
                        <a:rPr lang="en-US" b="1" sz="950">
                          <a:latin typeface="Arial"/>
                        </a:rPr>
                        <a:t>1</a:t>
                      </a:r>
                    </a:p>
                  </a:txBody>
                  <a:tcPr marL="0" marR="0" marT="0" marB="0" anchor="ctr"/>
                </a:tc>
                <a:tc>
                  <a:txBody>
                    <a:bodyPr lIns="0" tIns="0" rIns="0" bIns="0">
                      <a:noAutofit/>
                    </a:bodyPr>
                    <a:p>
                      <a:pPr indent="0"/>
                      <a:r>
                        <a:rPr lang="en-US" sz="950">
                          <a:latin typeface="Arial"/>
                        </a:rPr>
                        <a:t>1477685</a:t>
                      </a:r>
                    </a:p>
                  </a:txBody>
                  <a:tcPr marL="0" marR="0" marT="0" marB="0" anchor="ctr"/>
                </a:tc>
                <a:tc>
                  <a:txBody>
                    <a:bodyPr lIns="0" tIns="0" rIns="0" bIns="0">
                      <a:noAutofit/>
                    </a:bodyPr>
                    <a:p>
                      <a:pPr algn="r" indent="0"/>
                      <a:r>
                        <a:rPr lang="en-US" sz="950">
                          <a:latin typeface="Arial"/>
                        </a:rPr>
                        <a:t>358141</a:t>
                      </a:r>
                    </a:p>
                  </a:txBody>
                  <a:tcPr marL="0" marR="0" marT="0" marB="0" anchor="ctr"/>
                </a:tc>
                <a:tc>
                  <a:txBody>
                    <a:bodyPr lIns="0" tIns="0" rIns="0" bIns="0">
                      <a:noAutofit/>
                    </a:bodyPr>
                    <a:p>
                      <a:pPr algn="r" indent="0">
                        <a:lnSpc>
                          <a:spcPts val="1152"/>
                        </a:lnSpc>
                      </a:pPr>
                      <a:r>
                        <a:rPr lang="en-US" sz="950">
                          <a:latin typeface="Arial"/>
                        </a:rPr>
                        <a:t>Blue Ribbon Sushi Izakaya</a:t>
                      </a:r>
                    </a:p>
                  </a:txBody>
                  <a:tcPr marL="0" marR="0" marT="0" marB="0" anchor="ctr"/>
                </a:tc>
                <a:tc>
                  <a:txBody>
                    <a:bodyPr lIns="0" tIns="0" rIns="0" bIns="0">
                      <a:noAutofit/>
                    </a:bodyPr>
                    <a:p>
                      <a:pPr algn="r" indent="0"/>
                      <a:r>
                        <a:rPr lang="en-US" sz="950">
                          <a:latin typeface="Arial"/>
                        </a:rPr>
                        <a:t>Japanese</a:t>
                      </a:r>
                    </a:p>
                  </a:txBody>
                  <a:tcPr marL="0" marR="0" marT="0" marB="0" anchor="ctr"/>
                </a:tc>
                <a:tc>
                  <a:txBody>
                    <a:bodyPr lIns="0" tIns="0" rIns="0" bIns="0">
                      <a:noAutofit/>
                    </a:bodyPr>
                    <a:p>
                      <a:pPr algn="r" indent="0"/>
                      <a:r>
                        <a:rPr lang="en-US" sz="950">
                          <a:latin typeface="Arial"/>
                        </a:rPr>
                        <a:t>12.08</a:t>
                      </a:r>
                    </a:p>
                  </a:txBody>
                  <a:tcPr marL="0" marR="0" marT="0" marB="0" anchor="ctr"/>
                </a:tc>
                <a:tc>
                  <a:txBody>
                    <a:bodyPr lIns="0" tIns="0" rIns="0" bIns="0">
                      <a:noAutofit/>
                    </a:bodyPr>
                    <a:p>
                      <a:pPr algn="r" indent="0"/>
                      <a:r>
                        <a:rPr lang="en-US" sz="950">
                          <a:latin typeface="Arial"/>
                        </a:rPr>
                        <a:t>Weekend</a:t>
                      </a:r>
                    </a:p>
                  </a:txBody>
                  <a:tcPr marL="0" marR="0" marT="0" marB="0" anchor="ctr"/>
                </a:tc>
                <a:tc>
                  <a:txBody>
                    <a:bodyPr lIns="0" tIns="0" rIns="0" bIns="0">
                      <a:noAutofit/>
                    </a:bodyPr>
                    <a:p>
                      <a:pPr algn="r" marR="1143000" indent="0">
                        <a:spcAft>
                          <a:spcPts val="210"/>
                        </a:spcAft>
                      </a:pPr>
                      <a:r>
                        <a:rPr lang="en-US" sz="950">
                          <a:latin typeface="Arial"/>
                        </a:rPr>
                        <a:t>Not</a:t>
                      </a:r>
                    </a:p>
                    <a:p>
                      <a:pPr algn="r" marR="1143000" indent="0"/>
                      <a:r>
                        <a:rPr lang="en-US" sz="950">
                          <a:latin typeface="Arial"/>
                        </a:rPr>
                        <a:t>given</a:t>
                      </a:r>
                    </a:p>
                  </a:txBody>
                  <a:tcPr marL="0" marR="0" marT="0" marB="0" anchor="ctr"/>
                </a:tc>
              </a:tr>
              <a:tr h="256032">
                <a:tc>
                  <a:txBody>
                    <a:bodyPr lIns="0" tIns="0" rIns="0" bIns="0">
                      <a:noAutofit/>
                    </a:bodyPr>
                    <a:p>
                      <a:pPr indent="0"/>
                      <a:r>
                        <a:rPr lang="en-US" b="1" sz="950">
                          <a:latin typeface="Arial"/>
                        </a:rPr>
                        <a:t>2</a:t>
                      </a:r>
                    </a:p>
                  </a:txBody>
                  <a:tcPr marL="0" marR="0" marT="0" marB="0" anchor="ctr"/>
                </a:tc>
                <a:tc>
                  <a:txBody>
                    <a:bodyPr lIns="0" tIns="0" rIns="0" bIns="0">
                      <a:noAutofit/>
                    </a:bodyPr>
                    <a:p>
                      <a:pPr indent="0"/>
                      <a:r>
                        <a:rPr lang="en-US" sz="950">
                          <a:latin typeface="Arial"/>
                        </a:rPr>
                        <a:t>1477070</a:t>
                      </a:r>
                    </a:p>
                  </a:txBody>
                  <a:tcPr marL="0" marR="0" marT="0" marB="0" anchor="ctr"/>
                </a:tc>
                <a:tc>
                  <a:txBody>
                    <a:bodyPr lIns="0" tIns="0" rIns="0" bIns="0">
                      <a:noAutofit/>
                    </a:bodyPr>
                    <a:p>
                      <a:pPr algn="r" indent="0"/>
                      <a:r>
                        <a:rPr lang="en-US" sz="950">
                          <a:latin typeface="Arial"/>
                        </a:rPr>
                        <a:t>66393</a:t>
                      </a:r>
                    </a:p>
                  </a:txBody>
                  <a:tcPr marL="0" marR="0" marT="0" marB="0" anchor="ctr"/>
                </a:tc>
                <a:tc>
                  <a:txBody>
                    <a:bodyPr lIns="0" tIns="0" rIns="0" bIns="0">
                      <a:noAutofit/>
                    </a:bodyPr>
                    <a:p>
                      <a:pPr algn="r" indent="0"/>
                      <a:r>
                        <a:rPr lang="en-US" sz="950">
                          <a:latin typeface="Arial"/>
                        </a:rPr>
                        <a:t>Cafe Habana</a:t>
                      </a:r>
                    </a:p>
                  </a:txBody>
                  <a:tcPr marL="0" marR="0" marT="0" marB="0" anchor="ctr"/>
                </a:tc>
                <a:tc>
                  <a:txBody>
                    <a:bodyPr lIns="0" tIns="0" rIns="0" bIns="0">
                      <a:noAutofit/>
                    </a:bodyPr>
                    <a:p>
                      <a:pPr algn="r" indent="0"/>
                      <a:r>
                        <a:rPr lang="en-US" sz="950">
                          <a:latin typeface="Arial"/>
                        </a:rPr>
                        <a:t>Mexican</a:t>
                      </a:r>
                    </a:p>
                  </a:txBody>
                  <a:tcPr marL="0" marR="0" marT="0" marB="0" anchor="ctr"/>
                </a:tc>
                <a:tc>
                  <a:txBody>
                    <a:bodyPr lIns="0" tIns="0" rIns="0" bIns="0">
                      <a:noAutofit/>
                    </a:bodyPr>
                    <a:p>
                      <a:pPr algn="r" indent="0"/>
                      <a:r>
                        <a:rPr lang="en-US" sz="950">
                          <a:latin typeface="Arial"/>
                        </a:rPr>
                        <a:t>12.23</a:t>
                      </a:r>
                    </a:p>
                  </a:txBody>
                  <a:tcPr marL="0" marR="0" marT="0" marB="0" anchor="ctr"/>
                </a:tc>
                <a:tc>
                  <a:txBody>
                    <a:bodyPr lIns="0" tIns="0" rIns="0" bIns="0">
                      <a:noAutofit/>
                    </a:bodyPr>
                    <a:p>
                      <a:pPr algn="r" indent="0"/>
                      <a:r>
                        <a:rPr lang="en-US" sz="950">
                          <a:latin typeface="Arial"/>
                        </a:rPr>
                        <a:t>Weekday</a:t>
                      </a:r>
                    </a:p>
                  </a:txBody>
                  <a:tcPr marL="0" marR="0" marT="0" marB="0" anchor="ctr"/>
                </a:tc>
                <a:tc>
                  <a:txBody>
                    <a:bodyPr lIns="0" tIns="0" rIns="0" bIns="0">
                      <a:noAutofit/>
                    </a:bodyPr>
                    <a:p>
                      <a:pPr algn="r" marR="1143000" indent="0"/>
                      <a:r>
                        <a:rPr lang="en-US" sz="950">
                          <a:latin typeface="Arial"/>
                        </a:rPr>
                        <a:t>5</a:t>
                      </a:r>
                    </a:p>
                  </a:txBody>
                  <a:tcPr marL="0" marR="0" marT="0" marB="0" anchor="ctr"/>
                </a:tc>
              </a:tr>
              <a:tr h="371856">
                <a:tc>
                  <a:txBody>
                    <a:bodyPr lIns="0" tIns="0" rIns="0" bIns="0">
                      <a:noAutofit/>
                    </a:bodyPr>
                    <a:p>
                      <a:pPr indent="0"/>
                      <a:r>
                        <a:rPr lang="en-US" b="1" sz="850">
                          <a:latin typeface="Arial"/>
                        </a:rPr>
                        <a:t>3</a:t>
                      </a:r>
                    </a:p>
                  </a:txBody>
                  <a:tcPr marL="0" marR="0" marT="0" marB="0" anchor="ctr"/>
                </a:tc>
                <a:tc>
                  <a:txBody>
                    <a:bodyPr lIns="0" tIns="0" rIns="0" bIns="0">
                      <a:noAutofit/>
                    </a:bodyPr>
                    <a:p>
                      <a:pPr indent="0"/>
                      <a:r>
                        <a:rPr lang="en-US" sz="950">
                          <a:latin typeface="Arial"/>
                        </a:rPr>
                        <a:t>1477334</a:t>
                      </a:r>
                    </a:p>
                  </a:txBody>
                  <a:tcPr marL="0" marR="0" marT="0" marB="0" anchor="ctr"/>
                </a:tc>
                <a:tc>
                  <a:txBody>
                    <a:bodyPr lIns="0" tIns="0" rIns="0" bIns="0">
                      <a:noAutofit/>
                    </a:bodyPr>
                    <a:p>
                      <a:pPr algn="r" indent="0"/>
                      <a:r>
                        <a:rPr lang="en-US" sz="950">
                          <a:latin typeface="Arial"/>
                        </a:rPr>
                        <a:t>106968</a:t>
                      </a:r>
                    </a:p>
                  </a:txBody>
                  <a:tcPr marL="0" marR="0" marT="0" marB="0" anchor="ctr"/>
                </a:tc>
                <a:tc>
                  <a:txBody>
                    <a:bodyPr lIns="0" tIns="0" rIns="0" bIns="0">
                      <a:noAutofit/>
                    </a:bodyPr>
                    <a:p>
                      <a:pPr algn="r" indent="0">
                        <a:lnSpc>
                          <a:spcPts val="1128"/>
                        </a:lnSpc>
                      </a:pPr>
                      <a:r>
                        <a:rPr lang="en-US" sz="950">
                          <a:latin typeface="Arial"/>
                        </a:rPr>
                        <a:t>Blue Ribbon Fried Chicken</a:t>
                      </a:r>
                    </a:p>
                  </a:txBody>
                  <a:tcPr marL="0" marR="0" marT="0" marB="0" anchor="b"/>
                </a:tc>
                <a:tc>
                  <a:txBody>
                    <a:bodyPr lIns="0" tIns="0" rIns="0" bIns="0">
                      <a:noAutofit/>
                    </a:bodyPr>
                    <a:p>
                      <a:pPr algn="r" indent="0"/>
                      <a:r>
                        <a:rPr lang="en-US" sz="950">
                          <a:latin typeface="Arial"/>
                        </a:rPr>
                        <a:t>American</a:t>
                      </a:r>
                    </a:p>
                  </a:txBody>
                  <a:tcPr marL="0" marR="0" marT="0" marB="0" anchor="ctr"/>
                </a:tc>
                <a:tc>
                  <a:txBody>
                    <a:bodyPr lIns="0" tIns="0" rIns="0" bIns="0">
                      <a:noAutofit/>
                    </a:bodyPr>
                    <a:p>
                      <a:pPr algn="r" indent="0"/>
                      <a:r>
                        <a:rPr lang="en-US" sz="950">
                          <a:latin typeface="Arial"/>
                        </a:rPr>
                        <a:t>29.20</a:t>
                      </a:r>
                    </a:p>
                  </a:txBody>
                  <a:tcPr marL="0" marR="0" marT="0" marB="0" anchor="ctr"/>
                </a:tc>
                <a:tc>
                  <a:txBody>
                    <a:bodyPr lIns="0" tIns="0" rIns="0" bIns="0">
                      <a:noAutofit/>
                    </a:bodyPr>
                    <a:p>
                      <a:pPr algn="r" indent="0"/>
                      <a:r>
                        <a:rPr lang="en-US" sz="950">
                          <a:latin typeface="Arial"/>
                        </a:rPr>
                        <a:t>Weekend</a:t>
                      </a:r>
                    </a:p>
                  </a:txBody>
                  <a:tcPr marL="0" marR="0" marT="0" marB="0" anchor="ctr"/>
                </a:tc>
                <a:tc>
                  <a:txBody>
                    <a:bodyPr lIns="0" tIns="0" rIns="0" bIns="0">
                      <a:noAutofit/>
                    </a:bodyPr>
                    <a:p>
                      <a:pPr algn="r" marR="1143000" indent="0"/>
                      <a:r>
                        <a:rPr lang="en-US" sz="950">
                          <a:latin typeface="Arial"/>
                        </a:rPr>
                        <a:t>3</a:t>
                      </a:r>
                    </a:p>
                  </a:txBody>
                  <a:tcPr marL="0" marR="0" marT="0" marB="0" anchor="ctr"/>
                </a:tc>
              </a:tr>
              <a:tr h="262128">
                <a:tc>
                  <a:txBody>
                    <a:bodyPr lIns="0" tIns="0" rIns="0" bIns="0">
                      <a:noAutofit/>
                    </a:bodyPr>
                    <a:p>
                      <a:pPr indent="0"/>
                      <a:r>
                        <a:rPr lang="en-US" b="1" sz="850">
                          <a:latin typeface="Arial"/>
                        </a:rPr>
                        <a:t>4</a:t>
                      </a:r>
                    </a:p>
                  </a:txBody>
                  <a:tcPr marL="0" marR="0" marT="0" marB="0" anchor="b"/>
                </a:tc>
                <a:tc>
                  <a:txBody>
                    <a:bodyPr lIns="0" tIns="0" rIns="0" bIns="0">
                      <a:noAutofit/>
                    </a:bodyPr>
                    <a:p>
                      <a:pPr indent="0"/>
                      <a:r>
                        <a:rPr lang="en-US" sz="950">
                          <a:latin typeface="Arial"/>
                        </a:rPr>
                        <a:t>1478249</a:t>
                      </a:r>
                    </a:p>
                  </a:txBody>
                  <a:tcPr marL="0" marR="0" marT="0" marB="0" anchor="b"/>
                </a:tc>
                <a:tc>
                  <a:txBody>
                    <a:bodyPr lIns="0" tIns="0" rIns="0" bIns="0">
                      <a:noAutofit/>
                    </a:bodyPr>
                    <a:p>
                      <a:pPr algn="r" indent="0"/>
                      <a:r>
                        <a:rPr lang="en-US" sz="950">
                          <a:latin typeface="Arial"/>
                        </a:rPr>
                        <a:t>76942</a:t>
                      </a:r>
                    </a:p>
                  </a:txBody>
                  <a:tcPr marL="0" marR="0" marT="0" marB="0" anchor="b"/>
                </a:tc>
                <a:tc>
                  <a:txBody>
                    <a:bodyPr lIns="0" tIns="0" rIns="0" bIns="0">
                      <a:noAutofit/>
                    </a:bodyPr>
                    <a:p>
                      <a:pPr algn="r" indent="0"/>
                      <a:r>
                        <a:rPr lang="en-US" sz="950">
                          <a:latin typeface="Arial"/>
                        </a:rPr>
                        <a:t>Dirty Bird to Go</a:t>
                      </a:r>
                    </a:p>
                  </a:txBody>
                  <a:tcPr marL="0" marR="0" marT="0" marB="0" anchor="b"/>
                </a:tc>
                <a:tc>
                  <a:txBody>
                    <a:bodyPr lIns="0" tIns="0" rIns="0" bIns="0">
                      <a:noAutofit/>
                    </a:bodyPr>
                    <a:p>
                      <a:pPr algn="r" indent="0"/>
                      <a:r>
                        <a:rPr lang="en-US" sz="950">
                          <a:latin typeface="Arial"/>
                        </a:rPr>
                        <a:t>American</a:t>
                      </a:r>
                    </a:p>
                  </a:txBody>
                  <a:tcPr marL="0" marR="0" marT="0" marB="0" anchor="b"/>
                </a:tc>
                <a:tc>
                  <a:txBody>
                    <a:bodyPr lIns="0" tIns="0" rIns="0" bIns="0">
                      <a:noAutofit/>
                    </a:bodyPr>
                    <a:p>
                      <a:pPr algn="r" indent="0"/>
                      <a:r>
                        <a:rPr lang="en-US" sz="950">
                          <a:latin typeface="Arial"/>
                        </a:rPr>
                        <a:t>11.59</a:t>
                      </a:r>
                    </a:p>
                  </a:txBody>
                  <a:tcPr marL="0" marR="0" marT="0" marB="0" anchor="b"/>
                </a:tc>
                <a:tc>
                  <a:txBody>
                    <a:bodyPr lIns="0" tIns="0" rIns="0" bIns="0">
                      <a:noAutofit/>
                    </a:bodyPr>
                    <a:p>
                      <a:pPr algn="r" indent="0"/>
                      <a:r>
                        <a:rPr lang="en-US" sz="950">
                          <a:latin typeface="Arial"/>
                        </a:rPr>
                        <a:t>Weekday</a:t>
                      </a:r>
                    </a:p>
                  </a:txBody>
                  <a:tcPr marL="0" marR="0" marT="0" marB="0" anchor="b"/>
                </a:tc>
                <a:tc>
                  <a:txBody>
                    <a:bodyPr lIns="0" tIns="0" rIns="0" bIns="0">
                      <a:noAutofit/>
                    </a:bodyPr>
                    <a:p>
                      <a:pPr algn="r" marR="1143000" indent="0"/>
                      <a:r>
                        <a:rPr lang="en-US" sz="950">
                          <a:latin typeface="Arial"/>
                        </a:rPr>
                        <a:t>4</a:t>
                      </a:r>
                    </a:p>
                  </a:txBody>
                  <a:tcPr marL="0" marR="0" marT="0" marB="0" anchor="b"/>
                </a:tc>
              </a:tr>
            </a:tbl>
          </a:graphicData>
        </a:graphic>
      </p:graphicFrame>
      <p:sp>
        <p:nvSpPr>
          <p:cNvPr id="4" name=""/>
          <p:cNvSpPr/>
          <p:nvPr/>
        </p:nvSpPr>
        <p:spPr>
          <a:xfrm>
            <a:off x="45720" y="6172200"/>
            <a:ext cx="7053072" cy="2916936"/>
          </a:xfrm>
          <a:prstGeom prst="rect">
            <a:avLst/>
          </a:prstGeom>
        </p:spPr>
        <p:txBody>
          <a:bodyPr lIns="0" tIns="0" rIns="0" bIns="0">
            <a:noAutofit/>
          </a:bodyPr>
          <a:p>
            <a:pPr algn="just" indent="0">
              <a:spcBef>
                <a:spcPts val="1680"/>
              </a:spcBef>
              <a:spcAft>
                <a:spcPts val="630"/>
              </a:spcAft>
            </a:pPr>
            <a:r>
              <a:rPr lang="en-US" b="1" sz="1100">
                <a:latin typeface="Arial"/>
              </a:rPr>
              <a:t>Question 1: How many rows and columns are present in the data? [0.5 mark]</a:t>
            </a:r>
          </a:p>
          <a:p>
            <a:pPr algn="just" indent="0">
              <a:lnSpc>
                <a:spcPts val="1152"/>
              </a:lnSpc>
            </a:pPr>
            <a:r>
              <a:rPr lang="en-US" sz="950">
                <a:latin typeface="Arial"/>
              </a:rPr>
              <a:t>In [11]:</a:t>
            </a:r>
          </a:p>
          <a:p>
            <a:pPr marR="1211072" indent="0">
              <a:lnSpc>
                <a:spcPts val="1152"/>
              </a:lnSpc>
            </a:pPr>
            <a:r>
              <a:rPr lang="en-US" i="1" sz="950">
                <a:latin typeface="Arial"/>
              </a:rPr>
              <a:t>#    Write your code here </a:t>
            </a:r>
            <a:r>
              <a:rPr lang="en-US" sz="950">
                <a:latin typeface="Arial"/>
              </a:rPr>
              <a:t>df</a:t>
            </a:r>
            <a:r>
              <a:rPr lang="en-US" b="1" sz="850">
                <a:latin typeface="Arial"/>
              </a:rPr>
              <a:t>.</a:t>
            </a:r>
            <a:r>
              <a:rPr lang="en-US" sz="950">
                <a:latin typeface="Arial"/>
              </a:rPr>
              <a:t>shape</a:t>
            </a:r>
          </a:p>
          <a:p>
            <a:pPr algn="just" indent="0"/>
            <a:r>
              <a:rPr lang="en-US" sz="950">
                <a:latin typeface="Arial"/>
              </a:rPr>
              <a:t>Out[11 ]:</a:t>
            </a:r>
          </a:p>
          <a:p>
            <a:pPr algn="just" indent="0">
              <a:spcAft>
                <a:spcPts val="840"/>
              </a:spcAft>
            </a:pPr>
            <a:r>
              <a:rPr lang="en-US" sz="750">
                <a:latin typeface="Arial"/>
              </a:rPr>
              <a:t>(1898, 9)</a:t>
            </a:r>
          </a:p>
          <a:p>
            <a:pPr marR="5656072" indent="215900">
              <a:lnSpc>
                <a:spcPts val="2352"/>
              </a:lnSpc>
            </a:pPr>
            <a:r>
              <a:rPr lang="en-US" sz="750">
                <a:latin typeface="Arial"/>
              </a:rPr>
              <a:t># This is formatted as code </a:t>
            </a:r>
            <a:r>
              <a:rPr lang="en-US" b="1" sz="850">
                <a:latin typeface="Arial"/>
              </a:rPr>
              <a:t>Observations:</a:t>
            </a:r>
          </a:p>
          <a:p>
            <a:pPr algn="just" indent="0">
              <a:lnSpc>
                <a:spcPts val="2352"/>
              </a:lnSpc>
            </a:pPr>
            <a:r>
              <a:rPr lang="en-US" sz="950">
                <a:latin typeface="Arial"/>
              </a:rPr>
              <a:t>Total Rows: 1898 Total fields/columns: 9</a:t>
            </a:r>
          </a:p>
          <a:p>
            <a:pPr indent="0">
              <a:lnSpc>
                <a:spcPts val="1368"/>
              </a:lnSpc>
            </a:pPr>
            <a:r>
              <a:rPr lang="en-US" b="1" sz="1100">
                <a:latin typeface="Arial"/>
              </a:rPr>
              <a:t>Question 2: What are the datatypes of the different columns in the dataset? (The info() function can be used) [0.5 mark]</a:t>
            </a:r>
          </a:p>
          <a:p>
            <a:pPr algn="just" indent="0">
              <a:lnSpc>
                <a:spcPts val="1128"/>
              </a:lnSpc>
            </a:pPr>
            <a:r>
              <a:rPr lang="en-US" sz="950">
                <a:latin typeface="Arial"/>
              </a:rPr>
              <a:t>In [12]:</a:t>
            </a:r>
          </a:p>
          <a:p>
            <a:pPr indent="0">
              <a:lnSpc>
                <a:spcPts val="1128"/>
              </a:lnSpc>
            </a:pPr>
            <a:r>
              <a:rPr lang="en-US" i="1" sz="950">
                <a:latin typeface="Arial"/>
              </a:rPr>
              <a:t>#    Write your code here </a:t>
            </a:r>
            <a:r>
              <a:rPr lang="en-US" sz="950">
                <a:latin typeface="Arial"/>
              </a:rPr>
              <a:t>df</a:t>
            </a:r>
            <a:r>
              <a:rPr lang="en-US" b="1" sz="850">
                <a:latin typeface="Arial"/>
              </a:rPr>
              <a:t>.</a:t>
            </a:r>
            <a:r>
              <a:rPr lang="en-US" sz="950">
                <a:latin typeface="Arial"/>
              </a:rPr>
              <a:t>info()</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45720" y="0"/>
            <a:ext cx="1993392" cy="490728"/>
          </a:xfrm>
          <a:prstGeom prst="rect">
            <a:avLst/>
          </a:prstGeom>
        </p:spPr>
        <p:txBody>
          <a:bodyPr lIns="0" tIns="0" rIns="0" bIns="0">
            <a:noAutofit/>
          </a:bodyPr>
          <a:p>
            <a:pPr marR="219964" indent="0">
              <a:lnSpc>
                <a:spcPts val="960"/>
              </a:lnSpc>
            </a:pPr>
            <a:r>
              <a:rPr lang="en-US" sz="750">
                <a:latin typeface="Arial"/>
              </a:rPr>
              <a:t>&lt;class 'pandas.core.frame.DataFrame'&gt; RangeIndex: 1898 entries, 0 to 1897 Data columns (total 9 columns):</a:t>
            </a:r>
          </a:p>
          <a:p>
            <a:pPr algn="just" indent="0">
              <a:lnSpc>
                <a:spcPts val="960"/>
              </a:lnSpc>
              <a:spcAft>
                <a:spcPts val="420"/>
              </a:spcAft>
            </a:pPr>
            <a:r>
              <a:rPr lang="en-US" sz="750">
                <a:latin typeface="Arial"/>
              </a:rPr>
              <a:t># Column    Non-Null Count Dtype</a:t>
            </a:r>
          </a:p>
        </p:txBody>
      </p:sp>
      <p:sp>
        <p:nvSpPr>
          <p:cNvPr id="3" name=""/>
          <p:cNvSpPr/>
          <p:nvPr/>
        </p:nvSpPr>
        <p:spPr>
          <a:xfrm>
            <a:off x="45720" y="603504"/>
            <a:ext cx="2142744" cy="2057400"/>
          </a:xfrm>
          <a:prstGeom prst="rect">
            <a:avLst/>
          </a:prstGeom>
        </p:spPr>
        <p:txBody>
          <a:bodyPr lIns="0" tIns="0" rIns="0" bIns="0">
            <a:noAutofit/>
          </a:bodyPr>
          <a:p>
            <a:pPr algn="just" indent="0">
              <a:lnSpc>
                <a:spcPts val="960"/>
              </a:lnSpc>
              <a:spcBef>
                <a:spcPts val="420"/>
              </a:spcBef>
            </a:pPr>
            <a:r>
              <a:rPr lang="en-US" sz="750">
                <a:latin typeface="Arial"/>
              </a:rPr>
              <a:t>0    order_id    1898 non-null int64</a:t>
            </a:r>
          </a:p>
          <a:p>
            <a:pPr algn="just" indent="0">
              <a:lnSpc>
                <a:spcPts val="960"/>
              </a:lnSpc>
            </a:pPr>
            <a:r>
              <a:rPr lang="en-US" sz="750">
                <a:latin typeface="Arial"/>
              </a:rPr>
              <a:t>1    customer_id    1898 non-null    int64</a:t>
            </a:r>
          </a:p>
          <a:p>
            <a:pPr algn="just" indent="0">
              <a:lnSpc>
                <a:spcPts val="960"/>
              </a:lnSpc>
            </a:pPr>
            <a:r>
              <a:rPr lang="en-US" sz="750">
                <a:latin typeface="Arial"/>
              </a:rPr>
              <a:t>2 restaurant_name    1898 non-null object</a:t>
            </a:r>
          </a:p>
          <a:p>
            <a:pPr algn="just" indent="0">
              <a:lnSpc>
                <a:spcPts val="960"/>
              </a:lnSpc>
            </a:pPr>
            <a:r>
              <a:rPr lang="en-US" sz="750">
                <a:latin typeface="Arial"/>
              </a:rPr>
              <a:t>3    cuisine_type    1898 non-null    object</a:t>
            </a:r>
          </a:p>
          <a:p>
            <a:pPr algn="just" indent="0">
              <a:lnSpc>
                <a:spcPts val="960"/>
              </a:lnSpc>
            </a:pPr>
            <a:r>
              <a:rPr lang="en-US" sz="750">
                <a:latin typeface="Arial"/>
              </a:rPr>
              <a:t>4 cost_of_the_order    1898 non-null float64</a:t>
            </a:r>
          </a:p>
          <a:p>
            <a:pPr algn="just" indent="0">
              <a:lnSpc>
                <a:spcPts val="960"/>
              </a:lnSpc>
            </a:pPr>
            <a:r>
              <a:rPr lang="en-US" sz="750">
                <a:latin typeface="Arial"/>
              </a:rPr>
              <a:t>5    day_of_the_week 1898 non-null object</a:t>
            </a:r>
          </a:p>
          <a:p>
            <a:pPr algn="just" indent="0">
              <a:lnSpc>
                <a:spcPts val="960"/>
              </a:lnSpc>
            </a:pPr>
            <a:r>
              <a:rPr lang="en-US" sz="750">
                <a:latin typeface="Arial"/>
              </a:rPr>
              <a:t>6    rating    1898 non-null object</a:t>
            </a:r>
          </a:p>
          <a:p>
            <a:pPr algn="just" indent="0">
              <a:lnSpc>
                <a:spcPts val="960"/>
              </a:lnSpc>
            </a:pPr>
            <a:r>
              <a:rPr lang="en-US" sz="750">
                <a:latin typeface="Arial"/>
              </a:rPr>
              <a:t>7    food_preparation_time 1898 non-null int64</a:t>
            </a:r>
          </a:p>
          <a:p>
            <a:pPr algn="just" indent="0">
              <a:lnSpc>
                <a:spcPts val="960"/>
              </a:lnSpc>
            </a:pPr>
            <a:r>
              <a:rPr lang="en-US" sz="750">
                <a:latin typeface="Arial"/>
              </a:rPr>
              <a:t>8    delivery_time    1898 non-null    int64</a:t>
            </a:r>
          </a:p>
          <a:p>
            <a:pPr marR="369316" indent="0">
              <a:lnSpc>
                <a:spcPts val="960"/>
              </a:lnSpc>
              <a:spcAft>
                <a:spcPts val="840"/>
              </a:spcAft>
            </a:pPr>
            <a:r>
              <a:rPr lang="en-US" sz="750">
                <a:latin typeface="Arial"/>
              </a:rPr>
              <a:t>dtypes: float64(1), int64(4), object(4) memory usage: 133.6+ KB</a:t>
            </a:r>
          </a:p>
          <a:p>
            <a:pPr algn="just" indent="0">
              <a:spcAft>
                <a:spcPts val="840"/>
              </a:spcAft>
            </a:pPr>
            <a:r>
              <a:rPr lang="en-US" b="1" sz="850">
                <a:latin typeface="Arial"/>
              </a:rPr>
              <a:t>Observations:</a:t>
            </a:r>
          </a:p>
          <a:p>
            <a:pPr marL="215900" indent="0"/>
            <a:r>
              <a:rPr lang="en-US" sz="750">
                <a:latin typeface="Arial"/>
              </a:rPr>
              <a:t># This is formatted as code</a:t>
            </a:r>
          </a:p>
          <a:p>
            <a:pPr marL="215900" indent="0">
              <a:spcAft>
                <a:spcPts val="1680"/>
              </a:spcAft>
            </a:pPr>
            <a:r>
              <a:rPr lang="en-US" sz="750">
                <a:latin typeface="Arial"/>
              </a:rPr>
              <a:t>Data types are float64(1), int64(4), object(4)</a:t>
            </a:r>
          </a:p>
        </p:txBody>
      </p:sp>
      <p:sp>
        <p:nvSpPr>
          <p:cNvPr id="4" name=""/>
          <p:cNvSpPr/>
          <p:nvPr/>
        </p:nvSpPr>
        <p:spPr>
          <a:xfrm>
            <a:off x="45720" y="2953512"/>
            <a:ext cx="7272528" cy="5785104"/>
          </a:xfrm>
          <a:prstGeom prst="rect">
            <a:avLst/>
          </a:prstGeom>
        </p:spPr>
        <p:txBody>
          <a:bodyPr lIns="0" tIns="0" rIns="0" bIns="0">
            <a:noAutofit/>
          </a:bodyPr>
          <a:p>
            <a:pPr indent="0">
              <a:lnSpc>
                <a:spcPts val="1368"/>
              </a:lnSpc>
              <a:spcBef>
                <a:spcPts val="1680"/>
              </a:spcBef>
            </a:pPr>
            <a:r>
              <a:rPr lang="en-US" b="1" sz="1100">
                <a:latin typeface="Arial"/>
              </a:rPr>
              <a:t>Question 3: Are there any missing values in the data? If yes, treat them using an appropriate method. [1 mark]</a:t>
            </a:r>
          </a:p>
          <a:p>
            <a:pPr algn="just" indent="0">
              <a:lnSpc>
                <a:spcPts val="1128"/>
              </a:lnSpc>
            </a:pPr>
            <a:r>
              <a:rPr lang="en-US" sz="950">
                <a:latin typeface="Arial"/>
              </a:rPr>
              <a:t>In [13]:</a:t>
            </a:r>
          </a:p>
          <a:p>
            <a:pPr marR="6299200" indent="0">
              <a:lnSpc>
                <a:spcPts val="1128"/>
              </a:lnSpc>
            </a:pPr>
            <a:r>
              <a:rPr lang="en-US" i="1" sz="950">
                <a:latin typeface="Arial"/>
              </a:rPr>
              <a:t>#    Write your code </a:t>
            </a:r>
            <a:r>
              <a:rPr lang="en-US" sz="950">
                <a:latin typeface="Arial"/>
              </a:rPr>
              <a:t>df</a:t>
            </a:r>
            <a:r>
              <a:rPr lang="en-US" b="1" sz="850">
                <a:latin typeface="Arial"/>
              </a:rPr>
              <a:t>.</a:t>
            </a:r>
            <a:r>
              <a:rPr lang="en-US" sz="950">
                <a:latin typeface="Arial"/>
              </a:rPr>
              <a:t>isnull()</a:t>
            </a:r>
            <a:r>
              <a:rPr lang="en-US" b="1" sz="850">
                <a:latin typeface="Arial"/>
              </a:rPr>
              <a:t>.</a:t>
            </a:r>
            <a:r>
              <a:rPr lang="en-US" sz="950">
                <a:latin typeface="Arial"/>
              </a:rPr>
              <a:t>sum()</a:t>
            </a:r>
          </a:p>
          <a:p>
            <a:pPr algn="just" indent="0">
              <a:spcAft>
                <a:spcPts val="420"/>
              </a:spcAft>
            </a:pPr>
            <a:r>
              <a:rPr lang="en-US" sz="950">
                <a:latin typeface="Arial"/>
              </a:rPr>
              <a:t>Out[13]:</a:t>
            </a:r>
          </a:p>
          <a:p>
            <a:pPr algn="r" marR="5689600" indent="0">
              <a:lnSpc>
                <a:spcPts val="2088"/>
              </a:lnSpc>
            </a:pPr>
            <a:r>
              <a:rPr lang="en-US" b="1" sz="950">
                <a:latin typeface="Arial"/>
              </a:rPr>
              <a:t>0</a:t>
            </a:r>
          </a:p>
          <a:p>
            <a:pPr algn="r" marR="5689600" indent="0">
              <a:lnSpc>
                <a:spcPts val="2088"/>
              </a:lnSpc>
              <a:spcAft>
                <a:spcPts val="840"/>
              </a:spcAft>
            </a:pPr>
            <a:r>
              <a:rPr lang="en-US" b="1" sz="850">
                <a:latin typeface="Arial"/>
              </a:rPr>
              <a:t>order_id </a:t>
            </a:r>
            <a:r>
              <a:rPr lang="en-US" sz="950">
                <a:latin typeface="Arial"/>
              </a:rPr>
              <a:t>0 </a:t>
            </a:r>
            <a:r>
              <a:rPr lang="en-US" b="1" sz="850">
                <a:latin typeface="Arial"/>
              </a:rPr>
              <a:t>customer_id </a:t>
            </a:r>
            <a:r>
              <a:rPr lang="en-US" sz="950">
                <a:latin typeface="Arial"/>
              </a:rPr>
              <a:t>0 </a:t>
            </a:r>
            <a:r>
              <a:rPr lang="en-US" b="1" sz="850">
                <a:latin typeface="Arial"/>
              </a:rPr>
              <a:t>restaurant_name </a:t>
            </a:r>
            <a:r>
              <a:rPr lang="en-US" sz="950">
                <a:latin typeface="Arial"/>
              </a:rPr>
              <a:t>0 </a:t>
            </a:r>
            <a:r>
              <a:rPr lang="en-US" b="1" sz="850">
                <a:latin typeface="Arial"/>
              </a:rPr>
              <a:t>cuisine_type </a:t>
            </a:r>
            <a:r>
              <a:rPr lang="en-US" sz="950">
                <a:latin typeface="Arial"/>
              </a:rPr>
              <a:t>0 </a:t>
            </a:r>
            <a:r>
              <a:rPr lang="en-US" b="1" sz="850">
                <a:latin typeface="Arial"/>
              </a:rPr>
              <a:t>cost_of_the_order </a:t>
            </a:r>
            <a:r>
              <a:rPr lang="en-US" sz="950">
                <a:latin typeface="Arial"/>
              </a:rPr>
              <a:t>0 </a:t>
            </a:r>
            <a:r>
              <a:rPr lang="en-US" b="1" sz="850">
                <a:latin typeface="Arial"/>
              </a:rPr>
              <a:t>day_of_the_week </a:t>
            </a:r>
            <a:r>
              <a:rPr lang="en-US" sz="950">
                <a:latin typeface="Arial"/>
              </a:rPr>
              <a:t>0 </a:t>
            </a:r>
            <a:r>
              <a:rPr lang="en-US" b="1" sz="850">
                <a:latin typeface="Arial"/>
              </a:rPr>
              <a:t>rating </a:t>
            </a:r>
            <a:r>
              <a:rPr lang="en-US" sz="950">
                <a:latin typeface="Arial"/>
              </a:rPr>
              <a:t>0 </a:t>
            </a:r>
            <a:r>
              <a:rPr lang="en-US" b="1" sz="850">
                <a:latin typeface="Arial"/>
              </a:rPr>
              <a:t>food_preparation_time </a:t>
            </a:r>
            <a:r>
              <a:rPr lang="en-US" sz="950">
                <a:latin typeface="Arial"/>
              </a:rPr>
              <a:t>0 </a:t>
            </a:r>
            <a:r>
              <a:rPr lang="en-US" b="1" sz="850">
                <a:latin typeface="Arial"/>
              </a:rPr>
              <a:t>delivery_time </a:t>
            </a:r>
            <a:r>
              <a:rPr lang="en-US" sz="950">
                <a:latin typeface="Arial"/>
              </a:rPr>
              <a:t>0</a:t>
            </a:r>
          </a:p>
          <a:p>
            <a:pPr marR="6438900" indent="0">
              <a:lnSpc>
                <a:spcPts val="2400"/>
              </a:lnSpc>
            </a:pPr>
            <a:r>
              <a:rPr lang="en-US" b="1" sz="850">
                <a:latin typeface="Arial"/>
              </a:rPr>
              <a:t>dtype: </a:t>
            </a:r>
            <a:r>
              <a:rPr lang="en-US" sz="950">
                <a:latin typeface="Arial"/>
              </a:rPr>
              <a:t>int64 </a:t>
            </a:r>
            <a:r>
              <a:rPr lang="en-US" b="1" sz="850">
                <a:latin typeface="Arial"/>
              </a:rPr>
              <a:t>Observations:</a:t>
            </a:r>
          </a:p>
          <a:p>
            <a:pPr algn="just" indent="0">
              <a:lnSpc>
                <a:spcPts val="2400"/>
              </a:lnSpc>
            </a:pPr>
            <a:r>
              <a:rPr lang="en-US" sz="950">
                <a:latin typeface="Arial"/>
              </a:rPr>
              <a:t>No missing value found</a:t>
            </a:r>
          </a:p>
          <a:p>
            <a:pPr algn="just" indent="0">
              <a:lnSpc>
                <a:spcPts val="1368"/>
              </a:lnSpc>
            </a:pPr>
            <a:r>
              <a:rPr lang="en-US" b="1" sz="1100">
                <a:latin typeface="Arial"/>
              </a:rPr>
              <a:t>Question 4: Check the statistical summary of the data. What is the minimum, average, and maximum time it takes for food to be prepared once an order is placed? [2 marks]</a:t>
            </a:r>
          </a:p>
          <a:p>
            <a:pPr algn="just" indent="0">
              <a:lnSpc>
                <a:spcPts val="1152"/>
              </a:lnSpc>
            </a:pPr>
            <a:r>
              <a:rPr lang="en-US" sz="950">
                <a:latin typeface="Arial"/>
              </a:rPr>
              <a:t>In [14]:</a:t>
            </a:r>
          </a:p>
          <a:p>
            <a:pPr marR="6007100" indent="0">
              <a:lnSpc>
                <a:spcPts val="1152"/>
              </a:lnSpc>
            </a:pPr>
            <a:r>
              <a:rPr lang="en-US" i="1" sz="950">
                <a:latin typeface="Arial"/>
              </a:rPr>
              <a:t>#    Write your code here </a:t>
            </a:r>
            <a:r>
              <a:rPr lang="en-US" sz="950">
                <a:latin typeface="Arial"/>
              </a:rPr>
              <a:t>df</a:t>
            </a:r>
            <a:r>
              <a:rPr lang="en-US" b="1" sz="850">
                <a:latin typeface="Arial"/>
              </a:rPr>
              <a:t>.</a:t>
            </a:r>
            <a:r>
              <a:rPr lang="en-US" sz="950">
                <a:latin typeface="Arial"/>
              </a:rPr>
              <a:t>describe()</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48768" y="0"/>
            <a:ext cx="457200" cy="143256"/>
          </a:xfrm>
          <a:prstGeom prst="rect">
            <a:avLst/>
          </a:prstGeom>
        </p:spPr>
        <p:txBody>
          <a:bodyPr lIns="0" tIns="0" rIns="0" bIns="0" wrap="none">
            <a:noAutofit/>
          </a:bodyPr>
          <a:p>
            <a:pPr indent="0"/>
            <a:r>
              <a:rPr lang="en-US" sz="950">
                <a:latin typeface="Arial"/>
              </a:rPr>
              <a:t>Out[14]:</a:t>
            </a:r>
          </a:p>
        </p:txBody>
      </p:sp>
      <p:graphicFrame>
        <p:nvGraphicFramePr>
          <p:cNvPr id="3" name=""/>
          <p:cNvGraphicFramePr>
            <a:graphicFrameLocks noGrp="1"/>
          </p:cNvGraphicFramePr>
          <p:nvPr/>
        </p:nvGraphicFramePr>
        <p:xfrm>
          <a:off x="106680" y="198120"/>
          <a:ext cx="5763768" cy="2261616"/>
        </p:xfrm>
        <a:graphic>
          <a:graphicData uri="http://schemas.openxmlformats.org/drawingml/2006/table">
            <a:tbl>
              <a:tblPr/>
              <a:tblGrid>
                <a:gridCol w="411480"/>
                <a:gridCol w="908304"/>
                <a:gridCol w="969264"/>
                <a:gridCol w="1179576"/>
                <a:gridCol w="1441704"/>
                <a:gridCol w="853440"/>
              </a:tblGrid>
              <a:tr h="204216">
                <a:tc>
                  <a:txBody>
                    <a:bodyPr lIns="0" tIns="0" rIns="0" bIns="0">
                      <a:noAutofit/>
                    </a:bodyPr>
                    <a:p>
                      <a:endParaRPr sz="1000"/>
                    </a:p>
                  </a:txBody>
                  <a:tcPr marL="0" marR="0" marT="0" marB="0"/>
                </a:tc>
                <a:tc>
                  <a:txBody>
                    <a:bodyPr lIns="0" tIns="0" rIns="0" bIns="0">
                      <a:noAutofit/>
                    </a:bodyPr>
                    <a:p>
                      <a:pPr algn="r" indent="0"/>
                      <a:r>
                        <a:rPr lang="en-US" b="1" sz="850">
                          <a:latin typeface="Arial"/>
                        </a:rPr>
                        <a:t>order_id</a:t>
                      </a:r>
                    </a:p>
                  </a:txBody>
                  <a:tcPr marL="0" marR="0" marT="0" marB="0"/>
                </a:tc>
                <a:tc>
                  <a:txBody>
                    <a:bodyPr lIns="0" tIns="0" rIns="0" bIns="0">
                      <a:noAutofit/>
                    </a:bodyPr>
                    <a:p>
                      <a:pPr algn="r" indent="0"/>
                      <a:r>
                        <a:rPr lang="en-US" b="1" sz="850">
                          <a:latin typeface="Arial"/>
                        </a:rPr>
                        <a:t>customer_id</a:t>
                      </a:r>
                    </a:p>
                  </a:txBody>
                  <a:tcPr marL="0" marR="0" marT="0" marB="0"/>
                </a:tc>
                <a:tc>
                  <a:txBody>
                    <a:bodyPr lIns="0" tIns="0" rIns="0" bIns="0">
                      <a:noAutofit/>
                    </a:bodyPr>
                    <a:p>
                      <a:pPr algn="r" indent="0"/>
                      <a:r>
                        <a:rPr lang="en-US" b="1" sz="850">
                          <a:latin typeface="Arial"/>
                        </a:rPr>
                        <a:t>cost_of_the_order</a:t>
                      </a:r>
                    </a:p>
                  </a:txBody>
                  <a:tcPr marL="0" marR="0" marT="0" marB="0"/>
                </a:tc>
                <a:tc>
                  <a:txBody>
                    <a:bodyPr lIns="0" tIns="0" rIns="0" bIns="0">
                      <a:noAutofit/>
                    </a:bodyPr>
                    <a:p>
                      <a:pPr algn="r" indent="0"/>
                      <a:r>
                        <a:rPr lang="en-US" b="1" sz="850">
                          <a:latin typeface="Arial"/>
                        </a:rPr>
                        <a:t>food_preparation_time</a:t>
                      </a:r>
                    </a:p>
                  </a:txBody>
                  <a:tcPr marL="0" marR="0" marT="0" marB="0"/>
                </a:tc>
                <a:tc>
                  <a:txBody>
                    <a:bodyPr lIns="0" tIns="0" rIns="0" bIns="0">
                      <a:noAutofit/>
                    </a:bodyPr>
                    <a:p>
                      <a:pPr algn="r" indent="0"/>
                      <a:r>
                        <a:rPr lang="en-US" b="1" sz="850">
                          <a:latin typeface="Arial"/>
                        </a:rPr>
                        <a:t>delivery_time</a:t>
                      </a:r>
                    </a:p>
                  </a:txBody>
                  <a:tcPr marL="0" marR="0" marT="0" marB="0"/>
                </a:tc>
              </a:tr>
              <a:tr h="259080">
                <a:tc>
                  <a:txBody>
                    <a:bodyPr lIns="0" tIns="0" rIns="0" bIns="0">
                      <a:noAutofit/>
                    </a:bodyPr>
                    <a:p>
                      <a:pPr indent="0"/>
                      <a:r>
                        <a:rPr lang="en-US" b="1" sz="850">
                          <a:latin typeface="Arial"/>
                        </a:rPr>
                        <a:t>count</a:t>
                      </a:r>
                    </a:p>
                  </a:txBody>
                  <a:tcPr marL="0" marR="0" marT="0" marB="0" anchor="ctr"/>
                </a:tc>
                <a:tc>
                  <a:txBody>
                    <a:bodyPr lIns="0" tIns="0" rIns="0" bIns="0">
                      <a:noAutofit/>
                    </a:bodyPr>
                    <a:p>
                      <a:pPr algn="r" indent="0"/>
                      <a:r>
                        <a:rPr lang="en-US" b="1" sz="850">
                          <a:latin typeface="Arial"/>
                        </a:rPr>
                        <a:t>1.898000e+03</a:t>
                      </a:r>
                    </a:p>
                  </a:txBody>
                  <a:tcPr marL="0" marR="0" marT="0" marB="0" anchor="ctr"/>
                </a:tc>
                <a:tc>
                  <a:txBody>
                    <a:bodyPr lIns="0" tIns="0" rIns="0" bIns="0">
                      <a:noAutofit/>
                    </a:bodyPr>
                    <a:p>
                      <a:pPr algn="r" indent="0"/>
                      <a:r>
                        <a:rPr lang="en-US" b="1" sz="850">
                          <a:latin typeface="Arial"/>
                        </a:rPr>
                        <a:t>1898.000000</a:t>
                      </a:r>
                    </a:p>
                  </a:txBody>
                  <a:tcPr marL="0" marR="0" marT="0" marB="0" anchor="ctr"/>
                </a:tc>
                <a:tc>
                  <a:txBody>
                    <a:bodyPr lIns="0" tIns="0" rIns="0" bIns="0">
                      <a:noAutofit/>
                    </a:bodyPr>
                    <a:p>
                      <a:pPr algn="r" indent="0"/>
                      <a:r>
                        <a:rPr lang="en-US" b="1" sz="850">
                          <a:latin typeface="Arial"/>
                        </a:rPr>
                        <a:t>1898.000000</a:t>
                      </a:r>
                    </a:p>
                  </a:txBody>
                  <a:tcPr marL="0" marR="0" marT="0" marB="0" anchor="ctr"/>
                </a:tc>
                <a:tc>
                  <a:txBody>
                    <a:bodyPr lIns="0" tIns="0" rIns="0" bIns="0">
                      <a:noAutofit/>
                    </a:bodyPr>
                    <a:p>
                      <a:pPr algn="r" indent="0"/>
                      <a:r>
                        <a:rPr lang="en-US" b="1" sz="850">
                          <a:latin typeface="Arial"/>
                        </a:rPr>
                        <a:t>1898.000000</a:t>
                      </a:r>
                    </a:p>
                  </a:txBody>
                  <a:tcPr marL="0" marR="0" marT="0" marB="0" anchor="ctr"/>
                </a:tc>
                <a:tc>
                  <a:txBody>
                    <a:bodyPr lIns="0" tIns="0" rIns="0" bIns="0">
                      <a:noAutofit/>
                    </a:bodyPr>
                    <a:p>
                      <a:pPr algn="r" indent="0"/>
                      <a:r>
                        <a:rPr lang="en-US" b="1" sz="850">
                          <a:latin typeface="Arial"/>
                        </a:rPr>
                        <a:t>1898.000000</a:t>
                      </a:r>
                    </a:p>
                  </a:txBody>
                  <a:tcPr marL="0" marR="0" marT="0" marB="0" anchor="ctr"/>
                </a:tc>
              </a:tr>
              <a:tr h="268224">
                <a:tc>
                  <a:txBody>
                    <a:bodyPr lIns="0" tIns="0" rIns="0" bIns="0">
                      <a:noAutofit/>
                    </a:bodyPr>
                    <a:p>
                      <a:pPr indent="0"/>
                      <a:r>
                        <a:rPr lang="en-US" b="1" sz="850">
                          <a:latin typeface="Arial"/>
                        </a:rPr>
                        <a:t>mean</a:t>
                      </a:r>
                    </a:p>
                  </a:txBody>
                  <a:tcPr marL="0" marR="0" marT="0" marB="0" anchor="ctr"/>
                </a:tc>
                <a:tc>
                  <a:txBody>
                    <a:bodyPr lIns="0" tIns="0" rIns="0" bIns="0">
                      <a:noAutofit/>
                    </a:bodyPr>
                    <a:p>
                      <a:pPr algn="r" indent="0"/>
                      <a:r>
                        <a:rPr lang="en-US" b="1" sz="850">
                          <a:latin typeface="Arial"/>
                        </a:rPr>
                        <a:t>1.477496e+06</a:t>
                      </a:r>
                    </a:p>
                  </a:txBody>
                  <a:tcPr marL="0" marR="0" marT="0" marB="0" anchor="ctr"/>
                </a:tc>
                <a:tc>
                  <a:txBody>
                    <a:bodyPr lIns="0" tIns="0" rIns="0" bIns="0">
                      <a:noAutofit/>
                    </a:bodyPr>
                    <a:p>
                      <a:pPr algn="r" indent="0"/>
                      <a:r>
                        <a:rPr lang="en-US" b="1" sz="850">
                          <a:latin typeface="Arial"/>
                        </a:rPr>
                        <a:t>171168.478398</a:t>
                      </a:r>
                    </a:p>
                  </a:txBody>
                  <a:tcPr marL="0" marR="0" marT="0" marB="0" anchor="ctr"/>
                </a:tc>
                <a:tc>
                  <a:txBody>
                    <a:bodyPr lIns="0" tIns="0" rIns="0" bIns="0">
                      <a:noAutofit/>
                    </a:bodyPr>
                    <a:p>
                      <a:pPr algn="r" indent="0"/>
                      <a:r>
                        <a:rPr lang="en-US" b="1" sz="850">
                          <a:latin typeface="Arial"/>
                        </a:rPr>
                        <a:t>16.498851</a:t>
                      </a:r>
                    </a:p>
                  </a:txBody>
                  <a:tcPr marL="0" marR="0" marT="0" marB="0" anchor="ctr"/>
                </a:tc>
                <a:tc>
                  <a:txBody>
                    <a:bodyPr lIns="0" tIns="0" rIns="0" bIns="0">
                      <a:noAutofit/>
                    </a:bodyPr>
                    <a:p>
                      <a:pPr algn="r" indent="0"/>
                      <a:r>
                        <a:rPr lang="en-US" b="1" sz="850">
                          <a:latin typeface="Arial"/>
                        </a:rPr>
                        <a:t>27.371970</a:t>
                      </a:r>
                    </a:p>
                  </a:txBody>
                  <a:tcPr marL="0" marR="0" marT="0" marB="0" anchor="ctr"/>
                </a:tc>
                <a:tc>
                  <a:txBody>
                    <a:bodyPr lIns="0" tIns="0" rIns="0" bIns="0">
                      <a:noAutofit/>
                    </a:bodyPr>
                    <a:p>
                      <a:pPr algn="r" indent="0"/>
                      <a:r>
                        <a:rPr lang="en-US" b="1" sz="850">
                          <a:latin typeface="Arial"/>
                        </a:rPr>
                        <a:t>24.161749</a:t>
                      </a:r>
                    </a:p>
                  </a:txBody>
                  <a:tcPr marL="0" marR="0" marT="0" marB="0" anchor="ctr"/>
                </a:tc>
              </a:tr>
              <a:tr h="265176">
                <a:tc>
                  <a:txBody>
                    <a:bodyPr lIns="0" tIns="0" rIns="0" bIns="0">
                      <a:noAutofit/>
                    </a:bodyPr>
                    <a:p>
                      <a:pPr marL="152400" indent="0"/>
                      <a:r>
                        <a:rPr lang="en-US" b="1" sz="850">
                          <a:latin typeface="Arial"/>
                        </a:rPr>
                        <a:t>std</a:t>
                      </a:r>
                    </a:p>
                  </a:txBody>
                  <a:tcPr marL="0" marR="0" marT="0" marB="0" anchor="ctr"/>
                </a:tc>
                <a:tc>
                  <a:txBody>
                    <a:bodyPr lIns="0" tIns="0" rIns="0" bIns="0">
                      <a:noAutofit/>
                    </a:bodyPr>
                    <a:p>
                      <a:pPr algn="r" indent="0"/>
                      <a:r>
                        <a:rPr lang="en-US" b="1" sz="850">
                          <a:latin typeface="Arial"/>
                        </a:rPr>
                        <a:t>5.480497e+02</a:t>
                      </a:r>
                    </a:p>
                  </a:txBody>
                  <a:tcPr marL="0" marR="0" marT="0" marB="0" anchor="ctr"/>
                </a:tc>
                <a:tc>
                  <a:txBody>
                    <a:bodyPr lIns="0" tIns="0" rIns="0" bIns="0">
                      <a:noAutofit/>
                    </a:bodyPr>
                    <a:p>
                      <a:pPr algn="r" indent="0"/>
                      <a:r>
                        <a:rPr lang="en-US" b="1" sz="850">
                          <a:latin typeface="Arial"/>
                        </a:rPr>
                        <a:t>113698.139743</a:t>
                      </a:r>
                    </a:p>
                  </a:txBody>
                  <a:tcPr marL="0" marR="0" marT="0" marB="0" anchor="ctr"/>
                </a:tc>
                <a:tc>
                  <a:txBody>
                    <a:bodyPr lIns="0" tIns="0" rIns="0" bIns="0">
                      <a:noAutofit/>
                    </a:bodyPr>
                    <a:p>
                      <a:pPr algn="r" indent="0"/>
                      <a:r>
                        <a:rPr lang="en-US" b="1" sz="850">
                          <a:latin typeface="Arial"/>
                        </a:rPr>
                        <a:t>7.483812</a:t>
                      </a:r>
                    </a:p>
                  </a:txBody>
                  <a:tcPr marL="0" marR="0" marT="0" marB="0" anchor="ctr"/>
                </a:tc>
                <a:tc>
                  <a:txBody>
                    <a:bodyPr lIns="0" tIns="0" rIns="0" bIns="0">
                      <a:noAutofit/>
                    </a:bodyPr>
                    <a:p>
                      <a:pPr algn="r" indent="0"/>
                      <a:r>
                        <a:rPr lang="en-US" b="1" sz="850">
                          <a:latin typeface="Arial"/>
                        </a:rPr>
                        <a:t>4.632481</a:t>
                      </a:r>
                    </a:p>
                  </a:txBody>
                  <a:tcPr marL="0" marR="0" marT="0" marB="0" anchor="ctr"/>
                </a:tc>
                <a:tc>
                  <a:txBody>
                    <a:bodyPr lIns="0" tIns="0" rIns="0" bIns="0">
                      <a:noAutofit/>
                    </a:bodyPr>
                    <a:p>
                      <a:pPr algn="r" indent="0"/>
                      <a:r>
                        <a:rPr lang="en-US" b="1" sz="850">
                          <a:latin typeface="Arial"/>
                        </a:rPr>
                        <a:t>4.972637</a:t>
                      </a:r>
                    </a:p>
                  </a:txBody>
                  <a:tcPr marL="0" marR="0" marT="0" marB="0" anchor="ctr"/>
                </a:tc>
              </a:tr>
              <a:tr h="268224">
                <a:tc>
                  <a:txBody>
                    <a:bodyPr lIns="0" tIns="0" rIns="0" bIns="0">
                      <a:noAutofit/>
                    </a:bodyPr>
                    <a:p>
                      <a:pPr marL="152400" indent="0"/>
                      <a:r>
                        <a:rPr lang="en-US" b="1" sz="850">
                          <a:latin typeface="Arial"/>
                        </a:rPr>
                        <a:t>min</a:t>
                      </a:r>
                    </a:p>
                  </a:txBody>
                  <a:tcPr marL="0" marR="0" marT="0" marB="0" anchor="ctr"/>
                </a:tc>
                <a:tc>
                  <a:txBody>
                    <a:bodyPr lIns="0" tIns="0" rIns="0" bIns="0">
                      <a:noAutofit/>
                    </a:bodyPr>
                    <a:p>
                      <a:pPr algn="r" indent="0"/>
                      <a:r>
                        <a:rPr lang="en-US" b="1" sz="850">
                          <a:latin typeface="Arial"/>
                        </a:rPr>
                        <a:t>1.476547e+06</a:t>
                      </a:r>
                    </a:p>
                  </a:txBody>
                  <a:tcPr marL="0" marR="0" marT="0" marB="0" anchor="ctr"/>
                </a:tc>
                <a:tc>
                  <a:txBody>
                    <a:bodyPr lIns="0" tIns="0" rIns="0" bIns="0">
                      <a:noAutofit/>
                    </a:bodyPr>
                    <a:p>
                      <a:pPr algn="r" indent="0"/>
                      <a:r>
                        <a:rPr lang="en-US" b="1" sz="850">
                          <a:latin typeface="Arial"/>
                        </a:rPr>
                        <a:t>1311.000000</a:t>
                      </a:r>
                    </a:p>
                  </a:txBody>
                  <a:tcPr marL="0" marR="0" marT="0" marB="0" anchor="ctr"/>
                </a:tc>
                <a:tc>
                  <a:txBody>
                    <a:bodyPr lIns="0" tIns="0" rIns="0" bIns="0">
                      <a:noAutofit/>
                    </a:bodyPr>
                    <a:p>
                      <a:pPr algn="r" indent="0"/>
                      <a:r>
                        <a:rPr lang="en-US" b="1" sz="850">
                          <a:latin typeface="Arial"/>
                        </a:rPr>
                        <a:t>4.470000</a:t>
                      </a:r>
                    </a:p>
                  </a:txBody>
                  <a:tcPr marL="0" marR="0" marT="0" marB="0" anchor="ctr"/>
                </a:tc>
                <a:tc>
                  <a:txBody>
                    <a:bodyPr lIns="0" tIns="0" rIns="0" bIns="0">
                      <a:noAutofit/>
                    </a:bodyPr>
                    <a:p>
                      <a:pPr algn="r" indent="0"/>
                      <a:r>
                        <a:rPr lang="en-US" b="1" sz="950">
                          <a:latin typeface="Arial"/>
                        </a:rPr>
                        <a:t>20.000000</a:t>
                      </a:r>
                    </a:p>
                  </a:txBody>
                  <a:tcPr marL="0" marR="0" marT="0" marB="0" anchor="ctr"/>
                </a:tc>
                <a:tc>
                  <a:txBody>
                    <a:bodyPr lIns="0" tIns="0" rIns="0" bIns="0">
                      <a:noAutofit/>
                    </a:bodyPr>
                    <a:p>
                      <a:pPr algn="r" indent="0"/>
                      <a:r>
                        <a:rPr lang="en-US" b="1" sz="850">
                          <a:latin typeface="Arial"/>
                        </a:rPr>
                        <a:t>15.000000</a:t>
                      </a:r>
                    </a:p>
                  </a:txBody>
                  <a:tcPr marL="0" marR="0" marT="0" marB="0" anchor="ctr"/>
                </a:tc>
              </a:tr>
              <a:tr h="265176">
                <a:tc>
                  <a:txBody>
                    <a:bodyPr lIns="0" tIns="0" rIns="0" bIns="0">
                      <a:noAutofit/>
                    </a:bodyPr>
                    <a:p>
                      <a:pPr marL="114300" indent="0"/>
                      <a:r>
                        <a:rPr lang="en-US" b="1" sz="850">
                          <a:latin typeface="Arial"/>
                        </a:rPr>
                        <a:t>25%</a:t>
                      </a:r>
                    </a:p>
                  </a:txBody>
                  <a:tcPr marL="0" marR="0" marT="0" marB="0" anchor="ctr"/>
                </a:tc>
                <a:tc>
                  <a:txBody>
                    <a:bodyPr lIns="0" tIns="0" rIns="0" bIns="0">
                      <a:noAutofit/>
                    </a:bodyPr>
                    <a:p>
                      <a:pPr algn="r" indent="0"/>
                      <a:r>
                        <a:rPr lang="en-US" b="1" sz="850">
                          <a:latin typeface="Arial"/>
                        </a:rPr>
                        <a:t>1.477021e+06</a:t>
                      </a:r>
                    </a:p>
                  </a:txBody>
                  <a:tcPr marL="0" marR="0" marT="0" marB="0" anchor="ctr"/>
                </a:tc>
                <a:tc>
                  <a:txBody>
                    <a:bodyPr lIns="0" tIns="0" rIns="0" bIns="0">
                      <a:noAutofit/>
                    </a:bodyPr>
                    <a:p>
                      <a:pPr algn="r" indent="0"/>
                      <a:r>
                        <a:rPr lang="en-US" b="1" sz="850">
                          <a:latin typeface="Arial"/>
                        </a:rPr>
                        <a:t>77787.750000</a:t>
                      </a:r>
                    </a:p>
                  </a:txBody>
                  <a:tcPr marL="0" marR="0" marT="0" marB="0" anchor="ctr"/>
                </a:tc>
                <a:tc>
                  <a:txBody>
                    <a:bodyPr lIns="0" tIns="0" rIns="0" bIns="0">
                      <a:noAutofit/>
                    </a:bodyPr>
                    <a:p>
                      <a:pPr algn="r" indent="0"/>
                      <a:r>
                        <a:rPr lang="en-US" b="1" sz="850">
                          <a:latin typeface="Arial"/>
                        </a:rPr>
                        <a:t>12.080000</a:t>
                      </a:r>
                    </a:p>
                  </a:txBody>
                  <a:tcPr marL="0" marR="0" marT="0" marB="0" anchor="ctr"/>
                </a:tc>
                <a:tc>
                  <a:txBody>
                    <a:bodyPr lIns="0" tIns="0" rIns="0" bIns="0">
                      <a:noAutofit/>
                    </a:bodyPr>
                    <a:p>
                      <a:pPr algn="r" indent="0"/>
                      <a:r>
                        <a:rPr lang="en-US" b="1" sz="850">
                          <a:latin typeface="Arial"/>
                        </a:rPr>
                        <a:t>23.000000</a:t>
                      </a:r>
                    </a:p>
                  </a:txBody>
                  <a:tcPr marL="0" marR="0" marT="0" marB="0" anchor="ctr"/>
                </a:tc>
                <a:tc>
                  <a:txBody>
                    <a:bodyPr lIns="0" tIns="0" rIns="0" bIns="0">
                      <a:noAutofit/>
                    </a:bodyPr>
                    <a:p>
                      <a:pPr algn="r" indent="0"/>
                      <a:r>
                        <a:rPr lang="en-US" b="1" sz="950">
                          <a:latin typeface="Arial"/>
                        </a:rPr>
                        <a:t>20.000000</a:t>
                      </a:r>
                    </a:p>
                  </a:txBody>
                  <a:tcPr marL="0" marR="0" marT="0" marB="0" anchor="ctr"/>
                </a:tc>
              </a:tr>
              <a:tr h="268224">
                <a:tc>
                  <a:txBody>
                    <a:bodyPr lIns="0" tIns="0" rIns="0" bIns="0">
                      <a:noAutofit/>
                    </a:bodyPr>
                    <a:p>
                      <a:pPr marL="114300" indent="0"/>
                      <a:r>
                        <a:rPr lang="en-US" b="1" sz="850">
                          <a:latin typeface="Arial"/>
                        </a:rPr>
                        <a:t>50%</a:t>
                      </a:r>
                    </a:p>
                  </a:txBody>
                  <a:tcPr marL="0" marR="0" marT="0" marB="0" anchor="ctr"/>
                </a:tc>
                <a:tc>
                  <a:txBody>
                    <a:bodyPr lIns="0" tIns="0" rIns="0" bIns="0">
                      <a:noAutofit/>
                    </a:bodyPr>
                    <a:p>
                      <a:pPr algn="r" indent="0"/>
                      <a:r>
                        <a:rPr lang="en-US" b="1" sz="850">
                          <a:latin typeface="Arial"/>
                        </a:rPr>
                        <a:t>1.477496e+06</a:t>
                      </a:r>
                    </a:p>
                  </a:txBody>
                  <a:tcPr marL="0" marR="0" marT="0" marB="0" anchor="ctr"/>
                </a:tc>
                <a:tc>
                  <a:txBody>
                    <a:bodyPr lIns="0" tIns="0" rIns="0" bIns="0">
                      <a:noAutofit/>
                    </a:bodyPr>
                    <a:p>
                      <a:pPr algn="r" indent="0"/>
                      <a:r>
                        <a:rPr lang="en-US" b="1" sz="850">
                          <a:latin typeface="Arial"/>
                        </a:rPr>
                        <a:t>128600.000000</a:t>
                      </a:r>
                    </a:p>
                  </a:txBody>
                  <a:tcPr marL="0" marR="0" marT="0" marB="0" anchor="ctr"/>
                </a:tc>
                <a:tc>
                  <a:txBody>
                    <a:bodyPr lIns="0" tIns="0" rIns="0" bIns="0">
                      <a:noAutofit/>
                    </a:bodyPr>
                    <a:p>
                      <a:pPr algn="r" indent="0"/>
                      <a:r>
                        <a:rPr lang="en-US" b="1" sz="850">
                          <a:latin typeface="Arial"/>
                        </a:rPr>
                        <a:t>14.140000</a:t>
                      </a:r>
                    </a:p>
                  </a:txBody>
                  <a:tcPr marL="0" marR="0" marT="0" marB="0" anchor="ctr"/>
                </a:tc>
                <a:tc>
                  <a:txBody>
                    <a:bodyPr lIns="0" tIns="0" rIns="0" bIns="0">
                      <a:noAutofit/>
                    </a:bodyPr>
                    <a:p>
                      <a:pPr algn="r" indent="0"/>
                      <a:r>
                        <a:rPr lang="en-US" b="1" sz="850">
                          <a:latin typeface="Arial"/>
                        </a:rPr>
                        <a:t>27.000000</a:t>
                      </a:r>
                    </a:p>
                  </a:txBody>
                  <a:tcPr marL="0" marR="0" marT="0" marB="0" anchor="ctr"/>
                </a:tc>
                <a:tc>
                  <a:txBody>
                    <a:bodyPr lIns="0" tIns="0" rIns="0" bIns="0">
                      <a:noAutofit/>
                    </a:bodyPr>
                    <a:p>
                      <a:pPr algn="r" indent="0"/>
                      <a:r>
                        <a:rPr lang="en-US" b="1" sz="850">
                          <a:latin typeface="Arial"/>
                        </a:rPr>
                        <a:t>25.000000</a:t>
                      </a:r>
                    </a:p>
                  </a:txBody>
                  <a:tcPr marL="0" marR="0" marT="0" marB="0" anchor="ctr"/>
                </a:tc>
              </a:tr>
              <a:tr h="265176">
                <a:tc>
                  <a:txBody>
                    <a:bodyPr lIns="0" tIns="0" rIns="0" bIns="0">
                      <a:noAutofit/>
                    </a:bodyPr>
                    <a:p>
                      <a:pPr marL="114300" indent="0"/>
                      <a:r>
                        <a:rPr lang="en-US" b="1" sz="850">
                          <a:latin typeface="Arial"/>
                        </a:rPr>
                        <a:t>75%</a:t>
                      </a:r>
                    </a:p>
                  </a:txBody>
                  <a:tcPr marL="0" marR="0" marT="0" marB="0" anchor="ctr"/>
                </a:tc>
                <a:tc>
                  <a:txBody>
                    <a:bodyPr lIns="0" tIns="0" rIns="0" bIns="0">
                      <a:noAutofit/>
                    </a:bodyPr>
                    <a:p>
                      <a:pPr algn="r" indent="0"/>
                      <a:r>
                        <a:rPr lang="en-US" b="1" sz="850">
                          <a:latin typeface="Arial"/>
                        </a:rPr>
                        <a:t>1.477970e+06</a:t>
                      </a:r>
                    </a:p>
                  </a:txBody>
                  <a:tcPr marL="0" marR="0" marT="0" marB="0" anchor="ctr"/>
                </a:tc>
                <a:tc>
                  <a:txBody>
                    <a:bodyPr lIns="0" tIns="0" rIns="0" bIns="0">
                      <a:noAutofit/>
                    </a:bodyPr>
                    <a:p>
                      <a:pPr algn="r" indent="0"/>
                      <a:r>
                        <a:rPr lang="en-US" b="1" sz="850">
                          <a:latin typeface="Arial"/>
                        </a:rPr>
                        <a:t>270525.000000</a:t>
                      </a:r>
                    </a:p>
                  </a:txBody>
                  <a:tcPr marL="0" marR="0" marT="0" marB="0" anchor="ctr"/>
                </a:tc>
                <a:tc>
                  <a:txBody>
                    <a:bodyPr lIns="0" tIns="0" rIns="0" bIns="0">
                      <a:noAutofit/>
                    </a:bodyPr>
                    <a:p>
                      <a:pPr algn="r" indent="0"/>
                      <a:r>
                        <a:rPr lang="en-US" b="1" sz="850">
                          <a:latin typeface="Arial"/>
                        </a:rPr>
                        <a:t>22.297500</a:t>
                      </a:r>
                    </a:p>
                  </a:txBody>
                  <a:tcPr marL="0" marR="0" marT="0" marB="0" anchor="ctr"/>
                </a:tc>
                <a:tc>
                  <a:txBody>
                    <a:bodyPr lIns="0" tIns="0" rIns="0" bIns="0">
                      <a:noAutofit/>
                    </a:bodyPr>
                    <a:p>
                      <a:pPr algn="r" indent="0"/>
                      <a:r>
                        <a:rPr lang="en-US" b="1" sz="850">
                          <a:latin typeface="Arial"/>
                        </a:rPr>
                        <a:t>31.000000</a:t>
                      </a:r>
                    </a:p>
                  </a:txBody>
                  <a:tcPr marL="0" marR="0" marT="0" marB="0" anchor="ctr"/>
                </a:tc>
                <a:tc>
                  <a:txBody>
                    <a:bodyPr lIns="0" tIns="0" rIns="0" bIns="0">
                      <a:noAutofit/>
                    </a:bodyPr>
                    <a:p>
                      <a:pPr algn="r" indent="0"/>
                      <a:r>
                        <a:rPr lang="en-US" b="1" sz="850">
                          <a:latin typeface="Arial"/>
                        </a:rPr>
                        <a:t>28.000000</a:t>
                      </a:r>
                    </a:p>
                  </a:txBody>
                  <a:tcPr marL="0" marR="0" marT="0" marB="0" anchor="ctr"/>
                </a:tc>
              </a:tr>
              <a:tr h="198120">
                <a:tc>
                  <a:txBody>
                    <a:bodyPr lIns="0" tIns="0" rIns="0" bIns="0">
                      <a:noAutofit/>
                    </a:bodyPr>
                    <a:p>
                      <a:pPr marL="114300" indent="0"/>
                      <a:r>
                        <a:rPr lang="en-US" b="1" sz="850">
                          <a:latin typeface="Arial"/>
                        </a:rPr>
                        <a:t>max</a:t>
                      </a:r>
                    </a:p>
                  </a:txBody>
                  <a:tcPr marL="0" marR="0" marT="0" marB="0" anchor="b"/>
                </a:tc>
                <a:tc>
                  <a:txBody>
                    <a:bodyPr lIns="0" tIns="0" rIns="0" bIns="0">
                      <a:noAutofit/>
                    </a:bodyPr>
                    <a:p>
                      <a:pPr algn="r" indent="0"/>
                      <a:r>
                        <a:rPr lang="en-US" b="1" sz="950">
                          <a:latin typeface="Arial"/>
                        </a:rPr>
                        <a:t>1</a:t>
                      </a:r>
                      <a:r>
                        <a:rPr lang="en-US" b="1" sz="850">
                          <a:latin typeface="Arial"/>
                        </a:rPr>
                        <a:t>.478444e+06</a:t>
                      </a:r>
                    </a:p>
                  </a:txBody>
                  <a:tcPr marL="0" marR="0" marT="0" marB="0" anchor="b"/>
                </a:tc>
                <a:tc>
                  <a:txBody>
                    <a:bodyPr lIns="0" tIns="0" rIns="0" bIns="0">
                      <a:noAutofit/>
                    </a:bodyPr>
                    <a:p>
                      <a:pPr algn="r" indent="0"/>
                      <a:r>
                        <a:rPr lang="en-US" b="1" sz="850">
                          <a:latin typeface="Arial"/>
                        </a:rPr>
                        <a:t>405334.000000</a:t>
                      </a:r>
                    </a:p>
                  </a:txBody>
                  <a:tcPr marL="0" marR="0" marT="0" marB="0" anchor="b"/>
                </a:tc>
                <a:tc>
                  <a:txBody>
                    <a:bodyPr lIns="0" tIns="0" rIns="0" bIns="0">
                      <a:noAutofit/>
                    </a:bodyPr>
                    <a:p>
                      <a:pPr algn="r" indent="0"/>
                      <a:r>
                        <a:rPr lang="en-US" b="1" sz="850">
                          <a:latin typeface="Arial"/>
                        </a:rPr>
                        <a:t>35.410000</a:t>
                      </a:r>
                    </a:p>
                  </a:txBody>
                  <a:tcPr marL="0" marR="0" marT="0" marB="0" anchor="b"/>
                </a:tc>
                <a:tc>
                  <a:txBody>
                    <a:bodyPr lIns="0" tIns="0" rIns="0" bIns="0">
                      <a:noAutofit/>
                    </a:bodyPr>
                    <a:p>
                      <a:pPr algn="r" indent="0"/>
                      <a:r>
                        <a:rPr lang="en-US" b="1" sz="850">
                          <a:latin typeface="Arial"/>
                        </a:rPr>
                        <a:t>35.000000</a:t>
                      </a:r>
                    </a:p>
                  </a:txBody>
                  <a:tcPr marL="0" marR="0" marT="0" marB="0" anchor="b"/>
                </a:tc>
                <a:tc>
                  <a:txBody>
                    <a:bodyPr lIns="0" tIns="0" rIns="0" bIns="0">
                      <a:noAutofit/>
                    </a:bodyPr>
                    <a:p>
                      <a:pPr algn="r" indent="0"/>
                      <a:r>
                        <a:rPr lang="en-US" b="1" sz="850">
                          <a:latin typeface="Arial"/>
                        </a:rPr>
                        <a:t>33.000000</a:t>
                      </a:r>
                    </a:p>
                  </a:txBody>
                  <a:tcPr marL="0" marR="0" marT="0" marB="0" anchor="b"/>
                </a:tc>
              </a:tr>
            </a:tbl>
          </a:graphicData>
        </a:graphic>
      </p:graphicFrame>
      <p:sp>
        <p:nvSpPr>
          <p:cNvPr id="4" name=""/>
          <p:cNvSpPr/>
          <p:nvPr/>
        </p:nvSpPr>
        <p:spPr>
          <a:xfrm>
            <a:off x="45720" y="2816352"/>
            <a:ext cx="3678936" cy="3364992"/>
          </a:xfrm>
          <a:prstGeom prst="rect">
            <a:avLst/>
          </a:prstGeom>
        </p:spPr>
        <p:txBody>
          <a:bodyPr lIns="0" tIns="0" rIns="0" bIns="0">
            <a:noAutofit/>
          </a:bodyPr>
          <a:p>
            <a:pPr indent="0">
              <a:spcBef>
                <a:spcPts val="1890"/>
              </a:spcBef>
              <a:spcAft>
                <a:spcPts val="1050"/>
              </a:spcAft>
            </a:pPr>
            <a:r>
              <a:rPr lang="en-US" b="1" sz="850">
                <a:latin typeface="Arial"/>
              </a:rPr>
              <a:t>Observations:</a:t>
            </a:r>
          </a:p>
          <a:p>
            <a:pPr marL="215900" marR="1499108" indent="0">
              <a:lnSpc>
                <a:spcPts val="936"/>
              </a:lnSpc>
              <a:spcAft>
                <a:spcPts val="1050"/>
              </a:spcAft>
            </a:pPr>
            <a:r>
              <a:rPr lang="en-US" sz="750">
                <a:latin typeface="Arial"/>
              </a:rPr>
              <a:t>Food preparation time ( once order is placed) minimum: 20 min average: 27.37 min maximum: 35 min</a:t>
            </a:r>
          </a:p>
          <a:p>
            <a:pPr indent="0">
              <a:spcAft>
                <a:spcPts val="420"/>
              </a:spcAft>
            </a:pPr>
            <a:r>
              <a:rPr lang="en-US" b="1" sz="1100">
                <a:latin typeface="Arial"/>
              </a:rPr>
              <a:t>Question 5: How many orders are not rated? [1 mark]</a:t>
            </a:r>
          </a:p>
          <a:p>
            <a:pPr indent="0">
              <a:lnSpc>
                <a:spcPts val="1152"/>
              </a:lnSpc>
            </a:pPr>
            <a:r>
              <a:rPr lang="en-US" b="1" sz="850">
                <a:latin typeface="Arial"/>
              </a:rPr>
              <a:t>In [15]:</a:t>
            </a:r>
          </a:p>
          <a:p>
            <a:pPr indent="0">
              <a:lnSpc>
                <a:spcPts val="1152"/>
              </a:lnSpc>
            </a:pPr>
            <a:r>
              <a:rPr lang="en-US" i="1" sz="950">
                <a:latin typeface="Arial"/>
              </a:rPr>
              <a:t># Write the code </a:t>
            </a:r>
            <a:r>
              <a:rPr lang="en-US" b="1" sz="850">
                <a:latin typeface="Arial"/>
              </a:rPr>
              <a:t>df['rating'].value_counts()</a:t>
            </a:r>
          </a:p>
          <a:p>
            <a:pPr indent="0">
              <a:spcAft>
                <a:spcPts val="420"/>
              </a:spcAft>
            </a:pPr>
            <a:r>
              <a:rPr lang="en-US" b="1" sz="850">
                <a:latin typeface="Arial"/>
              </a:rPr>
              <a:t>Out[15]:</a:t>
            </a:r>
          </a:p>
          <a:p>
            <a:pPr marL="762000" indent="0">
              <a:lnSpc>
                <a:spcPts val="2088"/>
              </a:lnSpc>
            </a:pPr>
            <a:r>
              <a:rPr lang="en-US" b="1" sz="850">
                <a:latin typeface="Arial"/>
              </a:rPr>
              <a:t>count</a:t>
            </a:r>
          </a:p>
          <a:p>
            <a:pPr marL="304800" indent="0">
              <a:lnSpc>
                <a:spcPts val="2088"/>
              </a:lnSpc>
            </a:pPr>
            <a:r>
              <a:rPr lang="en-US" b="1" sz="850">
                <a:latin typeface="Arial"/>
              </a:rPr>
              <a:t>rating</a:t>
            </a:r>
          </a:p>
          <a:p>
            <a:pPr algn="just" indent="0">
              <a:lnSpc>
                <a:spcPts val="2088"/>
              </a:lnSpc>
            </a:pPr>
            <a:r>
              <a:rPr lang="en-US" b="1" sz="850">
                <a:latin typeface="Arial"/>
              </a:rPr>
              <a:t>Not given    736</a:t>
            </a:r>
          </a:p>
          <a:p>
            <a:pPr algn="just" marL="571500" indent="0">
              <a:lnSpc>
                <a:spcPts val="2088"/>
              </a:lnSpc>
            </a:pPr>
            <a:r>
              <a:rPr lang="en-US" b="1" sz="850">
                <a:latin typeface="Arial"/>
              </a:rPr>
              <a:t>5    588</a:t>
            </a:r>
          </a:p>
          <a:p>
            <a:pPr algn="just" marL="571500" indent="0">
              <a:lnSpc>
                <a:spcPts val="2088"/>
              </a:lnSpc>
            </a:pPr>
            <a:r>
              <a:rPr lang="en-US" b="1" sz="850">
                <a:latin typeface="Arial"/>
              </a:rPr>
              <a:t>4    386</a:t>
            </a:r>
          </a:p>
          <a:p>
            <a:pPr algn="just" marL="571500" indent="0">
              <a:lnSpc>
                <a:spcPts val="2088"/>
              </a:lnSpc>
              <a:spcAft>
                <a:spcPts val="1050"/>
              </a:spcAft>
            </a:pPr>
            <a:r>
              <a:rPr lang="en-US" b="1" sz="850">
                <a:latin typeface="Arial"/>
              </a:rPr>
              <a:t>3    188</a:t>
            </a:r>
          </a:p>
        </p:txBody>
      </p:sp>
      <p:sp>
        <p:nvSpPr>
          <p:cNvPr id="5" name=""/>
          <p:cNvSpPr/>
          <p:nvPr/>
        </p:nvSpPr>
        <p:spPr>
          <a:xfrm>
            <a:off x="45720" y="6525768"/>
            <a:ext cx="944880" cy="737616"/>
          </a:xfrm>
          <a:prstGeom prst="rect">
            <a:avLst/>
          </a:prstGeom>
        </p:spPr>
        <p:txBody>
          <a:bodyPr lIns="0" tIns="0" rIns="0" bIns="0">
            <a:noAutofit/>
          </a:bodyPr>
          <a:p>
            <a:pPr indent="0">
              <a:lnSpc>
                <a:spcPts val="2400"/>
              </a:lnSpc>
              <a:spcBef>
                <a:spcPts val="1050"/>
              </a:spcBef>
            </a:pPr>
            <a:r>
              <a:rPr lang="en-US" b="1" sz="850">
                <a:latin typeface="Arial"/>
              </a:rPr>
              <a:t>dtype: int64 Observations:</a:t>
            </a:r>
          </a:p>
          <a:p>
            <a:pPr indent="0">
              <a:lnSpc>
                <a:spcPts val="2400"/>
              </a:lnSpc>
            </a:pPr>
            <a:r>
              <a:rPr lang="en-US" b="1" sz="850">
                <a:latin typeface="Arial"/>
              </a:rPr>
              <a:t>No rated are 736</a:t>
            </a:r>
          </a:p>
        </p:txBody>
      </p:sp>
      <p:sp>
        <p:nvSpPr>
          <p:cNvPr id="6" name=""/>
          <p:cNvSpPr/>
          <p:nvPr/>
        </p:nvSpPr>
        <p:spPr>
          <a:xfrm>
            <a:off x="45720" y="7473696"/>
            <a:ext cx="6632448" cy="3118104"/>
          </a:xfrm>
          <a:prstGeom prst="rect">
            <a:avLst/>
          </a:prstGeom>
        </p:spPr>
        <p:txBody>
          <a:bodyPr lIns="0" tIns="0" rIns="0" bIns="0">
            <a:noAutofit/>
          </a:bodyPr>
          <a:p>
            <a:pPr indent="0">
              <a:spcAft>
                <a:spcPts val="1260"/>
              </a:spcAft>
            </a:pPr>
            <a:r>
              <a:rPr lang="en-US" b="1" sz="1100">
                <a:latin typeface="Arial"/>
              </a:rPr>
              <a:t>Exploratory Data Analysis (EDA)</a:t>
            </a:r>
          </a:p>
          <a:p>
            <a:pPr indent="0">
              <a:spcAft>
                <a:spcPts val="1260"/>
              </a:spcAft>
            </a:pPr>
            <a:r>
              <a:rPr lang="en-US" b="1" sz="1100">
                <a:latin typeface="Arial"/>
              </a:rPr>
              <a:t>Univariate Analysis</a:t>
            </a:r>
          </a:p>
          <a:p>
            <a:pPr indent="0">
              <a:lnSpc>
                <a:spcPts val="1392"/>
              </a:lnSpc>
            </a:pPr>
            <a:r>
              <a:rPr lang="en-US" b="1" sz="1100">
                <a:latin typeface="Arial"/>
              </a:rPr>
              <a:t>Question 6: Explore all the variables and provide observations on their distributions. (Generally, histograms, boxplots, countplots, etc. are used for univariate exploration.) [9 marks]</a:t>
            </a:r>
          </a:p>
          <a:p>
            <a:pPr indent="0"/>
            <a:r>
              <a:rPr lang="en-US" b="1" sz="850">
                <a:latin typeface="Arial"/>
              </a:rPr>
              <a:t>In [16]:</a:t>
            </a:r>
          </a:p>
          <a:p>
            <a:pPr indent="0">
              <a:spcAft>
                <a:spcPts val="420"/>
              </a:spcAft>
            </a:pPr>
            <a:r>
              <a:rPr lang="en-US" b="1" sz="850">
                <a:latin typeface="Arial"/>
              </a:rPr>
              <a:t>df['order_id'].nunique()</a:t>
            </a:r>
          </a:p>
          <a:p>
            <a:pPr indent="0">
              <a:lnSpc>
                <a:spcPts val="1032"/>
              </a:lnSpc>
            </a:pPr>
            <a:r>
              <a:rPr lang="en-US" b="1" sz="850">
                <a:latin typeface="Arial"/>
              </a:rPr>
              <a:t>Out[16]:</a:t>
            </a:r>
          </a:p>
          <a:p>
            <a:pPr indent="0">
              <a:lnSpc>
                <a:spcPts val="1032"/>
              </a:lnSpc>
            </a:pPr>
            <a:r>
              <a:rPr lang="en-US" sz="750">
                <a:latin typeface="Arial"/>
              </a:rPr>
              <a:t>1898 </a:t>
            </a:r>
            <a:r>
              <a:rPr lang="en-US" b="1" sz="850">
                <a:latin typeface="Arial"/>
              </a:rPr>
              <a:t>In [17]:</a:t>
            </a:r>
          </a:p>
          <a:p>
            <a:pPr indent="0">
              <a:spcAft>
                <a:spcPts val="420"/>
              </a:spcAft>
            </a:pPr>
            <a:r>
              <a:rPr lang="en-US" b="1" sz="850">
                <a:latin typeface="Arial"/>
              </a:rPr>
              <a:t>df['customer_id'].nunique()</a:t>
            </a:r>
          </a:p>
          <a:p>
            <a:pPr indent="0">
              <a:lnSpc>
                <a:spcPts val="1032"/>
              </a:lnSpc>
            </a:pPr>
            <a:r>
              <a:rPr lang="en-US" b="1" sz="850">
                <a:latin typeface="Arial"/>
              </a:rPr>
              <a:t>Out[17]:</a:t>
            </a:r>
          </a:p>
          <a:p>
            <a:pPr indent="0">
              <a:lnSpc>
                <a:spcPts val="1032"/>
              </a:lnSpc>
            </a:pPr>
            <a:r>
              <a:rPr lang="en-US" sz="750">
                <a:latin typeface="Arial"/>
              </a:rPr>
              <a:t>1200 </a:t>
            </a:r>
            <a:r>
              <a:rPr lang="en-US" b="1" sz="850">
                <a:latin typeface="Arial"/>
              </a:rPr>
              <a:t>In [18]:</a:t>
            </a:r>
          </a:p>
          <a:p>
            <a:pPr indent="0">
              <a:spcAft>
                <a:spcPts val="420"/>
              </a:spcAft>
            </a:pPr>
            <a:r>
              <a:rPr lang="en-US" b="1" sz="850">
                <a:latin typeface="Arial"/>
              </a:rPr>
              <a:t>df['restaurant_name'].nunique()</a:t>
            </a:r>
          </a:p>
          <a:p>
            <a:pPr indent="0">
              <a:lnSpc>
                <a:spcPts val="1032"/>
              </a:lnSpc>
            </a:pPr>
            <a:r>
              <a:rPr lang="en-US" b="1" sz="850">
                <a:latin typeface="Arial"/>
              </a:rPr>
              <a:t>Out[18]:</a:t>
            </a:r>
          </a:p>
          <a:p>
            <a:pPr indent="0">
              <a:lnSpc>
                <a:spcPts val="1032"/>
              </a:lnSpc>
            </a:pPr>
            <a:r>
              <a:rPr lang="en-US" sz="750">
                <a:latin typeface="Arial"/>
              </a:rPr>
              <a:t>178</a:t>
            </a:r>
          </a:p>
          <a:p>
            <a:pPr indent="0">
              <a:lnSpc>
                <a:spcPts val="1032"/>
              </a:lnSpc>
            </a:pPr>
            <a:r>
              <a:rPr lang="en-US" b="1" sz="850">
                <a:latin typeface="Arial"/>
              </a:rPr>
              <a:t>In [19]:</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128016" y="1456944"/>
            <a:ext cx="7309104" cy="2231136"/>
          </a:xfrm>
          <a:prstGeom prst="rect">
            <a:avLst/>
          </a:prstGeom>
        </p:spPr>
      </p:pic>
      <p:sp>
        <p:nvSpPr>
          <p:cNvPr id="3" name=""/>
          <p:cNvSpPr/>
          <p:nvPr/>
        </p:nvSpPr>
        <p:spPr>
          <a:xfrm>
            <a:off x="45720" y="0"/>
            <a:ext cx="4340352" cy="128016"/>
          </a:xfrm>
          <a:prstGeom prst="rect">
            <a:avLst/>
          </a:prstGeom>
        </p:spPr>
        <p:txBody>
          <a:bodyPr lIns="0" tIns="0" rIns="0" bIns="0" wrap="none">
            <a:noAutofit/>
          </a:bodyPr>
          <a:p>
            <a:pPr indent="0"/>
            <a:r>
              <a:rPr lang="en-US" sz="950">
                <a:latin typeface="Arial"/>
              </a:rPr>
              <a:t>df['cuisine_type'].nuniqueO</a:t>
            </a:r>
          </a:p>
        </p:txBody>
      </p:sp>
      <p:sp>
        <p:nvSpPr>
          <p:cNvPr id="4" name=""/>
          <p:cNvSpPr/>
          <p:nvPr/>
        </p:nvSpPr>
        <p:spPr>
          <a:xfrm>
            <a:off x="45720" y="289560"/>
            <a:ext cx="4340352" cy="999744"/>
          </a:xfrm>
          <a:prstGeom prst="rect">
            <a:avLst/>
          </a:prstGeom>
        </p:spPr>
        <p:txBody>
          <a:bodyPr lIns="0" tIns="0" rIns="0" bIns="0">
            <a:noAutofit/>
          </a:bodyPr>
          <a:p>
            <a:pPr indent="0">
              <a:lnSpc>
                <a:spcPts val="1032"/>
              </a:lnSpc>
            </a:pPr>
            <a:r>
              <a:rPr lang="en-US" b="1" sz="850">
                <a:latin typeface="Arial"/>
              </a:rPr>
              <a:t>Out[19]:</a:t>
            </a:r>
          </a:p>
          <a:p>
            <a:pPr indent="0">
              <a:lnSpc>
                <a:spcPts val="1032"/>
              </a:lnSpc>
            </a:pPr>
            <a:r>
              <a:rPr lang="en-US" sz="750">
                <a:latin typeface="Arial"/>
              </a:rPr>
              <a:t>14</a:t>
            </a:r>
          </a:p>
          <a:p>
            <a:pPr indent="0">
              <a:lnSpc>
                <a:spcPts val="1032"/>
              </a:lnSpc>
            </a:pPr>
            <a:r>
              <a:rPr lang="en-US" b="1" sz="850">
                <a:latin typeface="Arial"/>
              </a:rPr>
              <a:t>In [20]:</a:t>
            </a:r>
          </a:p>
          <a:p>
            <a:pPr indent="0"/>
            <a:r>
              <a:rPr lang="en-US" b="1" sz="850">
                <a:latin typeface="Arial"/>
              </a:rPr>
              <a:t>plt.figure(figsize = (15,5))</a:t>
            </a:r>
          </a:p>
          <a:p>
            <a:pPr indent="0">
              <a:lnSpc>
                <a:spcPts val="1440"/>
              </a:lnSpc>
            </a:pPr>
            <a:r>
              <a:rPr lang="en-US" b="1" sz="850">
                <a:latin typeface="Arial"/>
              </a:rPr>
              <a:t>sns.countplot(data = df, x = 'cuisine_type') </a:t>
            </a:r>
            <a:r>
              <a:rPr lang="en-US" i="1" sz="950">
                <a:latin typeface="Arial"/>
              </a:rPr>
              <a:t>## Create a countplot for cuisine type. </a:t>
            </a:r>
            <a:r>
              <a:rPr lang="en-US" b="1" sz="850">
                <a:latin typeface="Arial"/>
              </a:rPr>
              <a:t>Out[20]:</a:t>
            </a:r>
          </a:p>
          <a:p>
            <a:pPr indent="0"/>
            <a:r>
              <a:rPr lang="en-US" sz="750">
                <a:latin typeface="Arial"/>
              </a:rPr>
              <a:t>&lt;Axes: xlabel='cuisine_type', ylabel='count'&gt;</a:t>
            </a:r>
          </a:p>
        </p:txBody>
      </p:sp>
      <p:sp>
        <p:nvSpPr>
          <p:cNvPr id="5" name=""/>
          <p:cNvSpPr/>
          <p:nvPr/>
        </p:nvSpPr>
        <p:spPr>
          <a:xfrm>
            <a:off x="228600" y="1353312"/>
            <a:ext cx="185928" cy="97536"/>
          </a:xfrm>
          <a:prstGeom prst="rect">
            <a:avLst/>
          </a:prstGeom>
        </p:spPr>
        <p:txBody>
          <a:bodyPr lIns="0" tIns="0" rIns="0" bIns="0" wrap="none">
            <a:noAutofit/>
          </a:bodyPr>
          <a:p>
            <a:pPr indent="0"/>
            <a:r>
              <a:rPr lang="en-US" sz="600">
                <a:solidFill>
                  <a:srgbClr val="3F3F3F"/>
                </a:solidFill>
                <a:latin typeface="Arial"/>
              </a:rPr>
              <a:t>600</a:t>
            </a:r>
          </a:p>
        </p:txBody>
      </p:sp>
      <p:sp>
        <p:nvSpPr>
          <p:cNvPr id="6" name=""/>
          <p:cNvSpPr/>
          <p:nvPr/>
        </p:nvSpPr>
        <p:spPr>
          <a:xfrm>
            <a:off x="45720" y="3694176"/>
            <a:ext cx="7397496" cy="216408"/>
          </a:xfrm>
          <a:prstGeom prst="rect">
            <a:avLst/>
          </a:prstGeom>
        </p:spPr>
        <p:txBody>
          <a:bodyPr lIns="0" tIns="0" rIns="0" bIns="0">
            <a:noAutofit/>
          </a:bodyPr>
          <a:p>
            <a:pPr algn="r" indent="0"/>
            <a:r>
              <a:rPr lang="en-US" b="1" sz="650">
                <a:solidFill>
                  <a:srgbClr val="3F3F3F"/>
                </a:solidFill>
                <a:latin typeface="Arial"/>
              </a:rPr>
              <a:t>Korean Japanese Mexican American Indian Italian Mediterranean Chinese Middle Eastern Thai Southern French Spanish Vietnamese</a:t>
            </a:r>
          </a:p>
          <a:p>
            <a:pPr marL="3644900" indent="0"/>
            <a:r>
              <a:rPr lang="en-US" b="1" sz="650">
                <a:solidFill>
                  <a:srgbClr val="3F3F3F"/>
                </a:solidFill>
                <a:latin typeface="Arial"/>
              </a:rPr>
              <a:t>cuisine_type</a:t>
            </a:r>
          </a:p>
        </p:txBody>
      </p:sp>
      <p:sp>
        <p:nvSpPr>
          <p:cNvPr id="7" name=""/>
          <p:cNvSpPr/>
          <p:nvPr/>
        </p:nvSpPr>
        <p:spPr>
          <a:xfrm>
            <a:off x="45720" y="4026408"/>
            <a:ext cx="7397496" cy="713232"/>
          </a:xfrm>
          <a:prstGeom prst="rect">
            <a:avLst/>
          </a:prstGeom>
        </p:spPr>
        <p:txBody>
          <a:bodyPr lIns="0" tIns="0" rIns="0" bIns="0">
            <a:noAutofit/>
          </a:bodyPr>
          <a:p>
            <a:pPr indent="0">
              <a:lnSpc>
                <a:spcPts val="1128"/>
              </a:lnSpc>
              <a:spcBef>
                <a:spcPts val="420"/>
              </a:spcBef>
            </a:pPr>
            <a:r>
              <a:rPr lang="en-US" b="1" sz="850">
                <a:latin typeface="Arial"/>
              </a:rPr>
              <a:t>In [21]:</a:t>
            </a:r>
          </a:p>
          <a:p>
            <a:pPr marR="3073400" indent="0">
              <a:lnSpc>
                <a:spcPts val="1128"/>
              </a:lnSpc>
            </a:pPr>
            <a:r>
              <a:rPr lang="en-US" b="1" sz="850">
                <a:latin typeface="Arial"/>
              </a:rPr>
              <a:t>sns.histplot(data=df,x='cost_of_the_order') </a:t>
            </a:r>
            <a:r>
              <a:rPr lang="en-US" i="1" sz="950">
                <a:latin typeface="Arial"/>
              </a:rPr>
              <a:t>## Histogram for the cost of order </a:t>
            </a:r>
            <a:r>
              <a:rPr lang="en-US" b="1" sz="850">
                <a:latin typeface="Arial"/>
              </a:rPr>
              <a:t>plt.show()</a:t>
            </a:r>
          </a:p>
          <a:p>
            <a:pPr marR="3073400" indent="0">
              <a:lnSpc>
                <a:spcPts val="1128"/>
              </a:lnSpc>
            </a:pPr>
            <a:r>
              <a:rPr lang="en-US" b="1" sz="850">
                <a:latin typeface="Arial"/>
              </a:rPr>
              <a:t>sns.boxplot(data=df,x='cost_of_the_order') </a:t>
            </a:r>
            <a:r>
              <a:rPr lang="en-US" i="1" sz="950">
                <a:latin typeface="Arial"/>
              </a:rPr>
              <a:t>## Boxplot for the cost of order </a:t>
            </a:r>
            <a:r>
              <a:rPr lang="en-US" b="1" sz="850">
                <a:latin typeface="Arial"/>
              </a:rPr>
              <a:t>plt.show()</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60960" y="0"/>
            <a:ext cx="4352544" cy="3300984"/>
          </a:xfrm>
          <a:prstGeom prst="rect">
            <a:avLst/>
          </a:prstGeom>
        </p:spPr>
      </p:pic>
      <p:pic>
        <p:nvPicPr>
          <p:cNvPr id="3" name=""/>
          <p:cNvPicPr>
            <a:picLocks noChangeAspect="1"/>
          </p:cNvPicPr>
          <p:nvPr/>
        </p:nvPicPr>
        <p:blipFill>
          <a:blip r:embed="rPictId1"/>
          <a:stretch>
            <a:fillRect/>
          </a:stretch>
        </p:blipFill>
        <p:spPr>
          <a:xfrm>
            <a:off x="344424" y="3691128"/>
            <a:ext cx="3444240" cy="2292096"/>
          </a:xfrm>
          <a:prstGeom prst="rect">
            <a:avLst/>
          </a:prstGeom>
        </p:spPr>
      </p:pic>
      <p:sp>
        <p:nvSpPr>
          <p:cNvPr id="4" name=""/>
          <p:cNvSpPr/>
          <p:nvPr/>
        </p:nvSpPr>
        <p:spPr>
          <a:xfrm>
            <a:off x="45720" y="6224016"/>
            <a:ext cx="6080760" cy="350520"/>
          </a:xfrm>
          <a:prstGeom prst="rect">
            <a:avLst/>
          </a:prstGeom>
        </p:spPr>
        <p:txBody>
          <a:bodyPr lIns="0" tIns="0" rIns="0" bIns="0">
            <a:noAutofit/>
          </a:bodyPr>
          <a:p>
            <a:pPr algn="just" marL="139700" indent="0">
              <a:spcAft>
                <a:spcPts val="210"/>
              </a:spcAft>
            </a:pPr>
            <a:r>
              <a:rPr lang="en-US" sz="1000">
                <a:latin typeface="Arial"/>
              </a:rPr>
              <a:t>-</a:t>
            </a:r>
            <a:r>
              <a:rPr lang="en-US" sz="400">
                <a:latin typeface="Arial"/>
              </a:rPr>
              <a:t>1</a:t>
            </a:r>
            <a:r>
              <a:rPr lang="en-US" sz="1000">
                <a:latin typeface="Arial"/>
              </a:rPr>
              <a:t>-</a:t>
            </a:r>
            <a:r>
              <a:rPr lang="en-US" sz="400">
                <a:latin typeface="Arial"/>
              </a:rPr>
              <a:t>1</a:t>
            </a:r>
            <a:r>
              <a:rPr lang="en-US" sz="1000">
                <a:latin typeface="Arial"/>
              </a:rPr>
              <a:t>-</a:t>
            </a:r>
            <a:r>
              <a:rPr lang="en-US" sz="400">
                <a:latin typeface="Arial"/>
              </a:rPr>
              <a:t>1</a:t>
            </a:r>
            <a:r>
              <a:rPr lang="en-US" sz="1000">
                <a:latin typeface="Arial"/>
              </a:rPr>
              <a:t>-</a:t>
            </a:r>
            <a:r>
              <a:rPr lang="en-US" sz="400">
                <a:latin typeface="Arial"/>
              </a:rPr>
              <a:t>1</a:t>
            </a:r>
            <a:r>
              <a:rPr lang="en-US" sz="1000">
                <a:latin typeface="Arial"/>
              </a:rPr>
              <a:t>-</a:t>
            </a:r>
            <a:r>
              <a:rPr lang="en-US" sz="400">
                <a:latin typeface="Arial"/>
              </a:rPr>
              <a:t>1</a:t>
            </a:r>
            <a:r>
              <a:rPr lang="en-US" sz="1000">
                <a:latin typeface="Arial"/>
              </a:rPr>
              <a:t>-</a:t>
            </a:r>
            <a:r>
              <a:rPr lang="en-US" sz="400">
                <a:latin typeface="Arial"/>
              </a:rPr>
              <a:t>1</a:t>
            </a:r>
            <a:r>
              <a:rPr lang="en-US" sz="1000">
                <a:latin typeface="Arial"/>
              </a:rPr>
              <a:t>-</a:t>
            </a:r>
            <a:r>
              <a:rPr lang="en-US" sz="400">
                <a:latin typeface="Arial"/>
              </a:rPr>
              <a:t>1</a:t>
            </a:r>
            <a:r>
              <a:rPr lang="en-US" sz="1000">
                <a:latin typeface="Arial"/>
              </a:rPr>
              <a:t>-</a:t>
            </a:r>
          </a:p>
          <a:p>
            <a:pPr algn="just" marL="330200" indent="0">
              <a:spcAft>
                <a:spcPts val="210"/>
              </a:spcAft>
            </a:pPr>
            <a:r>
              <a:rPr lang="en-US" sz="1000">
                <a:solidFill>
                  <a:srgbClr val="2D2D2D"/>
                </a:solidFill>
                <a:latin typeface="Calibri"/>
              </a:rPr>
              <a:t>5</a:t>
            </a:r>
            <a:r>
              <a:rPr lang="en-US" sz="900">
                <a:solidFill>
                  <a:srgbClr val="2D2D2D"/>
                </a:solidFill>
                <a:latin typeface="Arial"/>
              </a:rPr>
              <a:t>    </a:t>
            </a:r>
            <a:r>
              <a:rPr lang="en-US" sz="1000">
                <a:solidFill>
                  <a:srgbClr val="2D2D2D"/>
                </a:solidFill>
                <a:latin typeface="Calibri"/>
              </a:rPr>
              <a:t>10</a:t>
            </a:r>
            <a:r>
              <a:rPr lang="en-US" sz="900">
                <a:solidFill>
                  <a:srgbClr val="2D2D2D"/>
                </a:solidFill>
                <a:latin typeface="Arial"/>
              </a:rPr>
              <a:t>    </a:t>
            </a:r>
            <a:r>
              <a:rPr lang="en-US" sz="1000">
                <a:solidFill>
                  <a:srgbClr val="2D2D2D"/>
                </a:solidFill>
                <a:latin typeface="Calibri"/>
              </a:rPr>
              <a:t>15</a:t>
            </a:r>
            <a:r>
              <a:rPr lang="en-US" sz="900">
                <a:solidFill>
                  <a:srgbClr val="2D2D2D"/>
                </a:solidFill>
                <a:latin typeface="Arial"/>
              </a:rPr>
              <a:t>    </a:t>
            </a:r>
            <a:r>
              <a:rPr lang="en-US" sz="1000">
                <a:solidFill>
                  <a:srgbClr val="2D2D2D"/>
                </a:solidFill>
                <a:latin typeface="Calibri"/>
              </a:rPr>
              <a:t>20</a:t>
            </a:r>
            <a:r>
              <a:rPr lang="en-US" sz="900">
                <a:solidFill>
                  <a:srgbClr val="2D2D2D"/>
                </a:solidFill>
                <a:latin typeface="Arial"/>
              </a:rPr>
              <a:t>    </a:t>
            </a:r>
            <a:r>
              <a:rPr lang="en-US" sz="1000">
                <a:solidFill>
                  <a:srgbClr val="2D2D2D"/>
                </a:solidFill>
                <a:latin typeface="Calibri"/>
              </a:rPr>
              <a:t>25</a:t>
            </a:r>
            <a:r>
              <a:rPr lang="en-US" sz="900">
                <a:solidFill>
                  <a:srgbClr val="2D2D2D"/>
                </a:solidFill>
                <a:latin typeface="Arial"/>
              </a:rPr>
              <a:t>    </a:t>
            </a:r>
            <a:r>
              <a:rPr lang="en-US" sz="1000">
                <a:solidFill>
                  <a:srgbClr val="2D2D2D"/>
                </a:solidFill>
                <a:latin typeface="Calibri"/>
              </a:rPr>
              <a:t>30</a:t>
            </a:r>
            <a:r>
              <a:rPr lang="en-US" sz="900">
                <a:solidFill>
                  <a:srgbClr val="2D2D2D"/>
                </a:solidFill>
                <a:latin typeface="Arial"/>
              </a:rPr>
              <a:t>    </a:t>
            </a:r>
            <a:r>
              <a:rPr lang="en-US" sz="1000">
                <a:solidFill>
                  <a:srgbClr val="2D2D2D"/>
                </a:solidFill>
                <a:latin typeface="Calibri"/>
              </a:rPr>
              <a:t>35</a:t>
            </a:r>
          </a:p>
          <a:p>
            <a:pPr marL="1562100" indent="0"/>
            <a:r>
              <a:rPr lang="en-US" b="1" sz="850">
                <a:solidFill>
                  <a:srgbClr val="2D2D2D"/>
                </a:solidFill>
                <a:latin typeface="Arial"/>
              </a:rPr>
              <a:t>cost_of_the_order</a:t>
            </a:r>
          </a:p>
        </p:txBody>
      </p:sp>
      <p:sp>
        <p:nvSpPr>
          <p:cNvPr id="5" name=""/>
          <p:cNvSpPr/>
          <p:nvPr/>
        </p:nvSpPr>
        <p:spPr>
          <a:xfrm>
            <a:off x="45720" y="6702552"/>
            <a:ext cx="6080760" cy="1307592"/>
          </a:xfrm>
          <a:prstGeom prst="rect">
            <a:avLst/>
          </a:prstGeom>
        </p:spPr>
        <p:txBody>
          <a:bodyPr lIns="0" tIns="0" rIns="0" bIns="0">
            <a:noAutofit/>
          </a:bodyPr>
          <a:p>
            <a:pPr algn="just" indent="0">
              <a:lnSpc>
                <a:spcPts val="1152"/>
              </a:lnSpc>
              <a:spcBef>
                <a:spcPts val="630"/>
              </a:spcBef>
            </a:pPr>
            <a:r>
              <a:rPr lang="en-US" b="1" sz="850">
                <a:latin typeface="Arial"/>
              </a:rPr>
              <a:t>In [27]:</a:t>
            </a:r>
          </a:p>
          <a:p>
            <a:pPr algn="just" indent="0">
              <a:lnSpc>
                <a:spcPts val="1152"/>
              </a:lnSpc>
            </a:pPr>
            <a:r>
              <a:rPr lang="en-US" i="1" sz="950">
                <a:latin typeface="Arial"/>
              </a:rPr>
              <a:t>#    # Check the unique values</a:t>
            </a:r>
          </a:p>
          <a:p>
            <a:pPr algn="just" indent="0">
              <a:lnSpc>
                <a:spcPts val="1152"/>
              </a:lnSpc>
            </a:pPr>
            <a:r>
              <a:rPr lang="en-US" b="1" sz="850">
                <a:latin typeface="Arial"/>
              </a:rPr>
              <a:t>df['day_of_the_week'].nunique() </a:t>
            </a:r>
            <a:r>
              <a:rPr lang="en-US" i="1" sz="950">
                <a:latin typeface="Arial"/>
              </a:rPr>
              <a:t>## Complete the code to check unique values for the 'day_of_the_week' column</a:t>
            </a:r>
          </a:p>
          <a:p>
            <a:pPr algn="just" indent="0"/>
            <a:r>
              <a:rPr lang="en-US" b="1" sz="850">
                <a:latin typeface="Arial"/>
              </a:rPr>
              <a:t>Out[27]:</a:t>
            </a:r>
          </a:p>
          <a:p>
            <a:pPr algn="just" indent="0">
              <a:lnSpc>
                <a:spcPts val="1104"/>
              </a:lnSpc>
            </a:pPr>
            <a:r>
              <a:rPr lang="en-US" sz="750">
                <a:latin typeface="Arial"/>
              </a:rPr>
              <a:t>2</a:t>
            </a:r>
          </a:p>
          <a:p>
            <a:pPr algn="just" indent="0">
              <a:lnSpc>
                <a:spcPts val="1104"/>
              </a:lnSpc>
            </a:pPr>
            <a:r>
              <a:rPr lang="en-US" b="1" sz="850">
                <a:latin typeface="Arial"/>
              </a:rPr>
              <a:t>In [28]:</a:t>
            </a:r>
          </a:p>
          <a:p>
            <a:pPr algn="just" indent="0">
              <a:lnSpc>
                <a:spcPts val="1104"/>
              </a:lnSpc>
            </a:pPr>
            <a:r>
              <a:rPr lang="en-US" i="1" sz="950">
                <a:latin typeface="Arial"/>
              </a:rPr>
              <a:t>#    Write the code here</a:t>
            </a:r>
          </a:p>
          <a:p>
            <a:pPr marR="3560064" indent="0">
              <a:lnSpc>
                <a:spcPts val="1104"/>
              </a:lnSpc>
            </a:pPr>
            <a:r>
              <a:rPr lang="en-US" b="1" sz="850">
                <a:latin typeface="Arial"/>
              </a:rPr>
              <a:t>sns.countplot(data = df, x = 'day_of_the_week') plt.show()</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527304" y="4297680"/>
            <a:ext cx="3825240" cy="2877312"/>
          </a:xfrm>
          <a:prstGeom prst="rect">
            <a:avLst/>
          </a:prstGeom>
        </p:spPr>
      </p:pic>
      <p:pic>
        <p:nvPicPr>
          <p:cNvPr id="3" name=""/>
          <p:cNvPicPr>
            <a:picLocks noChangeAspect="1"/>
          </p:cNvPicPr>
          <p:nvPr/>
        </p:nvPicPr>
        <p:blipFill>
          <a:blip r:embed="rPictId1"/>
          <a:stretch>
            <a:fillRect/>
          </a:stretch>
        </p:blipFill>
        <p:spPr>
          <a:xfrm>
            <a:off x="588264" y="76200"/>
            <a:ext cx="3825240" cy="2874264"/>
          </a:xfrm>
          <a:prstGeom prst="rect">
            <a:avLst/>
          </a:prstGeom>
        </p:spPr>
      </p:pic>
      <p:sp>
        <p:nvSpPr>
          <p:cNvPr id="4" name=""/>
          <p:cNvSpPr/>
          <p:nvPr/>
        </p:nvSpPr>
        <p:spPr>
          <a:xfrm>
            <a:off x="286512" y="67056"/>
            <a:ext cx="274320" cy="112776"/>
          </a:xfrm>
          <a:prstGeom prst="rect">
            <a:avLst/>
          </a:prstGeom>
        </p:spPr>
        <p:txBody>
          <a:bodyPr lIns="0" tIns="0" rIns="0" bIns="0" wrap="none">
            <a:noAutofit/>
          </a:bodyPr>
          <a:p>
            <a:pPr indent="0"/>
            <a:r>
              <a:rPr lang="en-US" sz="950">
                <a:latin typeface="Calibri"/>
              </a:rPr>
              <a:t>1400</a:t>
            </a:r>
          </a:p>
        </p:txBody>
      </p:sp>
      <p:sp>
        <p:nvSpPr>
          <p:cNvPr id="5" name=""/>
          <p:cNvSpPr/>
          <p:nvPr/>
        </p:nvSpPr>
        <p:spPr>
          <a:xfrm>
            <a:off x="286512" y="463296"/>
            <a:ext cx="274320" cy="112776"/>
          </a:xfrm>
          <a:prstGeom prst="rect">
            <a:avLst/>
          </a:prstGeom>
        </p:spPr>
        <p:txBody>
          <a:bodyPr lIns="0" tIns="0" rIns="0" bIns="0" wrap="none">
            <a:noAutofit/>
          </a:bodyPr>
          <a:p>
            <a:pPr indent="0"/>
            <a:r>
              <a:rPr lang="en-US" sz="900">
                <a:latin typeface="Calibri"/>
              </a:rPr>
              <a:t>1200</a:t>
            </a:r>
          </a:p>
        </p:txBody>
      </p:sp>
      <p:sp>
        <p:nvSpPr>
          <p:cNvPr id="6" name=""/>
          <p:cNvSpPr/>
          <p:nvPr/>
        </p:nvSpPr>
        <p:spPr>
          <a:xfrm>
            <a:off x="286512" y="859536"/>
            <a:ext cx="274320" cy="112776"/>
          </a:xfrm>
          <a:prstGeom prst="rect">
            <a:avLst/>
          </a:prstGeom>
        </p:spPr>
        <p:txBody>
          <a:bodyPr lIns="0" tIns="0" rIns="0" bIns="0" wrap="none">
            <a:noAutofit/>
          </a:bodyPr>
          <a:p>
            <a:pPr indent="0"/>
            <a:r>
              <a:rPr lang="en-US" sz="900">
                <a:solidFill>
                  <a:srgbClr val="2D2D2D"/>
                </a:solidFill>
                <a:latin typeface="Calibri"/>
              </a:rPr>
              <a:t>1000</a:t>
            </a:r>
          </a:p>
        </p:txBody>
      </p:sp>
      <p:sp>
        <p:nvSpPr>
          <p:cNvPr id="7" name=""/>
          <p:cNvSpPr/>
          <p:nvPr/>
        </p:nvSpPr>
        <p:spPr>
          <a:xfrm>
            <a:off x="143256" y="1255776"/>
            <a:ext cx="417576" cy="509016"/>
          </a:xfrm>
          <a:prstGeom prst="rect">
            <a:avLst/>
          </a:prstGeom>
        </p:spPr>
        <p:txBody>
          <a:bodyPr lIns="0" tIns="0" rIns="0" bIns="0">
            <a:noAutofit/>
          </a:bodyPr>
          <a:p>
            <a:pPr algn="r" indent="0"/>
            <a:r>
              <a:rPr lang="en-US" sz="750">
                <a:solidFill>
                  <a:srgbClr val="2D2D2D"/>
                </a:solidFill>
                <a:latin typeface="Arial"/>
              </a:rPr>
              <a:t>BOO</a:t>
            </a:r>
          </a:p>
          <a:p>
            <a:pPr indent="0"/>
            <a:r>
              <a:rPr lang="en-US" b="1" sz="650">
                <a:solidFill>
                  <a:srgbClr val="2D2D2D"/>
                </a:solidFill>
                <a:latin typeface="Arial"/>
              </a:rPr>
              <a:t>-M</a:t>
            </a:r>
          </a:p>
          <a:p>
            <a:pPr indent="0">
              <a:spcAft>
                <a:spcPts val="210"/>
              </a:spcAft>
            </a:pPr>
            <a:r>
              <a:rPr lang="en-US" sz="750">
                <a:solidFill>
                  <a:srgbClr val="2D2D2D"/>
                </a:solidFill>
                <a:latin typeface="Arial"/>
              </a:rPr>
              <a:t>c</a:t>
            </a:r>
          </a:p>
          <a:p>
            <a:pPr indent="0"/>
            <a:r>
              <a:rPr lang="en-US" sz="950">
                <a:latin typeface="Arial"/>
              </a:rPr>
              <a:t>s</a:t>
            </a:r>
          </a:p>
          <a:p>
            <a:pPr algn="r" indent="0"/>
            <a:r>
              <a:rPr lang="en-US" b="1" sz="850">
                <a:solidFill>
                  <a:srgbClr val="2D2D2D"/>
                </a:solidFill>
                <a:latin typeface="Arial"/>
              </a:rPr>
              <a:t>600</a:t>
            </a:r>
          </a:p>
        </p:txBody>
      </p:sp>
      <p:sp>
        <p:nvSpPr>
          <p:cNvPr id="8" name=""/>
          <p:cNvSpPr/>
          <p:nvPr/>
        </p:nvSpPr>
        <p:spPr>
          <a:xfrm>
            <a:off x="347472" y="2054352"/>
            <a:ext cx="213360" cy="112776"/>
          </a:xfrm>
          <a:prstGeom prst="rect">
            <a:avLst/>
          </a:prstGeom>
        </p:spPr>
        <p:txBody>
          <a:bodyPr lIns="0" tIns="0" rIns="0" bIns="0" wrap="none">
            <a:noAutofit/>
          </a:bodyPr>
          <a:p>
            <a:pPr indent="0"/>
            <a:r>
              <a:rPr lang="en-US" b="1" sz="850">
                <a:latin typeface="Arial"/>
              </a:rPr>
              <a:t>400</a:t>
            </a:r>
          </a:p>
        </p:txBody>
      </p:sp>
      <p:sp>
        <p:nvSpPr>
          <p:cNvPr id="9" name=""/>
          <p:cNvSpPr/>
          <p:nvPr/>
        </p:nvSpPr>
        <p:spPr>
          <a:xfrm>
            <a:off x="341376" y="2450592"/>
            <a:ext cx="219456" cy="112776"/>
          </a:xfrm>
          <a:prstGeom prst="rect">
            <a:avLst/>
          </a:prstGeom>
        </p:spPr>
        <p:txBody>
          <a:bodyPr lIns="0" tIns="0" rIns="0" bIns="0" wrap="none">
            <a:noAutofit/>
          </a:bodyPr>
          <a:p>
            <a:pPr indent="0"/>
            <a:r>
              <a:rPr lang="en-US" sz="800">
                <a:latin typeface="Arial"/>
              </a:rPr>
              <a:t>200</a:t>
            </a:r>
          </a:p>
        </p:txBody>
      </p:sp>
      <p:sp>
        <p:nvSpPr>
          <p:cNvPr id="10" name=""/>
          <p:cNvSpPr/>
          <p:nvPr/>
        </p:nvSpPr>
        <p:spPr>
          <a:xfrm>
            <a:off x="502920" y="2865120"/>
            <a:ext cx="54864" cy="76200"/>
          </a:xfrm>
          <a:prstGeom prst="rect">
            <a:avLst/>
          </a:prstGeom>
        </p:spPr>
        <p:txBody>
          <a:bodyPr lIns="0" tIns="0" rIns="0" bIns="0" wrap="none">
            <a:noAutofit/>
          </a:bodyPr>
          <a:p>
            <a:pPr algn="r" indent="0"/>
            <a:r>
              <a:rPr lang="en-US" sz="950">
                <a:solidFill>
                  <a:srgbClr val="2D2D2D"/>
                </a:solidFill>
                <a:latin typeface="Arial"/>
              </a:rPr>
              <a:t>0</a:t>
            </a:r>
          </a:p>
        </p:txBody>
      </p:sp>
      <p:sp>
        <p:nvSpPr>
          <p:cNvPr id="11" name=""/>
          <p:cNvSpPr/>
          <p:nvPr/>
        </p:nvSpPr>
        <p:spPr>
          <a:xfrm>
            <a:off x="1338072" y="2971800"/>
            <a:ext cx="2362200" cy="106680"/>
          </a:xfrm>
          <a:prstGeom prst="rect">
            <a:avLst/>
          </a:prstGeom>
        </p:spPr>
        <p:txBody>
          <a:bodyPr lIns="0" tIns="0" rIns="0" bIns="0" wrap="none">
            <a:noAutofit/>
          </a:bodyPr>
          <a:p>
            <a:pPr algn="just" indent="0">
              <a:lnSpc>
                <a:spcPts val="1200"/>
              </a:lnSpc>
            </a:pPr>
            <a:r>
              <a:rPr lang="en-US" b="1" sz="850">
                <a:solidFill>
                  <a:srgbClr val="2D2D2D"/>
                </a:solidFill>
                <a:latin typeface="Arial"/>
              </a:rPr>
              <a:t>Weekend    Weekday</a:t>
            </a:r>
          </a:p>
        </p:txBody>
      </p:sp>
      <p:sp>
        <p:nvSpPr>
          <p:cNvPr id="12" name=""/>
          <p:cNvSpPr/>
          <p:nvPr/>
        </p:nvSpPr>
        <p:spPr>
          <a:xfrm>
            <a:off x="2069592" y="3124200"/>
            <a:ext cx="896112" cy="106680"/>
          </a:xfrm>
          <a:prstGeom prst="rect">
            <a:avLst/>
          </a:prstGeom>
        </p:spPr>
        <p:txBody>
          <a:bodyPr lIns="0" tIns="0" rIns="0" bIns="0" wrap="none">
            <a:noAutofit/>
          </a:bodyPr>
          <a:p>
            <a:pPr algn="ctr" indent="0">
              <a:lnSpc>
                <a:spcPts val="1200"/>
              </a:lnSpc>
            </a:pPr>
            <a:r>
              <a:rPr lang="en-US" b="1" sz="850">
                <a:solidFill>
                  <a:srgbClr val="2D2D2D"/>
                </a:solidFill>
                <a:latin typeface="Arial"/>
              </a:rPr>
              <a:t>dayoftheweek</a:t>
            </a:r>
          </a:p>
        </p:txBody>
      </p:sp>
      <p:sp>
        <p:nvSpPr>
          <p:cNvPr id="13" name=""/>
          <p:cNvSpPr/>
          <p:nvPr/>
        </p:nvSpPr>
        <p:spPr>
          <a:xfrm>
            <a:off x="73152" y="3355848"/>
            <a:ext cx="353568" cy="112776"/>
          </a:xfrm>
          <a:prstGeom prst="rect">
            <a:avLst/>
          </a:prstGeom>
        </p:spPr>
        <p:txBody>
          <a:bodyPr lIns="0" tIns="0" rIns="0" bIns="0" wrap="none">
            <a:noAutofit/>
          </a:bodyPr>
          <a:p>
            <a:pPr indent="0"/>
            <a:r>
              <a:rPr lang="en-US" b="1" sz="850">
                <a:latin typeface="Arial"/>
              </a:rPr>
              <a:t>In [24]:</a:t>
            </a:r>
          </a:p>
        </p:txBody>
      </p:sp>
      <p:sp>
        <p:nvSpPr>
          <p:cNvPr id="14" name=""/>
          <p:cNvSpPr/>
          <p:nvPr/>
        </p:nvSpPr>
        <p:spPr>
          <a:xfrm>
            <a:off x="67056" y="3499104"/>
            <a:ext cx="1432560" cy="118872"/>
          </a:xfrm>
          <a:prstGeom prst="rect">
            <a:avLst/>
          </a:prstGeom>
        </p:spPr>
        <p:txBody>
          <a:bodyPr lIns="0" tIns="0" rIns="0" bIns="0" wrap="none">
            <a:noAutofit/>
          </a:bodyPr>
          <a:p>
            <a:pPr indent="0"/>
            <a:r>
              <a:rPr lang="en-US" i="1" sz="950">
                <a:latin typeface="Arial"/>
              </a:rPr>
              <a:t># Check the unique values</a:t>
            </a:r>
          </a:p>
        </p:txBody>
      </p:sp>
      <p:sp>
        <p:nvSpPr>
          <p:cNvPr id="15" name=""/>
          <p:cNvSpPr/>
          <p:nvPr/>
        </p:nvSpPr>
        <p:spPr>
          <a:xfrm>
            <a:off x="64008" y="3642360"/>
            <a:ext cx="4989576" cy="445008"/>
          </a:xfrm>
          <a:prstGeom prst="rect">
            <a:avLst/>
          </a:prstGeom>
        </p:spPr>
        <p:txBody>
          <a:bodyPr lIns="0" tIns="0" rIns="0" bIns="0">
            <a:noAutofit/>
          </a:bodyPr>
          <a:p>
            <a:pPr indent="0">
              <a:lnSpc>
                <a:spcPts val="1296"/>
              </a:lnSpc>
            </a:pPr>
            <a:r>
              <a:rPr lang="en-US" b="1" sz="850">
                <a:latin typeface="Arial"/>
              </a:rPr>
              <a:t>df['rating'].nunique() </a:t>
            </a:r>
            <a:r>
              <a:rPr lang="en-US" i="1" sz="950">
                <a:latin typeface="Arial"/>
              </a:rPr>
              <a:t>## Complete the code to check unique values for the 'rating' column </a:t>
            </a:r>
            <a:r>
              <a:rPr lang="en-US" b="1" sz="850">
                <a:latin typeface="Arial"/>
              </a:rPr>
              <a:t>sns.countplot(data = df, x = 'rating') </a:t>
            </a:r>
            <a:r>
              <a:rPr lang="en-US" i="1" sz="950">
                <a:latin typeface="Arial"/>
              </a:rPr>
              <a:t>## Complete the code to plot bar graph for 'rating' column </a:t>
            </a:r>
            <a:r>
              <a:rPr lang="en-US" b="1" sz="850">
                <a:latin typeface="Arial"/>
              </a:rPr>
              <a:t>Out[24]:</a:t>
            </a:r>
          </a:p>
        </p:txBody>
      </p:sp>
      <p:sp>
        <p:nvSpPr>
          <p:cNvPr id="16" name=""/>
          <p:cNvSpPr/>
          <p:nvPr/>
        </p:nvSpPr>
        <p:spPr>
          <a:xfrm>
            <a:off x="64008" y="4117848"/>
            <a:ext cx="1636776" cy="94488"/>
          </a:xfrm>
          <a:prstGeom prst="rect">
            <a:avLst/>
          </a:prstGeom>
        </p:spPr>
        <p:txBody>
          <a:bodyPr lIns="0" tIns="0" rIns="0" bIns="0" wrap="none">
            <a:noAutofit/>
          </a:bodyPr>
          <a:p>
            <a:pPr indent="0">
              <a:spcAft>
                <a:spcPts val="1680"/>
              </a:spcAft>
            </a:pPr>
            <a:r>
              <a:rPr lang="en-US" sz="750">
                <a:latin typeface="Arial"/>
              </a:rPr>
              <a:t>&lt;Axes: xlabel='rating', ylabel='count'&gt;</a:t>
            </a:r>
          </a:p>
        </p:txBody>
      </p:sp>
      <p:sp>
        <p:nvSpPr>
          <p:cNvPr id="17" name=""/>
          <p:cNvSpPr/>
          <p:nvPr/>
        </p:nvSpPr>
        <p:spPr>
          <a:xfrm>
            <a:off x="161544" y="4535424"/>
            <a:ext cx="320040" cy="1210056"/>
          </a:xfrm>
          <a:prstGeom prst="rect">
            <a:avLst/>
          </a:prstGeom>
        </p:spPr>
        <p:txBody>
          <a:bodyPr lIns="0" tIns="0" rIns="0" bIns="0">
            <a:noAutofit/>
          </a:bodyPr>
          <a:p>
            <a:pPr algn="r" indent="0">
              <a:lnSpc>
                <a:spcPts val="2880"/>
              </a:lnSpc>
            </a:pPr>
            <a:r>
              <a:rPr lang="en-US" b="1" sz="850">
                <a:solidFill>
                  <a:srgbClr val="2D2D2D"/>
                </a:solidFill>
                <a:latin typeface="Arial"/>
              </a:rPr>
              <a:t>700 600 500 {= 400</a:t>
            </a:r>
          </a:p>
        </p:txBody>
      </p:sp>
      <p:sp>
        <p:nvSpPr>
          <p:cNvPr id="18" name=""/>
          <p:cNvSpPr/>
          <p:nvPr/>
        </p:nvSpPr>
        <p:spPr>
          <a:xfrm>
            <a:off x="161544" y="5760720"/>
            <a:ext cx="60960" cy="100584"/>
          </a:xfrm>
          <a:prstGeom prst="rect">
            <a:avLst/>
          </a:prstGeom>
        </p:spPr>
        <p:txBody>
          <a:bodyPr lIns="0" tIns="0" rIns="0" bIns="0" wrap="none">
            <a:noAutofit/>
          </a:bodyPr>
          <a:p>
            <a:pPr indent="0">
              <a:spcAft>
                <a:spcPts val="630"/>
              </a:spcAft>
            </a:pPr>
            <a:r>
              <a:rPr lang="en-US" sz="950">
                <a:latin typeface="Arial"/>
              </a:rPr>
              <a:t>S</a:t>
            </a:r>
          </a:p>
        </p:txBody>
      </p:sp>
      <p:sp>
        <p:nvSpPr>
          <p:cNvPr id="19" name=""/>
          <p:cNvSpPr/>
          <p:nvPr/>
        </p:nvSpPr>
        <p:spPr>
          <a:xfrm>
            <a:off x="298704" y="5998464"/>
            <a:ext cx="188976" cy="1167384"/>
          </a:xfrm>
          <a:prstGeom prst="rect">
            <a:avLst/>
          </a:prstGeom>
        </p:spPr>
        <p:txBody>
          <a:bodyPr lIns="0" tIns="0" rIns="0" bIns="0">
            <a:noAutofit/>
          </a:bodyPr>
          <a:p>
            <a:pPr algn="r" indent="0">
              <a:lnSpc>
                <a:spcPts val="2856"/>
              </a:lnSpc>
            </a:pPr>
            <a:r>
              <a:rPr lang="en-US" b="1" sz="850">
                <a:solidFill>
                  <a:srgbClr val="2D2D2D"/>
                </a:solidFill>
                <a:latin typeface="Arial"/>
              </a:rPr>
              <a:t>300 </a:t>
            </a:r>
            <a:r>
              <a:rPr lang="en-US" sz="800">
                <a:solidFill>
                  <a:srgbClr val="2D2D2D"/>
                </a:solidFill>
                <a:latin typeface="Arial"/>
              </a:rPr>
              <a:t>200 </a:t>
            </a:r>
            <a:r>
              <a:rPr lang="en-US" sz="900">
                <a:solidFill>
                  <a:srgbClr val="2D2D2D"/>
                </a:solidFill>
                <a:latin typeface="Calibri"/>
              </a:rPr>
              <a:t>100 </a:t>
            </a:r>
            <a:r>
              <a:rPr lang="en-US" sz="950">
                <a:solidFill>
                  <a:srgbClr val="2D2D2D"/>
                </a:solidFill>
                <a:latin typeface="Arial"/>
              </a:rPr>
              <a:t>0</a:t>
            </a:r>
          </a:p>
        </p:txBody>
      </p:sp>
      <p:sp>
        <p:nvSpPr>
          <p:cNvPr id="20" name=""/>
          <p:cNvSpPr/>
          <p:nvPr/>
        </p:nvSpPr>
        <p:spPr>
          <a:xfrm>
            <a:off x="786384" y="7196328"/>
            <a:ext cx="3115056" cy="106680"/>
          </a:xfrm>
          <a:prstGeom prst="rect">
            <a:avLst/>
          </a:prstGeom>
        </p:spPr>
        <p:txBody>
          <a:bodyPr lIns="0" tIns="0" rIns="0" bIns="0" wrap="none">
            <a:noAutofit/>
          </a:bodyPr>
          <a:p>
            <a:pPr algn="just" indent="0">
              <a:spcAft>
                <a:spcPts val="210"/>
              </a:spcAft>
            </a:pPr>
            <a:r>
              <a:rPr lang="en-US" b="1" sz="850">
                <a:solidFill>
                  <a:srgbClr val="2D2D2D"/>
                </a:solidFill>
                <a:latin typeface="Arial"/>
              </a:rPr>
              <a:t>Not </a:t>
            </a:r>
            <a:r>
              <a:rPr lang="en-US" b="1" sz="850">
                <a:solidFill>
                  <a:srgbClr val="3F3F3F"/>
                </a:solidFill>
                <a:latin typeface="Arial"/>
              </a:rPr>
              <a:t>given    5    3    4</a:t>
            </a:r>
          </a:p>
        </p:txBody>
      </p:sp>
      <p:sp>
        <p:nvSpPr>
          <p:cNvPr id="21" name=""/>
          <p:cNvSpPr/>
          <p:nvPr/>
        </p:nvSpPr>
        <p:spPr>
          <a:xfrm>
            <a:off x="2301240" y="7348728"/>
            <a:ext cx="289560" cy="106680"/>
          </a:xfrm>
          <a:prstGeom prst="rect">
            <a:avLst/>
          </a:prstGeom>
        </p:spPr>
        <p:txBody>
          <a:bodyPr lIns="0" tIns="0" rIns="0" bIns="0" wrap="none">
            <a:noAutofit/>
          </a:bodyPr>
          <a:p>
            <a:pPr indent="0"/>
            <a:r>
              <a:rPr lang="en-US" b="1" sz="850">
                <a:solidFill>
                  <a:srgbClr val="2D2D2D"/>
                </a:solidFill>
                <a:latin typeface="Arial"/>
              </a:rPr>
              <a:t>rating</a:t>
            </a:r>
          </a:p>
        </p:txBody>
      </p:sp>
      <p:sp>
        <p:nvSpPr>
          <p:cNvPr id="22" name=""/>
          <p:cNvSpPr/>
          <p:nvPr/>
        </p:nvSpPr>
        <p:spPr>
          <a:xfrm>
            <a:off x="73152" y="7580376"/>
            <a:ext cx="353568" cy="112776"/>
          </a:xfrm>
          <a:prstGeom prst="rect">
            <a:avLst/>
          </a:prstGeom>
        </p:spPr>
        <p:txBody>
          <a:bodyPr lIns="0" tIns="0" rIns="0" bIns="0" wrap="none">
            <a:noAutofit/>
          </a:bodyPr>
          <a:p>
            <a:pPr indent="0">
              <a:lnSpc>
                <a:spcPts val="1128"/>
              </a:lnSpc>
            </a:pPr>
            <a:r>
              <a:rPr lang="en-US" b="1" sz="850">
                <a:latin typeface="Arial"/>
              </a:rPr>
              <a:t>In [29]:</a:t>
            </a:r>
          </a:p>
        </p:txBody>
      </p:sp>
      <p:sp>
        <p:nvSpPr>
          <p:cNvPr id="23" name=""/>
          <p:cNvSpPr/>
          <p:nvPr/>
        </p:nvSpPr>
        <p:spPr>
          <a:xfrm>
            <a:off x="64008" y="7720584"/>
            <a:ext cx="5974080" cy="265176"/>
          </a:xfrm>
          <a:prstGeom prst="rect">
            <a:avLst/>
          </a:prstGeom>
        </p:spPr>
        <p:txBody>
          <a:bodyPr lIns="0" tIns="0" rIns="0" bIns="0">
            <a:noAutofit/>
          </a:bodyPr>
          <a:p>
            <a:pPr algn="just" indent="0">
              <a:lnSpc>
                <a:spcPts val="1128"/>
              </a:lnSpc>
            </a:pPr>
            <a:r>
              <a:rPr lang="en-US" b="1" sz="850">
                <a:latin typeface="Arial"/>
              </a:rPr>
              <a:t>sns.histplot(data=df,x='food_preparation_time') </a:t>
            </a:r>
            <a:r>
              <a:rPr lang="en-US" i="1" sz="950">
                <a:latin typeface="Arial"/>
              </a:rPr>
              <a:t>## Complete the code to plot the histogram for the cost of order </a:t>
            </a:r>
            <a:r>
              <a:rPr lang="en-US" b="1" sz="850">
                <a:latin typeface="Arial"/>
              </a:rPr>
              <a:t>plt.show()</a:t>
            </a:r>
          </a:p>
        </p:txBody>
      </p:sp>
      <p:sp>
        <p:nvSpPr>
          <p:cNvPr id="24" name=""/>
          <p:cNvSpPr/>
          <p:nvPr/>
        </p:nvSpPr>
        <p:spPr>
          <a:xfrm>
            <a:off x="64008" y="8010144"/>
            <a:ext cx="5839968" cy="265176"/>
          </a:xfrm>
          <a:prstGeom prst="rect">
            <a:avLst/>
          </a:prstGeom>
        </p:spPr>
        <p:txBody>
          <a:bodyPr lIns="0" tIns="0" rIns="0" bIns="0">
            <a:noAutofit/>
          </a:bodyPr>
          <a:p>
            <a:pPr algn="just" indent="0">
              <a:lnSpc>
                <a:spcPts val="1128"/>
              </a:lnSpc>
            </a:pPr>
            <a:r>
              <a:rPr lang="en-US" b="1" sz="850">
                <a:latin typeface="Arial"/>
              </a:rPr>
              <a:t>sns.boxplot(data=df,x='food_preparation_time') </a:t>
            </a:r>
            <a:r>
              <a:rPr lang="en-US" i="1" sz="950">
                <a:latin typeface="Arial"/>
              </a:rPr>
              <a:t>## Complete the code to plot the boxplot for the cost of order </a:t>
            </a:r>
            <a:r>
              <a:rPr lang="en-US" b="1" sz="850">
                <a:latin typeface="Arial"/>
              </a:rPr>
              <a:t>plt.show()</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60960" y="0"/>
            <a:ext cx="4352544" cy="3300984"/>
          </a:xfrm>
          <a:prstGeom prst="rect">
            <a:avLst/>
          </a:prstGeom>
        </p:spPr>
      </p:pic>
      <p:pic>
        <p:nvPicPr>
          <p:cNvPr id="3" name=""/>
          <p:cNvPicPr>
            <a:picLocks noChangeAspect="1"/>
          </p:cNvPicPr>
          <p:nvPr/>
        </p:nvPicPr>
        <p:blipFill>
          <a:blip r:embed="rPictId1"/>
          <a:stretch>
            <a:fillRect/>
          </a:stretch>
        </p:blipFill>
        <p:spPr>
          <a:xfrm>
            <a:off x="137160" y="3413760"/>
            <a:ext cx="3825240" cy="2990088"/>
          </a:xfrm>
          <a:prstGeom prst="rect">
            <a:avLst/>
          </a:prstGeom>
        </p:spPr>
      </p:pic>
      <p:sp>
        <p:nvSpPr>
          <p:cNvPr id="4" name=""/>
          <p:cNvSpPr/>
          <p:nvPr/>
        </p:nvSpPr>
        <p:spPr>
          <a:xfrm>
            <a:off x="1444752" y="6446520"/>
            <a:ext cx="1225296" cy="143256"/>
          </a:xfrm>
          <a:prstGeom prst="rect">
            <a:avLst/>
          </a:prstGeom>
        </p:spPr>
        <p:txBody>
          <a:bodyPr lIns="0" tIns="0" rIns="0" bIns="0" wrap="none">
            <a:noAutofit/>
          </a:bodyPr>
          <a:p>
            <a:pPr indent="0"/>
            <a:r>
              <a:rPr lang="en-US" b="1" sz="850">
                <a:solidFill>
                  <a:srgbClr val="2D2D2D"/>
                </a:solidFill>
                <a:latin typeface="Arial"/>
              </a:rPr>
              <a:t>food_preparation_time</a:t>
            </a:r>
          </a:p>
        </p:txBody>
      </p:sp>
      <p:sp>
        <p:nvSpPr>
          <p:cNvPr id="5" name=""/>
          <p:cNvSpPr/>
          <p:nvPr/>
        </p:nvSpPr>
        <p:spPr>
          <a:xfrm>
            <a:off x="45720" y="6684264"/>
            <a:ext cx="5504688" cy="731520"/>
          </a:xfrm>
          <a:prstGeom prst="rect">
            <a:avLst/>
          </a:prstGeom>
        </p:spPr>
        <p:txBody>
          <a:bodyPr lIns="0" tIns="0" rIns="0" bIns="0">
            <a:noAutofit/>
          </a:bodyPr>
          <a:p>
            <a:pPr indent="0">
              <a:lnSpc>
                <a:spcPts val="1128"/>
              </a:lnSpc>
              <a:spcBef>
                <a:spcPts val="420"/>
              </a:spcBef>
            </a:pPr>
            <a:r>
              <a:rPr lang="en-US" b="1" sz="850">
                <a:latin typeface="Arial"/>
              </a:rPr>
              <a:t>In [26]:</a:t>
            </a:r>
          </a:p>
          <a:p>
            <a:pPr indent="0">
              <a:lnSpc>
                <a:spcPts val="1128"/>
              </a:lnSpc>
            </a:pPr>
            <a:r>
              <a:rPr lang="en-US" b="1" sz="850">
                <a:latin typeface="Arial"/>
              </a:rPr>
              <a:t>sns.histplot(data=df,x='delivery_time') </a:t>
            </a:r>
            <a:r>
              <a:rPr lang="en-US" i="1" sz="950">
                <a:latin typeface="Arial"/>
              </a:rPr>
              <a:t>## Complete the code to plot the histogram for the delivery time </a:t>
            </a:r>
            <a:r>
              <a:rPr lang="en-US" b="1" sz="850">
                <a:latin typeface="Arial"/>
              </a:rPr>
              <a:t>plt.show()</a:t>
            </a:r>
          </a:p>
          <a:p>
            <a:pPr indent="0">
              <a:lnSpc>
                <a:spcPts val="1128"/>
              </a:lnSpc>
            </a:pPr>
            <a:r>
              <a:rPr lang="en-US" b="1" sz="850">
                <a:latin typeface="Arial"/>
              </a:rPr>
              <a:t>sns.boxplot(data=df,x='delivery_time') </a:t>
            </a:r>
            <a:r>
              <a:rPr lang="en-US" i="1" sz="950">
                <a:latin typeface="Arial"/>
              </a:rPr>
              <a:t>## Complete the code to plot the boxplot for the delivery time </a:t>
            </a:r>
            <a:r>
              <a:rPr lang="en-US" b="1" sz="850">
                <a:latin typeface="Arial"/>
              </a:rPr>
              <a:t>plt.show()</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137160" y="213360"/>
            <a:ext cx="4215384" cy="5769864"/>
          </a:xfrm>
          <a:prstGeom prst="rect">
            <a:avLst/>
          </a:prstGeom>
        </p:spPr>
      </p:pic>
      <p:sp>
        <p:nvSpPr>
          <p:cNvPr id="3" name=""/>
          <p:cNvSpPr/>
          <p:nvPr/>
        </p:nvSpPr>
        <p:spPr>
          <a:xfrm>
            <a:off x="280416" y="118872"/>
            <a:ext cx="210312" cy="112776"/>
          </a:xfrm>
          <a:prstGeom prst="rect">
            <a:avLst/>
          </a:prstGeom>
        </p:spPr>
        <p:txBody>
          <a:bodyPr lIns="0" tIns="0" rIns="0" bIns="0" wrap="none">
            <a:noAutofit/>
          </a:bodyPr>
          <a:p>
            <a:pPr indent="0"/>
            <a:r>
              <a:rPr lang="en-US" sz="950">
                <a:latin typeface="Calibri"/>
              </a:rPr>
              <a:t>300</a:t>
            </a:r>
          </a:p>
        </p:txBody>
      </p:sp>
      <p:sp>
        <p:nvSpPr>
          <p:cNvPr id="4" name=""/>
          <p:cNvSpPr/>
          <p:nvPr/>
        </p:nvSpPr>
        <p:spPr>
          <a:xfrm>
            <a:off x="45720" y="6224016"/>
            <a:ext cx="6614160" cy="350520"/>
          </a:xfrm>
          <a:prstGeom prst="rect">
            <a:avLst/>
          </a:prstGeom>
        </p:spPr>
        <p:txBody>
          <a:bodyPr lIns="0" tIns="0" rIns="0" bIns="0">
            <a:noAutofit/>
          </a:bodyPr>
          <a:p>
            <a:pPr algn="just" marL="203200" indent="0">
              <a:spcAft>
                <a:spcPts val="210"/>
              </a:spcAft>
            </a:pPr>
            <a:r>
              <a:rPr lang="en-US" sz="1000">
                <a:solidFill>
                  <a:srgbClr val="2D2D2D"/>
                </a:solidFill>
                <a:latin typeface="Calibri"/>
              </a:rPr>
              <a:t>15.0</a:t>
            </a:r>
            <a:r>
              <a:rPr lang="en-US" sz="900">
                <a:solidFill>
                  <a:srgbClr val="2D2D2D"/>
                </a:solidFill>
                <a:latin typeface="Arial"/>
              </a:rPr>
              <a:t>    </a:t>
            </a:r>
            <a:r>
              <a:rPr lang="en-US" sz="1000">
                <a:solidFill>
                  <a:srgbClr val="2D2D2D"/>
                </a:solidFill>
                <a:latin typeface="Calibri"/>
              </a:rPr>
              <a:t>17.5</a:t>
            </a:r>
            <a:r>
              <a:rPr lang="en-US" sz="900">
                <a:solidFill>
                  <a:srgbClr val="2D2D2D"/>
                </a:solidFill>
                <a:latin typeface="Arial"/>
              </a:rPr>
              <a:t>    </a:t>
            </a:r>
            <a:r>
              <a:rPr lang="en-US" sz="1000">
                <a:solidFill>
                  <a:srgbClr val="2D2D2D"/>
                </a:solidFill>
                <a:latin typeface="Calibri"/>
              </a:rPr>
              <a:t>20.0</a:t>
            </a:r>
            <a:r>
              <a:rPr lang="en-US" sz="900">
                <a:solidFill>
                  <a:srgbClr val="2D2D2D"/>
                </a:solidFill>
                <a:latin typeface="Arial"/>
              </a:rPr>
              <a:t>    </a:t>
            </a:r>
            <a:r>
              <a:rPr lang="en-US" sz="1000">
                <a:solidFill>
                  <a:srgbClr val="2D2D2D"/>
                </a:solidFill>
                <a:latin typeface="Calibri"/>
              </a:rPr>
              <a:t>22.5</a:t>
            </a:r>
            <a:r>
              <a:rPr lang="en-US" sz="900">
                <a:solidFill>
                  <a:srgbClr val="2D2D2D"/>
                </a:solidFill>
                <a:latin typeface="Arial"/>
              </a:rPr>
              <a:t>    </a:t>
            </a:r>
            <a:r>
              <a:rPr lang="en-US" sz="1000">
                <a:solidFill>
                  <a:srgbClr val="2D2D2D"/>
                </a:solidFill>
                <a:latin typeface="Calibri"/>
              </a:rPr>
              <a:t>25.0</a:t>
            </a:r>
            <a:r>
              <a:rPr lang="en-US" sz="900">
                <a:solidFill>
                  <a:srgbClr val="2D2D2D"/>
                </a:solidFill>
                <a:latin typeface="Arial"/>
              </a:rPr>
              <a:t>    </a:t>
            </a:r>
            <a:r>
              <a:rPr lang="en-US" sz="1000">
                <a:solidFill>
                  <a:srgbClr val="2D2D2D"/>
                </a:solidFill>
                <a:latin typeface="Calibri"/>
              </a:rPr>
              <a:t>27.5</a:t>
            </a:r>
            <a:r>
              <a:rPr lang="en-US" sz="900">
                <a:solidFill>
                  <a:srgbClr val="2D2D2D"/>
                </a:solidFill>
                <a:latin typeface="Arial"/>
              </a:rPr>
              <a:t>    </a:t>
            </a:r>
            <a:r>
              <a:rPr lang="en-US" sz="1000">
                <a:solidFill>
                  <a:srgbClr val="2D2D2D"/>
                </a:solidFill>
                <a:latin typeface="Calibri"/>
              </a:rPr>
              <a:t>30.0</a:t>
            </a:r>
            <a:r>
              <a:rPr lang="en-US" sz="900">
                <a:solidFill>
                  <a:srgbClr val="2D2D2D"/>
                </a:solidFill>
                <a:latin typeface="Arial"/>
              </a:rPr>
              <a:t>    </a:t>
            </a:r>
            <a:r>
              <a:rPr lang="en-US" sz="1000">
                <a:solidFill>
                  <a:srgbClr val="2D2D2D"/>
                </a:solidFill>
                <a:latin typeface="Calibri"/>
              </a:rPr>
              <a:t>32.5</a:t>
            </a:r>
          </a:p>
          <a:p>
            <a:pPr marL="1663700" indent="0"/>
            <a:r>
              <a:rPr lang="en-US" b="1" sz="850">
                <a:solidFill>
                  <a:srgbClr val="2D2D2D"/>
                </a:solidFill>
                <a:latin typeface="Arial"/>
              </a:rPr>
              <a:t>delivery_time</a:t>
            </a:r>
          </a:p>
        </p:txBody>
      </p:sp>
      <p:sp>
        <p:nvSpPr>
          <p:cNvPr id="5" name=""/>
          <p:cNvSpPr/>
          <p:nvPr/>
        </p:nvSpPr>
        <p:spPr>
          <a:xfrm>
            <a:off x="45720" y="6836664"/>
            <a:ext cx="6614160" cy="667512"/>
          </a:xfrm>
          <a:prstGeom prst="rect">
            <a:avLst/>
          </a:prstGeom>
        </p:spPr>
        <p:txBody>
          <a:bodyPr lIns="0" tIns="0" rIns="0" bIns="0">
            <a:noAutofit/>
          </a:bodyPr>
          <a:p>
            <a:pPr indent="0">
              <a:spcBef>
                <a:spcPts val="1260"/>
              </a:spcBef>
              <a:spcAft>
                <a:spcPts val="630"/>
              </a:spcAft>
            </a:pPr>
            <a:r>
              <a:rPr lang="en-US" b="1" sz="1100">
                <a:latin typeface="Arial"/>
              </a:rPr>
              <a:t>Question </a:t>
            </a:r>
            <a:r>
              <a:rPr lang="en-US" b="1" i="1" sz="1100">
                <a:latin typeface="Arial"/>
              </a:rPr>
              <a:t>7</a:t>
            </a:r>
            <a:r>
              <a:rPr lang="en-US" b="1" i="1" sz="600">
                <a:latin typeface="Arial"/>
              </a:rPr>
              <a:t>:</a:t>
            </a:r>
            <a:r>
              <a:rPr lang="en-US" b="1" sz="1100">
                <a:latin typeface="Arial"/>
              </a:rPr>
              <a:t> Which are the top 5 restaurants in terms of the number of orders received? [1 mark]</a:t>
            </a:r>
          </a:p>
          <a:p>
            <a:pPr indent="0">
              <a:lnSpc>
                <a:spcPts val="1152"/>
              </a:lnSpc>
            </a:pPr>
            <a:r>
              <a:rPr lang="en-US" b="1" sz="850">
                <a:latin typeface="Arial"/>
              </a:rPr>
              <a:t>In [30]:</a:t>
            </a:r>
          </a:p>
          <a:p>
            <a:pPr indent="0">
              <a:lnSpc>
                <a:spcPts val="1152"/>
              </a:lnSpc>
            </a:pPr>
            <a:r>
              <a:rPr lang="en-US" i="1" sz="950">
                <a:latin typeface="Arial"/>
              </a:rPr>
              <a:t># Write the code here </a:t>
            </a:r>
            <a:r>
              <a:rPr lang="en-US" b="1" sz="850">
                <a:latin typeface="Arial"/>
              </a:rPr>
              <a:t>df['restaurant_name'].value_counts()</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48768" y="0"/>
            <a:ext cx="457200" cy="143256"/>
          </a:xfrm>
          <a:prstGeom prst="rect">
            <a:avLst/>
          </a:prstGeom>
        </p:spPr>
        <p:txBody>
          <a:bodyPr lIns="0" tIns="0" rIns="0" bIns="0" wrap="none">
            <a:noAutofit/>
          </a:bodyPr>
          <a:p>
            <a:pPr indent="0"/>
            <a:r>
              <a:rPr lang="en-US" sz="950">
                <a:latin typeface="Arial"/>
              </a:rPr>
              <a:t>Out[30]:</a:t>
            </a:r>
          </a:p>
        </p:txBody>
      </p:sp>
      <p:sp>
        <p:nvSpPr>
          <p:cNvPr id="3" name=""/>
          <p:cNvSpPr/>
          <p:nvPr/>
        </p:nvSpPr>
        <p:spPr>
          <a:xfrm>
            <a:off x="1776984" y="204216"/>
            <a:ext cx="359664" cy="121920"/>
          </a:xfrm>
          <a:prstGeom prst="rect">
            <a:avLst/>
          </a:prstGeom>
        </p:spPr>
        <p:txBody>
          <a:bodyPr lIns="0" tIns="0" rIns="0" bIns="0" wrap="none">
            <a:noAutofit/>
          </a:bodyPr>
          <a:p>
            <a:pPr indent="0">
              <a:spcAft>
                <a:spcPts val="840"/>
              </a:spcAft>
            </a:pPr>
            <a:r>
              <a:rPr lang="en-US" b="1" sz="850">
                <a:latin typeface="Arial"/>
              </a:rPr>
              <a:t>count</a:t>
            </a:r>
          </a:p>
        </p:txBody>
      </p:sp>
      <p:sp>
        <p:nvSpPr>
          <p:cNvPr id="4" name=""/>
          <p:cNvSpPr/>
          <p:nvPr/>
        </p:nvSpPr>
        <p:spPr>
          <a:xfrm>
            <a:off x="54864" y="472440"/>
            <a:ext cx="2084832" cy="3526536"/>
          </a:xfrm>
          <a:prstGeom prst="rect">
            <a:avLst/>
          </a:prstGeom>
        </p:spPr>
        <p:txBody>
          <a:bodyPr lIns="0" tIns="0" rIns="0" bIns="0">
            <a:noAutofit/>
          </a:bodyPr>
          <a:p>
            <a:pPr algn="just" marL="638556" indent="0">
              <a:lnSpc>
                <a:spcPts val="2088"/>
              </a:lnSpc>
              <a:spcBef>
                <a:spcPts val="840"/>
              </a:spcBef>
            </a:pPr>
            <a:r>
              <a:rPr lang="en-US" b="1" sz="850">
                <a:latin typeface="Arial"/>
              </a:rPr>
              <a:t>restaurant_name</a:t>
            </a:r>
          </a:p>
          <a:p>
            <a:pPr algn="just" marL="867156" indent="0">
              <a:lnSpc>
                <a:spcPts val="2088"/>
              </a:lnSpc>
            </a:pPr>
            <a:r>
              <a:rPr lang="en-US" b="1" sz="850">
                <a:latin typeface="Arial"/>
              </a:rPr>
              <a:t>Shake Shack    219</a:t>
            </a:r>
          </a:p>
          <a:p>
            <a:pPr algn="just" marL="549656" indent="0">
              <a:lnSpc>
                <a:spcPts val="2088"/>
              </a:lnSpc>
            </a:pPr>
            <a:r>
              <a:rPr lang="en-US" b="1" sz="850">
                <a:latin typeface="Arial"/>
              </a:rPr>
              <a:t>The Meatball Shop    132</a:t>
            </a:r>
          </a:p>
          <a:p>
            <a:pPr algn="just" marL="549656" indent="0">
              <a:lnSpc>
                <a:spcPts val="2088"/>
              </a:lnSpc>
            </a:pPr>
            <a:r>
              <a:rPr lang="en-US" b="1" sz="850">
                <a:latin typeface="Arial"/>
              </a:rPr>
              <a:t>Blue Ribbon Sushi    119</a:t>
            </a:r>
          </a:p>
          <a:p>
            <a:pPr algn="just" marL="549656" indent="0">
              <a:lnSpc>
                <a:spcPts val="1104"/>
              </a:lnSpc>
            </a:pPr>
            <a:r>
              <a:rPr lang="en-US" b="1" sz="850">
                <a:latin typeface="Arial"/>
              </a:rPr>
              <a:t>Blue Ribbon Fried    </a:t>
            </a:r>
            <a:r>
              <a:rPr lang="en-US" b="1" sz="950">
                <a:latin typeface="Arial"/>
              </a:rPr>
              <a:t>96</a:t>
            </a:r>
          </a:p>
          <a:p>
            <a:pPr marL="1146556" indent="0">
              <a:lnSpc>
                <a:spcPts val="1104"/>
              </a:lnSpc>
              <a:spcAft>
                <a:spcPts val="630"/>
              </a:spcAft>
            </a:pPr>
            <a:r>
              <a:rPr lang="en-US" b="1" sz="850">
                <a:latin typeface="Arial"/>
              </a:rPr>
              <a:t>Chicken</a:t>
            </a:r>
          </a:p>
          <a:p>
            <a:pPr algn="just" marL="1324356" indent="0">
              <a:spcAft>
                <a:spcPts val="2310"/>
              </a:spcAft>
            </a:pPr>
            <a:r>
              <a:rPr lang="en-US" b="1" sz="850">
                <a:latin typeface="Arial"/>
              </a:rPr>
              <a:t>Parm    </a:t>
            </a:r>
            <a:r>
              <a:rPr lang="en-US" b="1" sz="950">
                <a:latin typeface="Arial"/>
              </a:rPr>
              <a:t>68</a:t>
            </a:r>
          </a:p>
          <a:p>
            <a:pPr algn="just" marL="994156" indent="0">
              <a:lnSpc>
                <a:spcPts val="2088"/>
              </a:lnSpc>
            </a:pPr>
            <a:r>
              <a:rPr lang="en-US" b="1" sz="850">
                <a:latin typeface="Arial"/>
              </a:rPr>
              <a:t>Rye House    1</a:t>
            </a:r>
          </a:p>
          <a:p>
            <a:pPr algn="just" marL="790956" indent="0">
              <a:lnSpc>
                <a:spcPts val="2088"/>
              </a:lnSpc>
            </a:pPr>
            <a:r>
              <a:rPr lang="en-US" b="1" sz="850">
                <a:latin typeface="Arial"/>
              </a:rPr>
              <a:t>Hiroko's Place    1</a:t>
            </a:r>
          </a:p>
          <a:p>
            <a:pPr algn="just" marL="638556" indent="0">
              <a:lnSpc>
                <a:spcPts val="2088"/>
              </a:lnSpc>
            </a:pPr>
            <a:r>
              <a:rPr lang="en-US" b="1" sz="850">
                <a:latin typeface="Arial"/>
              </a:rPr>
              <a:t>Frank Restaurant    1</a:t>
            </a:r>
          </a:p>
          <a:p>
            <a:pPr algn="just" marL="676656" indent="0">
              <a:lnSpc>
                <a:spcPts val="2088"/>
              </a:lnSpc>
            </a:pPr>
            <a:r>
              <a:rPr lang="en-US" b="1" sz="850">
                <a:latin typeface="Arial"/>
              </a:rPr>
              <a:t>Sarabeth's West    1</a:t>
            </a:r>
          </a:p>
          <a:p>
            <a:pPr marL="1057656" indent="0">
              <a:lnSpc>
                <a:spcPts val="2088"/>
              </a:lnSpc>
              <a:spcAft>
                <a:spcPts val="210"/>
              </a:spcAft>
            </a:pPr>
            <a:r>
              <a:rPr lang="en-US" b="1" sz="850">
                <a:latin typeface="Arial"/>
              </a:rPr>
              <a:t>'wichcraft </a:t>
            </a:r>
            <a:r>
              <a:rPr lang="en-US" b="1" sz="950">
                <a:latin typeface="Arial"/>
              </a:rPr>
              <a:t>1</a:t>
            </a:r>
          </a:p>
          <a:p>
            <a:pPr algn="just" indent="0">
              <a:spcAft>
                <a:spcPts val="1680"/>
              </a:spcAft>
            </a:pPr>
            <a:r>
              <a:rPr lang="en-US" b="1" sz="850">
                <a:latin typeface="Arial"/>
              </a:rPr>
              <a:t>178 rows x 1 columns</a:t>
            </a:r>
          </a:p>
        </p:txBody>
      </p:sp>
      <p:sp>
        <p:nvSpPr>
          <p:cNvPr id="5" name=""/>
          <p:cNvSpPr/>
          <p:nvPr/>
        </p:nvSpPr>
        <p:spPr>
          <a:xfrm>
            <a:off x="45720" y="4282440"/>
            <a:ext cx="1402080" cy="1133856"/>
          </a:xfrm>
          <a:prstGeom prst="rect">
            <a:avLst/>
          </a:prstGeom>
        </p:spPr>
        <p:txBody>
          <a:bodyPr lIns="0" tIns="0" rIns="0" bIns="0">
            <a:noAutofit/>
          </a:bodyPr>
          <a:p>
            <a:pPr algn="just" indent="0">
              <a:spcBef>
                <a:spcPts val="1680"/>
              </a:spcBef>
              <a:spcAft>
                <a:spcPts val="840"/>
              </a:spcAft>
            </a:pPr>
            <a:r>
              <a:rPr lang="en-US" b="1" sz="850">
                <a:latin typeface="Arial"/>
              </a:rPr>
              <a:t>dtype: int64</a:t>
            </a:r>
          </a:p>
          <a:p>
            <a:pPr marL="215900" indent="0">
              <a:lnSpc>
                <a:spcPts val="936"/>
              </a:lnSpc>
            </a:pPr>
            <a:r>
              <a:rPr lang="en-US" sz="750">
                <a:latin typeface="Arial"/>
              </a:rPr>
              <a:t>#### Observations:</a:t>
            </a:r>
          </a:p>
          <a:p>
            <a:pPr marL="215900" indent="0">
              <a:lnSpc>
                <a:spcPts val="936"/>
              </a:lnSpc>
              <a:spcAft>
                <a:spcPts val="1680"/>
              </a:spcAft>
            </a:pPr>
            <a:r>
              <a:rPr lang="en-US" sz="750">
                <a:latin typeface="Arial"/>
              </a:rPr>
              <a:t>Yop5 restaurant are Shake Shack The Meatball Shop Blue Ribbon Sushi Blue Ribbon Fried Chicken Parm</a:t>
            </a:r>
          </a:p>
        </p:txBody>
      </p:sp>
      <p:sp>
        <p:nvSpPr>
          <p:cNvPr id="6" name=""/>
          <p:cNvSpPr/>
          <p:nvPr/>
        </p:nvSpPr>
        <p:spPr>
          <a:xfrm>
            <a:off x="45720" y="5727192"/>
            <a:ext cx="5181600" cy="981456"/>
          </a:xfrm>
          <a:prstGeom prst="rect">
            <a:avLst/>
          </a:prstGeom>
        </p:spPr>
        <p:txBody>
          <a:bodyPr lIns="0" tIns="0" rIns="0" bIns="0">
            <a:noAutofit/>
          </a:bodyPr>
          <a:p>
            <a:pPr algn="just" indent="0">
              <a:spcBef>
                <a:spcPts val="1680"/>
              </a:spcBef>
              <a:spcAft>
                <a:spcPts val="630"/>
              </a:spcAft>
            </a:pPr>
            <a:r>
              <a:rPr lang="en-US" b="1" sz="1100">
                <a:latin typeface="Arial"/>
              </a:rPr>
              <a:t>Question 8: Which is the most popular cuisine on weekends? [1 mark]</a:t>
            </a:r>
          </a:p>
          <a:p>
            <a:pPr algn="just" indent="0">
              <a:lnSpc>
                <a:spcPts val="1128"/>
              </a:lnSpc>
            </a:pPr>
            <a:r>
              <a:rPr lang="en-US" b="1" sz="850">
                <a:latin typeface="Arial"/>
              </a:rPr>
              <a:t>In [31]:</a:t>
            </a:r>
          </a:p>
          <a:p>
            <a:pPr algn="just" indent="0">
              <a:lnSpc>
                <a:spcPts val="1128"/>
              </a:lnSpc>
            </a:pPr>
            <a:r>
              <a:rPr lang="en-US" i="1" sz="950">
                <a:latin typeface="Arial"/>
              </a:rPr>
              <a:t>#    Write the code here</a:t>
            </a:r>
          </a:p>
          <a:p>
            <a:pPr marR="2301240" indent="0">
              <a:lnSpc>
                <a:spcPts val="1128"/>
              </a:lnSpc>
            </a:pPr>
            <a:r>
              <a:rPr lang="en-US" i="1" sz="950">
                <a:latin typeface="Arial"/>
              </a:rPr>
              <a:t>#    Get most popular cuisine on weekends </a:t>
            </a:r>
            <a:r>
              <a:rPr lang="en-US" b="1" sz="850">
                <a:latin typeface="Arial"/>
              </a:rPr>
              <a:t>df_weekend = df[df['day_of_the_week'] == 'Weekend']</a:t>
            </a:r>
          </a:p>
          <a:p>
            <a:pPr algn="just" indent="0">
              <a:lnSpc>
                <a:spcPts val="1128"/>
              </a:lnSpc>
            </a:pPr>
            <a:r>
              <a:rPr lang="en-US" b="1" sz="850">
                <a:latin typeface="Arial"/>
              </a:rPr>
              <a:t>df_weekend['cuisine_type'].value_counts() </a:t>
            </a:r>
            <a:r>
              <a:rPr lang="en-US" i="1" sz="950">
                <a:latin typeface="Arial"/>
              </a:rPr>
              <a:t>## Complete the code to check unique values for the</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48768" y="0"/>
            <a:ext cx="457200" cy="143256"/>
          </a:xfrm>
          <a:prstGeom prst="rect">
            <a:avLst/>
          </a:prstGeom>
        </p:spPr>
        <p:txBody>
          <a:bodyPr lIns="0" tIns="0" rIns="0" bIns="0" wrap="none">
            <a:noAutofit/>
          </a:bodyPr>
          <a:p>
            <a:pPr indent="0"/>
            <a:r>
              <a:rPr lang="en-US" sz="950">
                <a:latin typeface="Arial"/>
              </a:rPr>
              <a:t>Out[31]:</a:t>
            </a:r>
          </a:p>
        </p:txBody>
      </p:sp>
      <p:sp>
        <p:nvSpPr>
          <p:cNvPr id="3" name=""/>
          <p:cNvSpPr/>
          <p:nvPr/>
        </p:nvSpPr>
        <p:spPr>
          <a:xfrm>
            <a:off x="1097280" y="204216"/>
            <a:ext cx="362712" cy="121920"/>
          </a:xfrm>
          <a:prstGeom prst="rect">
            <a:avLst/>
          </a:prstGeom>
        </p:spPr>
        <p:txBody>
          <a:bodyPr lIns="0" tIns="0" rIns="0" bIns="0" wrap="none">
            <a:noAutofit/>
          </a:bodyPr>
          <a:p>
            <a:pPr indent="0"/>
            <a:r>
              <a:rPr lang="en-US" b="1" sz="850">
                <a:latin typeface="Arial"/>
              </a:rPr>
              <a:t>count</a:t>
            </a:r>
          </a:p>
        </p:txBody>
      </p:sp>
      <p:graphicFrame>
        <p:nvGraphicFramePr>
          <p:cNvPr id="4" name=""/>
          <p:cNvGraphicFramePr>
            <a:graphicFrameLocks noGrp="1"/>
          </p:cNvGraphicFramePr>
          <p:nvPr/>
        </p:nvGraphicFramePr>
        <p:xfrm>
          <a:off x="112776" y="472440"/>
          <a:ext cx="1350264" cy="3855720"/>
        </p:xfrm>
        <a:graphic>
          <a:graphicData uri="http://schemas.openxmlformats.org/drawingml/2006/table">
            <a:tbl>
              <a:tblPr/>
              <a:tblGrid>
                <a:gridCol w="1005840"/>
                <a:gridCol w="344424"/>
              </a:tblGrid>
              <a:tr h="198120">
                <a:tc>
                  <a:txBody>
                    <a:bodyPr lIns="0" tIns="0" rIns="0" bIns="0">
                      <a:noAutofit/>
                    </a:bodyPr>
                    <a:p>
                      <a:pPr algn="r" marR="139700" indent="0"/>
                      <a:r>
                        <a:rPr lang="en-US" b="1" sz="850">
                          <a:latin typeface="Arial"/>
                        </a:rPr>
                        <a:t>cuisine_type</a:t>
                      </a:r>
                    </a:p>
                  </a:txBody>
                  <a:tcPr marL="0" marR="0" marT="0" marB="0"/>
                </a:tc>
                <a:tc>
                  <a:txBody>
                    <a:bodyPr lIns="0" tIns="0" rIns="0" bIns="0">
                      <a:noAutofit/>
                    </a:bodyPr>
                    <a:p>
                      <a:endParaRPr sz="1000"/>
                    </a:p>
                  </a:txBody>
                  <a:tcPr marL="0" marR="0" marT="0" marB="0"/>
                </a:tc>
              </a:tr>
              <a:tr h="259080">
                <a:tc>
                  <a:txBody>
                    <a:bodyPr lIns="0" tIns="0" rIns="0" bIns="0">
                      <a:noAutofit/>
                    </a:bodyPr>
                    <a:p>
                      <a:pPr algn="r" marR="139700" indent="0"/>
                      <a:r>
                        <a:rPr lang="en-US" b="1" sz="850">
                          <a:latin typeface="Arial"/>
                        </a:rPr>
                        <a:t>American</a:t>
                      </a:r>
                    </a:p>
                  </a:txBody>
                  <a:tcPr marL="0" marR="0" marT="0" marB="0" anchor="ctr"/>
                </a:tc>
                <a:tc>
                  <a:txBody>
                    <a:bodyPr lIns="0" tIns="0" rIns="0" bIns="0">
                      <a:noAutofit/>
                    </a:bodyPr>
                    <a:p>
                      <a:pPr algn="r" indent="0"/>
                      <a:r>
                        <a:rPr lang="en-US" sz="950">
                          <a:latin typeface="Arial"/>
                        </a:rPr>
                        <a:t>415</a:t>
                      </a:r>
                    </a:p>
                  </a:txBody>
                  <a:tcPr marL="0" marR="0" marT="0" marB="0" anchor="ctr"/>
                </a:tc>
              </a:tr>
              <a:tr h="277368">
                <a:tc>
                  <a:txBody>
                    <a:bodyPr lIns="0" tIns="0" rIns="0" bIns="0">
                      <a:noAutofit/>
                    </a:bodyPr>
                    <a:p>
                      <a:pPr algn="r" marR="139700" indent="0"/>
                      <a:r>
                        <a:rPr lang="en-US" b="1" sz="850">
                          <a:latin typeface="Arial"/>
                        </a:rPr>
                        <a:t>Japanese</a:t>
                      </a:r>
                    </a:p>
                  </a:txBody>
                  <a:tcPr marL="0" marR="0" marT="0" marB="0" anchor="ctr"/>
                </a:tc>
                <a:tc>
                  <a:txBody>
                    <a:bodyPr lIns="0" tIns="0" rIns="0" bIns="0">
                      <a:noAutofit/>
                    </a:bodyPr>
                    <a:p>
                      <a:pPr algn="r" indent="0"/>
                      <a:r>
                        <a:rPr lang="en-US" sz="950">
                          <a:latin typeface="Arial"/>
                        </a:rPr>
                        <a:t>335</a:t>
                      </a:r>
                    </a:p>
                  </a:txBody>
                  <a:tcPr marL="0" marR="0" marT="0" marB="0" anchor="ctr"/>
                </a:tc>
              </a:tr>
              <a:tr h="256032">
                <a:tc>
                  <a:txBody>
                    <a:bodyPr lIns="0" tIns="0" rIns="0" bIns="0">
                      <a:noAutofit/>
                    </a:bodyPr>
                    <a:p>
                      <a:pPr algn="r" marR="139700" indent="0"/>
                      <a:r>
                        <a:rPr lang="en-US" b="1" sz="850">
                          <a:latin typeface="Arial"/>
                        </a:rPr>
                        <a:t>Italian</a:t>
                      </a:r>
                    </a:p>
                  </a:txBody>
                  <a:tcPr marL="0" marR="0" marT="0" marB="0" anchor="ctr"/>
                </a:tc>
                <a:tc>
                  <a:txBody>
                    <a:bodyPr lIns="0" tIns="0" rIns="0" bIns="0">
                      <a:noAutofit/>
                    </a:bodyPr>
                    <a:p>
                      <a:pPr algn="r" indent="0"/>
                      <a:r>
                        <a:rPr lang="en-US" sz="950">
                          <a:latin typeface="Arial"/>
                        </a:rPr>
                        <a:t>207</a:t>
                      </a:r>
                    </a:p>
                  </a:txBody>
                  <a:tcPr marL="0" marR="0" marT="0" marB="0" anchor="ctr"/>
                </a:tc>
              </a:tr>
              <a:tr h="265176">
                <a:tc>
                  <a:txBody>
                    <a:bodyPr lIns="0" tIns="0" rIns="0" bIns="0">
                      <a:noAutofit/>
                    </a:bodyPr>
                    <a:p>
                      <a:pPr algn="r" marR="139700" indent="0"/>
                      <a:r>
                        <a:rPr lang="en-US" b="1" sz="850">
                          <a:latin typeface="Arial"/>
                        </a:rPr>
                        <a:t>Chinese</a:t>
                      </a:r>
                    </a:p>
                  </a:txBody>
                  <a:tcPr marL="0" marR="0" marT="0" marB="0" anchor="ctr"/>
                </a:tc>
                <a:tc>
                  <a:txBody>
                    <a:bodyPr lIns="0" tIns="0" rIns="0" bIns="0">
                      <a:noAutofit/>
                    </a:bodyPr>
                    <a:p>
                      <a:pPr algn="r" indent="0"/>
                      <a:r>
                        <a:rPr lang="en-US" sz="950">
                          <a:latin typeface="Arial"/>
                        </a:rPr>
                        <a:t>163</a:t>
                      </a:r>
                    </a:p>
                  </a:txBody>
                  <a:tcPr marL="0" marR="0" marT="0" marB="0" anchor="ctr"/>
                </a:tc>
              </a:tr>
              <a:tr h="268224">
                <a:tc>
                  <a:txBody>
                    <a:bodyPr lIns="0" tIns="0" rIns="0" bIns="0">
                      <a:noAutofit/>
                    </a:bodyPr>
                    <a:p>
                      <a:pPr algn="r" marR="139700" indent="0"/>
                      <a:r>
                        <a:rPr lang="en-US" b="1" sz="850">
                          <a:latin typeface="Arial"/>
                        </a:rPr>
                        <a:t>Mexican</a:t>
                      </a:r>
                    </a:p>
                  </a:txBody>
                  <a:tcPr marL="0" marR="0" marT="0" marB="0" anchor="ctr"/>
                </a:tc>
                <a:tc>
                  <a:txBody>
                    <a:bodyPr lIns="0" tIns="0" rIns="0" bIns="0">
                      <a:noAutofit/>
                    </a:bodyPr>
                    <a:p>
                      <a:pPr algn="r" indent="0"/>
                      <a:r>
                        <a:rPr lang="en-US" sz="950">
                          <a:latin typeface="Arial"/>
                        </a:rPr>
                        <a:t>53</a:t>
                      </a:r>
                    </a:p>
                  </a:txBody>
                  <a:tcPr marL="0" marR="0" marT="0" marB="0" anchor="ctr"/>
                </a:tc>
              </a:tr>
              <a:tr h="265176">
                <a:tc>
                  <a:txBody>
                    <a:bodyPr lIns="0" tIns="0" rIns="0" bIns="0">
                      <a:noAutofit/>
                    </a:bodyPr>
                    <a:p>
                      <a:pPr algn="r" marR="139700" indent="0"/>
                      <a:r>
                        <a:rPr lang="en-US" b="1" sz="850">
                          <a:latin typeface="Arial"/>
                        </a:rPr>
                        <a:t>Indian</a:t>
                      </a:r>
                    </a:p>
                  </a:txBody>
                  <a:tcPr marL="0" marR="0" marT="0" marB="0" anchor="ctr"/>
                </a:tc>
                <a:tc>
                  <a:txBody>
                    <a:bodyPr lIns="0" tIns="0" rIns="0" bIns="0">
                      <a:noAutofit/>
                    </a:bodyPr>
                    <a:p>
                      <a:pPr algn="r" indent="0"/>
                      <a:r>
                        <a:rPr lang="en-US" sz="950">
                          <a:latin typeface="Arial"/>
                        </a:rPr>
                        <a:t>49</a:t>
                      </a:r>
                    </a:p>
                  </a:txBody>
                  <a:tcPr marL="0" marR="0" marT="0" marB="0" anchor="ctr"/>
                </a:tc>
              </a:tr>
              <a:tr h="268224">
                <a:tc>
                  <a:txBody>
                    <a:bodyPr lIns="0" tIns="0" rIns="0" bIns="0">
                      <a:noAutofit/>
                    </a:bodyPr>
                    <a:p>
                      <a:pPr algn="r" marR="139700" indent="0"/>
                      <a:r>
                        <a:rPr lang="en-US" b="1" sz="850">
                          <a:latin typeface="Arial"/>
                        </a:rPr>
                        <a:t>Middle Eastern</a:t>
                      </a:r>
                    </a:p>
                  </a:txBody>
                  <a:tcPr marL="0" marR="0" marT="0" marB="0" anchor="ctr"/>
                </a:tc>
                <a:tc>
                  <a:txBody>
                    <a:bodyPr lIns="0" tIns="0" rIns="0" bIns="0">
                      <a:noAutofit/>
                    </a:bodyPr>
                    <a:p>
                      <a:pPr algn="r" indent="0"/>
                      <a:r>
                        <a:rPr lang="en-US" sz="950">
                          <a:latin typeface="Arial"/>
                        </a:rPr>
                        <a:t>32</a:t>
                      </a:r>
                    </a:p>
                  </a:txBody>
                  <a:tcPr marL="0" marR="0" marT="0" marB="0" anchor="ctr"/>
                </a:tc>
              </a:tr>
              <a:tr h="265176">
                <a:tc>
                  <a:txBody>
                    <a:bodyPr lIns="0" tIns="0" rIns="0" bIns="0">
                      <a:noAutofit/>
                    </a:bodyPr>
                    <a:p>
                      <a:pPr algn="r" marR="139700" indent="0"/>
                      <a:r>
                        <a:rPr lang="en-US" b="1" sz="850">
                          <a:latin typeface="Arial"/>
                        </a:rPr>
                        <a:t>Mediterranean</a:t>
                      </a:r>
                    </a:p>
                  </a:txBody>
                  <a:tcPr marL="0" marR="0" marT="0" marB="0" anchor="ctr"/>
                </a:tc>
                <a:tc>
                  <a:txBody>
                    <a:bodyPr lIns="0" tIns="0" rIns="0" bIns="0">
                      <a:noAutofit/>
                    </a:bodyPr>
                    <a:p>
                      <a:pPr algn="r" indent="0"/>
                      <a:r>
                        <a:rPr lang="en-US" sz="950">
                          <a:latin typeface="Arial"/>
                        </a:rPr>
                        <a:t>32</a:t>
                      </a:r>
                    </a:p>
                  </a:txBody>
                  <a:tcPr marL="0" marR="0" marT="0" marB="0" anchor="ctr"/>
                </a:tc>
              </a:tr>
              <a:tr h="268224">
                <a:tc>
                  <a:txBody>
                    <a:bodyPr lIns="0" tIns="0" rIns="0" bIns="0">
                      <a:noAutofit/>
                    </a:bodyPr>
                    <a:p>
                      <a:pPr algn="r" marR="139700" indent="0"/>
                      <a:r>
                        <a:rPr lang="en-US" b="1" sz="850">
                          <a:latin typeface="Arial"/>
                        </a:rPr>
                        <a:t>Thai</a:t>
                      </a:r>
                    </a:p>
                  </a:txBody>
                  <a:tcPr marL="0" marR="0" marT="0" marB="0" anchor="ctr"/>
                </a:tc>
                <a:tc>
                  <a:txBody>
                    <a:bodyPr lIns="0" tIns="0" rIns="0" bIns="0">
                      <a:noAutofit/>
                    </a:bodyPr>
                    <a:p>
                      <a:pPr algn="r" indent="0"/>
                      <a:r>
                        <a:rPr lang="en-US" sz="950">
                          <a:latin typeface="Arial"/>
                        </a:rPr>
                        <a:t>15</a:t>
                      </a:r>
                    </a:p>
                  </a:txBody>
                  <a:tcPr marL="0" marR="0" marT="0" marB="0" anchor="ctr"/>
                </a:tc>
              </a:tr>
              <a:tr h="265176">
                <a:tc>
                  <a:txBody>
                    <a:bodyPr lIns="0" tIns="0" rIns="0" bIns="0">
                      <a:noAutofit/>
                    </a:bodyPr>
                    <a:p>
                      <a:pPr algn="r" marR="139700" indent="0"/>
                      <a:r>
                        <a:rPr lang="en-US" b="1" sz="850">
                          <a:latin typeface="Arial"/>
                        </a:rPr>
                        <a:t>French</a:t>
                      </a:r>
                    </a:p>
                  </a:txBody>
                  <a:tcPr marL="0" marR="0" marT="0" marB="0" anchor="ctr"/>
                </a:tc>
                <a:tc>
                  <a:txBody>
                    <a:bodyPr lIns="0" tIns="0" rIns="0" bIns="0">
                      <a:noAutofit/>
                    </a:bodyPr>
                    <a:p>
                      <a:pPr algn="r" indent="0"/>
                      <a:r>
                        <a:rPr lang="en-US" sz="950">
                          <a:latin typeface="Arial"/>
                        </a:rPr>
                        <a:t>13</a:t>
                      </a:r>
                    </a:p>
                  </a:txBody>
                  <a:tcPr marL="0" marR="0" marT="0" marB="0" anchor="ctr"/>
                </a:tc>
              </a:tr>
              <a:tr h="265176">
                <a:tc>
                  <a:txBody>
                    <a:bodyPr lIns="0" tIns="0" rIns="0" bIns="0">
                      <a:noAutofit/>
                    </a:bodyPr>
                    <a:p>
                      <a:pPr algn="r" marR="139700" indent="0"/>
                      <a:r>
                        <a:rPr lang="en-US" b="1" sz="850">
                          <a:latin typeface="Arial"/>
                        </a:rPr>
                        <a:t>Korean</a:t>
                      </a:r>
                    </a:p>
                  </a:txBody>
                  <a:tcPr marL="0" marR="0" marT="0" marB="0" anchor="ctr"/>
                </a:tc>
                <a:tc>
                  <a:txBody>
                    <a:bodyPr lIns="0" tIns="0" rIns="0" bIns="0">
                      <a:noAutofit/>
                    </a:bodyPr>
                    <a:p>
                      <a:pPr algn="r" indent="0"/>
                      <a:r>
                        <a:rPr lang="en-US" sz="950">
                          <a:latin typeface="Arial"/>
                        </a:rPr>
                        <a:t>11</a:t>
                      </a:r>
                    </a:p>
                  </a:txBody>
                  <a:tcPr marL="0" marR="0" marT="0" marB="0" anchor="b"/>
                </a:tc>
              </a:tr>
              <a:tr h="268224">
                <a:tc>
                  <a:txBody>
                    <a:bodyPr lIns="0" tIns="0" rIns="0" bIns="0">
                      <a:noAutofit/>
                    </a:bodyPr>
                    <a:p>
                      <a:pPr algn="r" marR="139700" indent="0"/>
                      <a:r>
                        <a:rPr lang="en-US" b="1" sz="850">
                          <a:latin typeface="Arial"/>
                        </a:rPr>
                        <a:t>Southern</a:t>
                      </a:r>
                    </a:p>
                  </a:txBody>
                  <a:tcPr marL="0" marR="0" marT="0" marB="0" anchor="ctr"/>
                </a:tc>
                <a:tc>
                  <a:txBody>
                    <a:bodyPr lIns="0" tIns="0" rIns="0" bIns="0">
                      <a:noAutofit/>
                    </a:bodyPr>
                    <a:p>
                      <a:pPr algn="r" indent="0"/>
                      <a:r>
                        <a:rPr lang="en-US" sz="950">
                          <a:latin typeface="Arial"/>
                        </a:rPr>
                        <a:t>11</a:t>
                      </a:r>
                    </a:p>
                  </a:txBody>
                  <a:tcPr marL="0" marR="0" marT="0" marB="0" anchor="b"/>
                </a:tc>
              </a:tr>
              <a:tr h="277368">
                <a:tc>
                  <a:txBody>
                    <a:bodyPr lIns="0" tIns="0" rIns="0" bIns="0">
                      <a:noAutofit/>
                    </a:bodyPr>
                    <a:p>
                      <a:pPr algn="r" marR="139700" indent="0"/>
                      <a:r>
                        <a:rPr lang="en-US" b="1" sz="850">
                          <a:latin typeface="Arial"/>
                        </a:rPr>
                        <a:t>Spanish</a:t>
                      </a:r>
                    </a:p>
                  </a:txBody>
                  <a:tcPr marL="0" marR="0" marT="0" marB="0" anchor="ctr"/>
                </a:tc>
                <a:tc>
                  <a:txBody>
                    <a:bodyPr lIns="0" tIns="0" rIns="0" bIns="0">
                      <a:noAutofit/>
                    </a:bodyPr>
                    <a:p>
                      <a:pPr algn="r" indent="0"/>
                      <a:r>
                        <a:rPr lang="en-US" sz="950">
                          <a:latin typeface="Arial"/>
                        </a:rPr>
                        <a:t>11</a:t>
                      </a:r>
                    </a:p>
                  </a:txBody>
                  <a:tcPr marL="0" marR="0" marT="0" marB="0" anchor="ctr"/>
                </a:tc>
              </a:tr>
              <a:tr h="188976">
                <a:tc>
                  <a:txBody>
                    <a:bodyPr lIns="0" tIns="0" rIns="0" bIns="0">
                      <a:noAutofit/>
                    </a:bodyPr>
                    <a:p>
                      <a:pPr algn="r" marR="139700" indent="0"/>
                      <a:r>
                        <a:rPr lang="en-US" b="1" sz="850">
                          <a:latin typeface="Arial"/>
                        </a:rPr>
                        <a:t>Vietnamese</a:t>
                      </a:r>
                    </a:p>
                  </a:txBody>
                  <a:tcPr marL="0" marR="0" marT="0" marB="0" anchor="b"/>
                </a:tc>
                <a:tc>
                  <a:txBody>
                    <a:bodyPr lIns="0" tIns="0" rIns="0" bIns="0">
                      <a:noAutofit/>
                    </a:bodyPr>
                    <a:p>
                      <a:pPr algn="r" indent="0"/>
                      <a:r>
                        <a:rPr lang="en-US" sz="950">
                          <a:latin typeface="Arial"/>
                        </a:rPr>
                        <a:t>4</a:t>
                      </a:r>
                    </a:p>
                  </a:txBody>
                  <a:tcPr marL="0" marR="0" marT="0" marB="0" anchor="b"/>
                </a:tc>
              </a:tr>
            </a:tbl>
          </a:graphicData>
        </a:graphic>
      </p:graphicFrame>
      <p:sp>
        <p:nvSpPr>
          <p:cNvPr id="5" name=""/>
          <p:cNvSpPr/>
          <p:nvPr/>
        </p:nvSpPr>
        <p:spPr>
          <a:xfrm>
            <a:off x="45720" y="4672584"/>
            <a:ext cx="7068312" cy="5839968"/>
          </a:xfrm>
          <a:prstGeom prst="rect">
            <a:avLst/>
          </a:prstGeom>
        </p:spPr>
        <p:txBody>
          <a:bodyPr lIns="0" tIns="0" rIns="0" bIns="0">
            <a:noAutofit/>
          </a:bodyPr>
          <a:p>
            <a:pPr marR="1574800" indent="0">
              <a:lnSpc>
                <a:spcPts val="2400"/>
              </a:lnSpc>
              <a:spcBef>
                <a:spcPts val="1890"/>
              </a:spcBef>
            </a:pPr>
            <a:r>
              <a:rPr lang="en-US" b="1" sz="850">
                <a:latin typeface="Arial"/>
              </a:rPr>
              <a:t>dtype: </a:t>
            </a:r>
            <a:r>
              <a:rPr lang="en-US" sz="950">
                <a:latin typeface="Arial"/>
              </a:rPr>
              <a:t>int64 </a:t>
            </a:r>
            <a:r>
              <a:rPr lang="en-US" b="1" sz="850">
                <a:latin typeface="Arial"/>
              </a:rPr>
              <a:t>Observations:</a:t>
            </a:r>
          </a:p>
          <a:p>
            <a:pPr algn="just" indent="0">
              <a:lnSpc>
                <a:spcPts val="2400"/>
              </a:lnSpc>
              <a:spcAft>
                <a:spcPts val="210"/>
              </a:spcAft>
            </a:pPr>
            <a:r>
              <a:rPr lang="en-US" sz="950">
                <a:latin typeface="Arial"/>
              </a:rPr>
              <a:t>most popular for weekend is American</a:t>
            </a:r>
          </a:p>
          <a:p>
            <a:pPr algn="just" indent="0">
              <a:spcAft>
                <a:spcPts val="630"/>
              </a:spcAft>
            </a:pPr>
            <a:r>
              <a:rPr lang="en-US" b="1" sz="1100">
                <a:latin typeface="Arial"/>
              </a:rPr>
              <a:t>Question 9: What percentage of the orders cost more than 20 dollars? [2 marks]</a:t>
            </a:r>
          </a:p>
          <a:p>
            <a:pPr algn="just" indent="0">
              <a:lnSpc>
                <a:spcPts val="1152"/>
              </a:lnSpc>
            </a:pPr>
            <a:r>
              <a:rPr lang="en-US" sz="950">
                <a:latin typeface="Arial"/>
              </a:rPr>
              <a:t>In [32]:</a:t>
            </a:r>
          </a:p>
          <a:p>
            <a:pPr algn="just" indent="0">
              <a:lnSpc>
                <a:spcPts val="1152"/>
              </a:lnSpc>
            </a:pPr>
            <a:r>
              <a:rPr lang="en-US" i="1" sz="950">
                <a:latin typeface="Arial"/>
              </a:rPr>
              <a:t>#    Write the code here</a:t>
            </a:r>
          </a:p>
          <a:p>
            <a:pPr algn="just" indent="0">
              <a:lnSpc>
                <a:spcPts val="1152"/>
              </a:lnSpc>
            </a:pPr>
            <a:r>
              <a:rPr lang="en-US" i="1" sz="950">
                <a:latin typeface="Arial"/>
              </a:rPr>
              <a:t>#    Get orders that cost above 20 dollars</a:t>
            </a:r>
          </a:p>
          <a:p>
            <a:pPr algn="just" indent="0">
              <a:lnSpc>
                <a:spcPts val="1152"/>
              </a:lnSpc>
              <a:spcAft>
                <a:spcPts val="630"/>
              </a:spcAft>
            </a:pPr>
            <a:r>
              <a:rPr lang="en-US" sz="950">
                <a:latin typeface="Arial"/>
              </a:rPr>
              <a:t>df_greater_than_20 </a:t>
            </a:r>
            <a:r>
              <a:rPr lang="en-US" b="1" sz="850">
                <a:latin typeface="Arial"/>
              </a:rPr>
              <a:t>= </a:t>
            </a:r>
            <a:r>
              <a:rPr lang="en-US" sz="950">
                <a:latin typeface="Arial"/>
              </a:rPr>
              <a:t>df[df['cost_of_the_order']</a:t>
            </a:r>
            <a:r>
              <a:rPr lang="en-US" b="1" sz="850">
                <a:latin typeface="Arial"/>
              </a:rPr>
              <a:t>&gt;</a:t>
            </a:r>
            <a:r>
              <a:rPr lang="en-US" sz="950">
                <a:latin typeface="Arial"/>
              </a:rPr>
              <a:t>20] </a:t>
            </a:r>
            <a:r>
              <a:rPr lang="en-US" i="1" sz="950">
                <a:latin typeface="Arial"/>
              </a:rPr>
              <a:t>## Write the appropriate column name to get the orders having cost above $20</a:t>
            </a:r>
          </a:p>
          <a:p>
            <a:pPr algn="just" indent="0">
              <a:spcAft>
                <a:spcPts val="210"/>
              </a:spcAft>
            </a:pPr>
            <a:r>
              <a:rPr lang="en-US" i="1" sz="950">
                <a:latin typeface="Arial"/>
              </a:rPr>
              <a:t>#    Calculate the number of total orders where the cost is above 20 dollars</a:t>
            </a:r>
          </a:p>
          <a:p>
            <a:pPr algn="just" indent="0">
              <a:spcAft>
                <a:spcPts val="840"/>
              </a:spcAft>
            </a:pPr>
            <a:r>
              <a:rPr lang="en-US" sz="950">
                <a:latin typeface="Arial"/>
              </a:rPr>
              <a:t>print('The number of total orders that cost above 20 dollars is:', df_greater_than_20</a:t>
            </a:r>
            <a:r>
              <a:rPr lang="en-US" b="1" sz="850">
                <a:latin typeface="Arial"/>
              </a:rPr>
              <a:t>.</a:t>
            </a:r>
            <a:r>
              <a:rPr lang="en-US" sz="950">
                <a:latin typeface="Arial"/>
              </a:rPr>
              <a:t>shape[0])</a:t>
            </a:r>
          </a:p>
          <a:p>
            <a:pPr marR="3683000" indent="0">
              <a:lnSpc>
                <a:spcPts val="1128"/>
              </a:lnSpc>
              <a:spcAft>
                <a:spcPts val="630"/>
              </a:spcAft>
            </a:pPr>
            <a:r>
              <a:rPr lang="en-US" i="1" sz="950">
                <a:latin typeface="Arial"/>
              </a:rPr>
              <a:t>#    Calculate percentage of such orders in the dataset </a:t>
            </a:r>
            <a:r>
              <a:rPr lang="en-US" sz="950">
                <a:latin typeface="Arial"/>
              </a:rPr>
              <a:t>percentage </a:t>
            </a:r>
            <a:r>
              <a:rPr lang="en-US" b="1" sz="850">
                <a:latin typeface="Arial"/>
              </a:rPr>
              <a:t>= </a:t>
            </a:r>
            <a:r>
              <a:rPr lang="en-US" sz="950">
                <a:latin typeface="Arial"/>
              </a:rPr>
              <a:t>(df_greater_than_20</a:t>
            </a:r>
            <a:r>
              <a:rPr lang="en-US" b="1" sz="850">
                <a:latin typeface="Arial"/>
              </a:rPr>
              <a:t>.</a:t>
            </a:r>
            <a:r>
              <a:rPr lang="en-US" sz="950">
                <a:latin typeface="Arial"/>
              </a:rPr>
              <a:t>shape[0] </a:t>
            </a:r>
            <a:r>
              <a:rPr lang="en-US" b="1" sz="850">
                <a:latin typeface="Arial"/>
              </a:rPr>
              <a:t>/ </a:t>
            </a:r>
            <a:r>
              <a:rPr lang="en-US" sz="950">
                <a:latin typeface="Arial"/>
              </a:rPr>
              <a:t>df</a:t>
            </a:r>
            <a:r>
              <a:rPr lang="en-US" b="1" sz="850">
                <a:latin typeface="Arial"/>
              </a:rPr>
              <a:t>.</a:t>
            </a:r>
            <a:r>
              <a:rPr lang="en-US" sz="950">
                <a:latin typeface="Arial"/>
              </a:rPr>
              <a:t>shape[0]) </a:t>
            </a:r>
            <a:r>
              <a:rPr lang="en-US" b="1" sz="850">
                <a:latin typeface="Arial"/>
              </a:rPr>
              <a:t>* </a:t>
            </a:r>
            <a:r>
              <a:rPr lang="en-US" sz="950">
                <a:latin typeface="Arial"/>
              </a:rPr>
              <a:t>100</a:t>
            </a:r>
          </a:p>
          <a:p>
            <a:pPr algn="just" indent="0">
              <a:spcAft>
                <a:spcPts val="630"/>
              </a:spcAft>
            </a:pPr>
            <a:r>
              <a:rPr lang="en-US" sz="950">
                <a:latin typeface="Arial"/>
              </a:rPr>
              <a:t>print(''Percentage of orders above 20 dollars:", round(percentage, 2), '%')</a:t>
            </a:r>
          </a:p>
          <a:p>
            <a:pPr marR="4419600" indent="0">
              <a:lnSpc>
                <a:spcPts val="960"/>
              </a:lnSpc>
              <a:spcAft>
                <a:spcPts val="840"/>
              </a:spcAft>
            </a:pPr>
            <a:r>
              <a:rPr lang="en-US" sz="750">
                <a:latin typeface="Arial"/>
              </a:rPr>
              <a:t>The number of total orders that cost above 20 dollars is: 555 Percentage of orders above 20 dollars: 29.24 %</a:t>
            </a:r>
          </a:p>
          <a:p>
            <a:pPr algn="just" indent="0">
              <a:spcAft>
                <a:spcPts val="1260"/>
              </a:spcAft>
            </a:pPr>
            <a:r>
              <a:rPr lang="en-US" b="1" sz="850">
                <a:latin typeface="Arial"/>
              </a:rPr>
              <a:t>Observations: 29.24%</a:t>
            </a:r>
          </a:p>
          <a:p>
            <a:pPr algn="just" indent="0">
              <a:spcAft>
                <a:spcPts val="630"/>
              </a:spcAft>
            </a:pPr>
            <a:r>
              <a:rPr lang="en-US" b="1" sz="1100">
                <a:latin typeface="Arial"/>
              </a:rPr>
              <a:t>Question 10: What is the mean order delivery time? [1 mark]</a:t>
            </a:r>
          </a:p>
          <a:p>
            <a:pPr algn="just" indent="0">
              <a:lnSpc>
                <a:spcPts val="1152"/>
              </a:lnSpc>
            </a:pPr>
            <a:r>
              <a:rPr lang="en-US" sz="950">
                <a:latin typeface="Arial"/>
              </a:rPr>
              <a:t>In [33]:</a:t>
            </a:r>
          </a:p>
          <a:p>
            <a:pPr algn="just" indent="0">
              <a:lnSpc>
                <a:spcPts val="1152"/>
              </a:lnSpc>
            </a:pPr>
            <a:r>
              <a:rPr lang="en-US" i="1" sz="950">
                <a:latin typeface="Arial"/>
              </a:rPr>
              <a:t>#    Write the code here</a:t>
            </a:r>
          </a:p>
          <a:p>
            <a:pPr algn="just" indent="0">
              <a:lnSpc>
                <a:spcPts val="1152"/>
              </a:lnSpc>
            </a:pPr>
            <a:r>
              <a:rPr lang="en-US" i="1" sz="950">
                <a:latin typeface="Arial"/>
              </a:rPr>
              <a:t>#    Get the mean delivery time</a:t>
            </a:r>
          </a:p>
          <a:p>
            <a:pPr algn="just" indent="0">
              <a:lnSpc>
                <a:spcPts val="1152"/>
              </a:lnSpc>
              <a:spcAft>
                <a:spcPts val="630"/>
              </a:spcAft>
            </a:pPr>
            <a:r>
              <a:rPr lang="en-US" sz="950">
                <a:latin typeface="Arial"/>
              </a:rPr>
              <a:t>mean_del_time </a:t>
            </a:r>
            <a:r>
              <a:rPr lang="en-US" b="1" sz="850">
                <a:latin typeface="Arial"/>
              </a:rPr>
              <a:t>= </a:t>
            </a:r>
            <a:r>
              <a:rPr lang="en-US" sz="950">
                <a:latin typeface="Arial"/>
              </a:rPr>
              <a:t>df['delivery_time']</a:t>
            </a:r>
            <a:r>
              <a:rPr lang="en-US" b="1" sz="850">
                <a:latin typeface="Arial"/>
              </a:rPr>
              <a:t>.</a:t>
            </a:r>
            <a:r>
              <a:rPr lang="en-US" sz="950">
                <a:latin typeface="Arial"/>
              </a:rPr>
              <a:t>mean() </a:t>
            </a:r>
            <a:r>
              <a:rPr lang="en-US" i="1" sz="950">
                <a:latin typeface="Arial"/>
              </a:rPr>
              <a:t>## Write the appropriate function to obtain the mean delivery time</a:t>
            </a:r>
          </a:p>
          <a:p>
            <a:pPr algn="just" indent="0">
              <a:spcAft>
                <a:spcPts val="630"/>
              </a:spcAft>
            </a:pPr>
            <a:r>
              <a:rPr lang="en-US" sz="950">
                <a:latin typeface="Arial"/>
              </a:rPr>
              <a:t>print('The mean delivery time for this dataset is', round(mean_del_time, 2), 'minutes')</a:t>
            </a:r>
          </a:p>
          <a:p>
            <a:pPr algn="just" indent="0">
              <a:spcAft>
                <a:spcPts val="840"/>
              </a:spcAft>
            </a:pPr>
            <a:r>
              <a:rPr lang="en-US" sz="750">
                <a:latin typeface="Arial"/>
              </a:rPr>
              <a:t>The mean delivery time for this dataset is 24.16 minutes</a:t>
            </a:r>
          </a:p>
          <a:p>
            <a:pPr algn="just" indent="0">
              <a:spcAft>
                <a:spcPts val="1260"/>
              </a:spcAft>
            </a:pPr>
            <a:r>
              <a:rPr lang="en-US" b="1" sz="850">
                <a:latin typeface="Arial"/>
              </a:rPr>
              <a:t>Observations: mean is 24.16</a:t>
            </a:r>
          </a:p>
          <a:p>
            <a:pPr indent="0">
              <a:lnSpc>
                <a:spcPts val="1368"/>
              </a:lnSpc>
            </a:pPr>
            <a:r>
              <a:rPr lang="en-US" b="1" sz="1100">
                <a:latin typeface="Arial"/>
              </a:rPr>
              <a:t>Question 11: The company has decided to give 20% discount vouchers to the top 3 most frequent customers. Find the IDs of these customers and the number of orders they placed. [1 mark]</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60960" y="4983480"/>
            <a:ext cx="7434072" cy="4133088"/>
          </a:xfrm>
          <a:prstGeom prst="rect">
            <a:avLst/>
          </a:prstGeom>
        </p:spPr>
      </p:pic>
      <p:sp>
        <p:nvSpPr>
          <p:cNvPr id="3" name=""/>
          <p:cNvSpPr/>
          <p:nvPr/>
        </p:nvSpPr>
        <p:spPr>
          <a:xfrm>
            <a:off x="54864" y="0"/>
            <a:ext cx="390144" cy="143256"/>
          </a:xfrm>
          <a:prstGeom prst="rect">
            <a:avLst/>
          </a:prstGeom>
        </p:spPr>
        <p:txBody>
          <a:bodyPr lIns="0" tIns="0" rIns="0" bIns="0" wrap="none">
            <a:noAutofit/>
          </a:bodyPr>
          <a:p>
            <a:pPr indent="0"/>
            <a:r>
              <a:rPr lang="en-US" sz="950">
                <a:latin typeface="Arial"/>
              </a:rPr>
              <a:t>In [35]:</a:t>
            </a:r>
          </a:p>
        </p:txBody>
      </p:sp>
      <p:sp>
        <p:nvSpPr>
          <p:cNvPr id="4" name=""/>
          <p:cNvSpPr/>
          <p:nvPr/>
        </p:nvSpPr>
        <p:spPr>
          <a:xfrm>
            <a:off x="45720" y="228600"/>
            <a:ext cx="6608064" cy="621792"/>
          </a:xfrm>
          <a:prstGeom prst="rect">
            <a:avLst/>
          </a:prstGeom>
        </p:spPr>
        <p:txBody>
          <a:bodyPr lIns="0" tIns="0" rIns="0" bIns="0">
            <a:noAutofit/>
          </a:bodyPr>
          <a:p>
            <a:pPr indent="0"/>
            <a:r>
              <a:rPr lang="en-US" i="1" sz="950">
                <a:latin typeface="Arial"/>
              </a:rPr>
              <a:t># Write the code here</a:t>
            </a:r>
          </a:p>
          <a:p>
            <a:pPr indent="0"/>
            <a:r>
              <a:rPr lang="en-US" i="1" sz="950">
                <a:latin typeface="Arial"/>
              </a:rPr>
              <a:t>#Get the counts of each customer_id</a:t>
            </a:r>
          </a:p>
          <a:p>
            <a:pPr indent="0">
              <a:lnSpc>
                <a:spcPts val="1440"/>
              </a:lnSpc>
            </a:pPr>
            <a:r>
              <a:rPr lang="en-US" b="1" sz="850">
                <a:latin typeface="Arial"/>
              </a:rPr>
              <a:t>df['customer_id'].value_counts().head(3) </a:t>
            </a:r>
            <a:r>
              <a:rPr lang="en-US" i="1" sz="950">
                <a:latin typeface="Arial"/>
              </a:rPr>
              <a:t>## Write the appropriate column name to get the top 5 cmost frequent customers </a:t>
            </a:r>
            <a:r>
              <a:rPr lang="en-US" b="1" sz="850">
                <a:latin typeface="Arial"/>
              </a:rPr>
              <a:t>Out[35]:</a:t>
            </a:r>
          </a:p>
        </p:txBody>
      </p:sp>
      <p:graphicFrame>
        <p:nvGraphicFramePr>
          <p:cNvPr id="5" name=""/>
          <p:cNvGraphicFramePr>
            <a:graphicFrameLocks noGrp="1"/>
          </p:cNvGraphicFramePr>
          <p:nvPr/>
        </p:nvGraphicFramePr>
        <p:xfrm>
          <a:off x="106680" y="914400"/>
          <a:ext cx="1207008" cy="1188720"/>
        </p:xfrm>
        <a:graphic>
          <a:graphicData uri="http://schemas.openxmlformats.org/drawingml/2006/table">
            <a:tbl>
              <a:tblPr/>
              <a:tblGrid>
                <a:gridCol w="804672"/>
                <a:gridCol w="402336"/>
              </a:tblGrid>
              <a:tr h="192024">
                <a:tc>
                  <a:txBody>
                    <a:bodyPr lIns="0" tIns="0" rIns="0" bIns="0">
                      <a:noAutofit/>
                    </a:bodyPr>
                    <a:p>
                      <a:endParaRPr sz="1000"/>
                    </a:p>
                  </a:txBody>
                  <a:tcPr marL="0" marR="0" marT="0" marB="0"/>
                </a:tc>
                <a:tc>
                  <a:txBody>
                    <a:bodyPr lIns="0" tIns="0" rIns="0" bIns="0">
                      <a:noAutofit/>
                    </a:bodyPr>
                    <a:p>
                      <a:pPr algn="r" indent="0"/>
                      <a:r>
                        <a:rPr lang="en-US" b="1" sz="850">
                          <a:latin typeface="Arial"/>
                        </a:rPr>
                        <a:t>count</a:t>
                      </a:r>
                    </a:p>
                  </a:txBody>
                  <a:tcPr marL="0" marR="0" marT="0" marB="0"/>
                </a:tc>
              </a:tr>
              <a:tr h="265176">
                <a:tc>
                  <a:txBody>
                    <a:bodyPr lIns="0" tIns="0" rIns="0" bIns="0">
                      <a:noAutofit/>
                    </a:bodyPr>
                    <a:p>
                      <a:pPr algn="r" indent="0"/>
                      <a:r>
                        <a:rPr lang="en-US" b="1" sz="850">
                          <a:latin typeface="Arial"/>
                        </a:rPr>
                        <a:t>customer_id</a:t>
                      </a:r>
                    </a:p>
                  </a:txBody>
                  <a:tcPr marL="0" marR="0" marT="0" marB="0" anchor="b"/>
                </a:tc>
                <a:tc>
                  <a:txBody>
                    <a:bodyPr lIns="0" tIns="0" rIns="0" bIns="0">
                      <a:noAutofit/>
                    </a:bodyPr>
                    <a:p>
                      <a:endParaRPr sz="1300"/>
                    </a:p>
                  </a:txBody>
                  <a:tcPr marL="0" marR="0" marT="0" marB="0"/>
                </a:tc>
              </a:tr>
              <a:tr h="265176">
                <a:tc>
                  <a:txBody>
                    <a:bodyPr lIns="0" tIns="0" rIns="0" bIns="0">
                      <a:noAutofit/>
                    </a:bodyPr>
                    <a:p>
                      <a:pPr algn="r" indent="0"/>
                      <a:r>
                        <a:rPr lang="en-US" b="1" sz="850">
                          <a:latin typeface="Arial"/>
                        </a:rPr>
                        <a:t>52832</a:t>
                      </a:r>
                    </a:p>
                  </a:txBody>
                  <a:tcPr marL="0" marR="0" marT="0" marB="0" anchor="ctr"/>
                </a:tc>
                <a:tc>
                  <a:txBody>
                    <a:bodyPr lIns="0" tIns="0" rIns="0" bIns="0">
                      <a:noAutofit/>
                    </a:bodyPr>
                    <a:p>
                      <a:pPr algn="r" indent="0"/>
                      <a:r>
                        <a:rPr lang="en-US" b="1" sz="850">
                          <a:latin typeface="Arial"/>
                        </a:rPr>
                        <a:t>13</a:t>
                      </a:r>
                    </a:p>
                  </a:txBody>
                  <a:tcPr marL="0" marR="0" marT="0" marB="0" anchor="ctr"/>
                </a:tc>
              </a:tr>
              <a:tr h="268224">
                <a:tc>
                  <a:txBody>
                    <a:bodyPr lIns="0" tIns="0" rIns="0" bIns="0">
                      <a:noAutofit/>
                    </a:bodyPr>
                    <a:p>
                      <a:pPr algn="r" indent="0"/>
                      <a:r>
                        <a:rPr lang="en-US" b="1" sz="850">
                          <a:latin typeface="Arial"/>
                        </a:rPr>
                        <a:t>47440</a:t>
                      </a:r>
                    </a:p>
                  </a:txBody>
                  <a:tcPr marL="0" marR="0" marT="0" marB="0" anchor="ctr"/>
                </a:tc>
                <a:tc>
                  <a:txBody>
                    <a:bodyPr lIns="0" tIns="0" rIns="0" bIns="0">
                      <a:noAutofit/>
                    </a:bodyPr>
                    <a:p>
                      <a:pPr algn="r" indent="0"/>
                      <a:r>
                        <a:rPr lang="en-US" b="1" sz="950">
                          <a:latin typeface="Arial"/>
                        </a:rPr>
                        <a:t>10</a:t>
                      </a:r>
                    </a:p>
                  </a:txBody>
                  <a:tcPr marL="0" marR="0" marT="0" marB="0" anchor="b"/>
                </a:tc>
              </a:tr>
              <a:tr h="198120">
                <a:tc>
                  <a:txBody>
                    <a:bodyPr lIns="0" tIns="0" rIns="0" bIns="0">
                      <a:noAutofit/>
                    </a:bodyPr>
                    <a:p>
                      <a:pPr algn="r" indent="0"/>
                      <a:r>
                        <a:rPr lang="en-US" b="1" sz="850">
                          <a:latin typeface="Arial"/>
                        </a:rPr>
                        <a:t>83287</a:t>
                      </a:r>
                    </a:p>
                  </a:txBody>
                  <a:tcPr marL="0" marR="0" marT="0" marB="0" anchor="b"/>
                </a:tc>
                <a:tc>
                  <a:txBody>
                    <a:bodyPr lIns="0" tIns="0" rIns="0" bIns="0">
                      <a:noAutofit/>
                    </a:bodyPr>
                    <a:p>
                      <a:pPr algn="r" indent="0"/>
                      <a:r>
                        <a:rPr lang="en-US" b="1" sz="850">
                          <a:latin typeface="Arial"/>
                        </a:rPr>
                        <a:t>9</a:t>
                      </a:r>
                    </a:p>
                  </a:txBody>
                  <a:tcPr marL="0" marR="0" marT="0" marB="0" anchor="b"/>
                </a:tc>
              </a:tr>
            </a:tbl>
          </a:graphicData>
        </a:graphic>
      </p:graphicFrame>
      <p:sp>
        <p:nvSpPr>
          <p:cNvPr id="6" name=""/>
          <p:cNvSpPr/>
          <p:nvPr/>
        </p:nvSpPr>
        <p:spPr>
          <a:xfrm>
            <a:off x="45720" y="2447544"/>
            <a:ext cx="2630424" cy="816864"/>
          </a:xfrm>
          <a:prstGeom prst="rect">
            <a:avLst/>
          </a:prstGeom>
        </p:spPr>
        <p:txBody>
          <a:bodyPr lIns="0" tIns="0" rIns="0" bIns="0">
            <a:noAutofit/>
          </a:bodyPr>
          <a:p>
            <a:pPr indent="0">
              <a:spcBef>
                <a:spcPts val="1890"/>
              </a:spcBef>
              <a:spcAft>
                <a:spcPts val="1050"/>
              </a:spcAft>
            </a:pPr>
            <a:r>
              <a:rPr lang="en-US" b="1" sz="850">
                <a:latin typeface="Arial"/>
              </a:rPr>
              <a:t>dtype: int64</a:t>
            </a:r>
          </a:p>
          <a:p>
            <a:pPr indent="0">
              <a:lnSpc>
                <a:spcPts val="2784"/>
              </a:lnSpc>
            </a:pPr>
            <a:r>
              <a:rPr lang="en-US" b="1" sz="850">
                <a:latin typeface="Arial"/>
              </a:rPr>
              <a:t>Observations: Above are top 3 customer ID's</a:t>
            </a:r>
          </a:p>
          <a:p>
            <a:pPr indent="0">
              <a:lnSpc>
                <a:spcPts val="2784"/>
              </a:lnSpc>
            </a:pPr>
            <a:r>
              <a:rPr lang="en-US" b="1" sz="1100">
                <a:latin typeface="Arial"/>
              </a:rPr>
              <a:t>Multivariate Analysis</a:t>
            </a:r>
          </a:p>
        </p:txBody>
      </p:sp>
      <p:sp>
        <p:nvSpPr>
          <p:cNvPr id="7" name=""/>
          <p:cNvSpPr/>
          <p:nvPr/>
        </p:nvSpPr>
        <p:spPr>
          <a:xfrm>
            <a:off x="45720" y="3471672"/>
            <a:ext cx="7168896" cy="1475232"/>
          </a:xfrm>
          <a:prstGeom prst="rect">
            <a:avLst/>
          </a:prstGeom>
        </p:spPr>
        <p:txBody>
          <a:bodyPr lIns="0" tIns="0" rIns="0" bIns="0">
            <a:noAutofit/>
          </a:bodyPr>
          <a:p>
            <a:pPr indent="0">
              <a:lnSpc>
                <a:spcPts val="1368"/>
              </a:lnSpc>
            </a:pPr>
            <a:r>
              <a:rPr lang="en-US" b="1" sz="1100">
                <a:latin typeface="Arial"/>
              </a:rPr>
              <a:t>Question 12: Perform a multivariate analysis to explore relationships between the important variables in the dataset. (It is a good idea to explore relations between numerical variables as well as relations between numerical and categorical variables) [10 marks]</a:t>
            </a:r>
          </a:p>
          <a:p>
            <a:pPr indent="0">
              <a:lnSpc>
                <a:spcPts val="1128"/>
              </a:lnSpc>
            </a:pPr>
            <a:r>
              <a:rPr lang="en-US" b="1" sz="850">
                <a:latin typeface="Arial"/>
              </a:rPr>
              <a:t>In [</a:t>
            </a:r>
            <a:r>
              <a:rPr lang="en-US" b="1" sz="950">
                <a:latin typeface="Arial"/>
              </a:rPr>
              <a:t>6</a:t>
            </a:r>
            <a:r>
              <a:rPr lang="en-US" b="1" sz="850">
                <a:latin typeface="Arial"/>
              </a:rPr>
              <a:t>]:</a:t>
            </a:r>
          </a:p>
          <a:p>
            <a:pPr indent="0">
              <a:lnSpc>
                <a:spcPts val="1128"/>
              </a:lnSpc>
            </a:pPr>
            <a:r>
              <a:rPr lang="en-US" i="1" sz="950">
                <a:latin typeface="Arial"/>
              </a:rPr>
              <a:t># Write the code# Relationship between cost of the order and cuisine type </a:t>
            </a:r>
            <a:r>
              <a:rPr lang="en-US" b="1" sz="850">
                <a:latin typeface="Arial"/>
              </a:rPr>
              <a:t>plt.figure(figsize=(15,7))</a:t>
            </a:r>
          </a:p>
          <a:p>
            <a:pPr indent="0">
              <a:lnSpc>
                <a:spcPts val="1128"/>
              </a:lnSpc>
            </a:pPr>
            <a:r>
              <a:rPr lang="en-US" b="1" sz="850">
                <a:latin typeface="Arial"/>
              </a:rPr>
              <a:t>sns.boxplot(x = "cuisine_type", y = "cost_of_the_order", data = df, palette = 'PuBu', hue = "cuisine_type")</a:t>
            </a:r>
          </a:p>
          <a:p>
            <a:pPr indent="0">
              <a:lnSpc>
                <a:spcPts val="1128"/>
              </a:lnSpc>
            </a:pPr>
            <a:r>
              <a:rPr lang="en-US" b="1" sz="850">
                <a:latin typeface="Arial"/>
              </a:rPr>
              <a:t>plt.xticks(rotation = 60)</a:t>
            </a:r>
          </a:p>
          <a:p>
            <a:pPr indent="0">
              <a:lnSpc>
                <a:spcPts val="1128"/>
              </a:lnSpc>
            </a:pPr>
            <a:r>
              <a:rPr lang="en-US" b="1" sz="850">
                <a:latin typeface="Arial"/>
              </a:rPr>
              <a:t>plt.show()</a:t>
            </a:r>
          </a:p>
        </p:txBody>
      </p:sp>
      <p:sp>
        <p:nvSpPr>
          <p:cNvPr id="8" name=""/>
          <p:cNvSpPr/>
          <p:nvPr/>
        </p:nvSpPr>
        <p:spPr>
          <a:xfrm>
            <a:off x="54864" y="9153144"/>
            <a:ext cx="323088" cy="149352"/>
          </a:xfrm>
          <a:prstGeom prst="rect">
            <a:avLst/>
          </a:prstGeom>
        </p:spPr>
        <p:txBody>
          <a:bodyPr lIns="0" tIns="0" rIns="0" bIns="0" wrap="none">
            <a:noAutofit/>
          </a:bodyPr>
          <a:p>
            <a:pPr indent="0"/>
            <a:r>
              <a:rPr lang="en-US" b="1" sz="850">
                <a:latin typeface="Arial"/>
              </a:rPr>
              <a:t>In [7]:</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121920" y="6470904"/>
            <a:ext cx="7278624" cy="3389376"/>
          </a:xfrm>
          <a:prstGeom prst="rect">
            <a:avLst/>
          </a:prstGeom>
        </p:spPr>
      </p:pic>
      <p:sp>
        <p:nvSpPr>
          <p:cNvPr id="3" name=""/>
          <p:cNvSpPr/>
          <p:nvPr/>
        </p:nvSpPr>
        <p:spPr>
          <a:xfrm>
            <a:off x="45720" y="0"/>
            <a:ext cx="5839968" cy="5867400"/>
          </a:xfrm>
          <a:prstGeom prst="rect">
            <a:avLst/>
          </a:prstGeom>
        </p:spPr>
        <p:txBody>
          <a:bodyPr lIns="0" tIns="0" rIns="0" bIns="0">
            <a:noAutofit/>
          </a:bodyPr>
          <a:p>
            <a:pPr algn="just" indent="0">
              <a:spcAft>
                <a:spcPts val="420"/>
              </a:spcAft>
            </a:pPr>
            <a:r>
              <a:rPr lang="en-US" i="1" sz="950">
                <a:latin typeface="Arial"/>
              </a:rPr>
              <a:t>#    Group by cuisine type and calculate average order cost</a:t>
            </a:r>
          </a:p>
          <a:p>
            <a:pPr indent="0">
              <a:lnSpc>
                <a:spcPts val="2280"/>
              </a:lnSpc>
            </a:pPr>
            <a:r>
              <a:rPr lang="en-US" sz="950">
                <a:latin typeface="Arial"/>
              </a:rPr>
              <a:t>avg_cost_by_cuisine </a:t>
            </a:r>
            <a:r>
              <a:rPr lang="en-US" b="1" sz="850">
                <a:latin typeface="Arial"/>
              </a:rPr>
              <a:t>= </a:t>
            </a:r>
            <a:r>
              <a:rPr lang="en-US" sz="950">
                <a:latin typeface="Arial"/>
              </a:rPr>
              <a:t>df</a:t>
            </a:r>
            <a:r>
              <a:rPr lang="en-US" b="1" sz="850">
                <a:latin typeface="Arial"/>
              </a:rPr>
              <a:t>.</a:t>
            </a:r>
            <a:r>
              <a:rPr lang="en-US" sz="950">
                <a:latin typeface="Arial"/>
              </a:rPr>
              <a:t>groupby('cuisine_type')['cost_of_the_order']</a:t>
            </a:r>
            <a:r>
              <a:rPr lang="en-US" b="1" sz="850">
                <a:latin typeface="Arial"/>
              </a:rPr>
              <a:t>.</a:t>
            </a:r>
            <a:r>
              <a:rPr lang="en-US" sz="950">
                <a:latin typeface="Arial"/>
              </a:rPr>
              <a:t>meanO</a:t>
            </a:r>
            <a:r>
              <a:rPr lang="en-US" b="1" sz="850">
                <a:latin typeface="Arial"/>
              </a:rPr>
              <a:t>-</a:t>
            </a:r>
            <a:r>
              <a:rPr lang="en-US" sz="950">
                <a:latin typeface="Arial"/>
              </a:rPr>
              <a:t>sort_values(ascending</a:t>
            </a:r>
            <a:r>
              <a:rPr lang="en-US" b="1" sz="850">
                <a:latin typeface="Arial"/>
              </a:rPr>
              <a:t>=False</a:t>
            </a:r>
            <a:r>
              <a:rPr lang="en-US" sz="950">
                <a:latin typeface="Arial"/>
              </a:rPr>
              <a:t>) print</a:t>
            </a:r>
            <a:r>
              <a:rPr lang="en-US" sz="1000">
                <a:latin typeface="SimSun"/>
              </a:rPr>
              <a:t>f</a:t>
            </a:r>
            <a:r>
              <a:rPr lang="en-US" sz="950">
                <a:latin typeface="Arial"/>
              </a:rPr>
              <a:t>Average cost per cuisine</a:t>
            </a:r>
            <a:r>
              <a:rPr lang="en-US" sz="1000">
                <a:latin typeface="SimSun"/>
              </a:rPr>
              <a:t>A</a:t>
            </a:r>
            <a:r>
              <a:rPr lang="en-US" sz="950">
                <a:latin typeface="Arial"/>
              </a:rPr>
              <a:t>n", avg_cost_by_cuisine)</a:t>
            </a:r>
          </a:p>
          <a:p>
            <a:pPr marR="2949956" indent="0">
              <a:lnSpc>
                <a:spcPts val="1128"/>
              </a:lnSpc>
              <a:spcAft>
                <a:spcPts val="630"/>
              </a:spcAft>
            </a:pPr>
            <a:r>
              <a:rPr lang="en-US" i="1" sz="950">
                <a:latin typeface="Arial"/>
              </a:rPr>
              <a:t>#    Find the most expensive and cheapest cuisines </a:t>
            </a:r>
            <a:r>
              <a:rPr lang="en-US" sz="950">
                <a:latin typeface="Arial"/>
              </a:rPr>
              <a:t>most_expensive </a:t>
            </a:r>
            <a:r>
              <a:rPr lang="en-US" b="1" sz="850">
                <a:latin typeface="Arial"/>
              </a:rPr>
              <a:t>= </a:t>
            </a:r>
            <a:r>
              <a:rPr lang="en-US" sz="950">
                <a:latin typeface="Arial"/>
              </a:rPr>
              <a:t>avg_cost_by_cuisine</a:t>
            </a:r>
            <a:r>
              <a:rPr lang="en-US" b="1" sz="850">
                <a:latin typeface="Arial"/>
              </a:rPr>
              <a:t>.</a:t>
            </a:r>
            <a:r>
              <a:rPr lang="en-US" sz="950">
                <a:latin typeface="Arial"/>
              </a:rPr>
              <a:t>head(1) cheapest </a:t>
            </a:r>
            <a:r>
              <a:rPr lang="en-US" b="1" sz="850">
                <a:latin typeface="Arial"/>
              </a:rPr>
              <a:t>= </a:t>
            </a:r>
            <a:r>
              <a:rPr lang="en-US" sz="950">
                <a:latin typeface="Arial"/>
              </a:rPr>
              <a:t>avg_cost_by_cuisine</a:t>
            </a:r>
            <a:r>
              <a:rPr lang="en-US" b="1" sz="850">
                <a:latin typeface="Arial"/>
              </a:rPr>
              <a:t>.</a:t>
            </a:r>
            <a:r>
              <a:rPr lang="en-US" sz="950">
                <a:latin typeface="Arial"/>
              </a:rPr>
              <a:t>tail(1)</a:t>
            </a:r>
          </a:p>
          <a:p>
            <a:pPr marR="2949956" indent="0">
              <a:lnSpc>
                <a:spcPts val="1152"/>
              </a:lnSpc>
              <a:spcAft>
                <a:spcPts val="420"/>
              </a:spcAft>
            </a:pPr>
            <a:r>
              <a:rPr lang="en-US" sz="950">
                <a:latin typeface="Arial"/>
              </a:rPr>
              <a:t>print('’\nMost Expensive Cuisine</a:t>
            </a:r>
            <a:r>
              <a:rPr lang="en-US" sz="1000">
                <a:latin typeface="SimSun"/>
              </a:rPr>
              <a:t>A</a:t>
            </a:r>
            <a:r>
              <a:rPr lang="en-US" sz="950">
                <a:latin typeface="Arial"/>
              </a:rPr>
              <a:t>n", most_expensive) print('’\nCheapest Cuisine</a:t>
            </a:r>
            <a:r>
              <a:rPr lang="en-US" sz="1000">
                <a:latin typeface="SimSun"/>
              </a:rPr>
              <a:t>A</a:t>
            </a:r>
            <a:r>
              <a:rPr lang="en-US" sz="950">
                <a:latin typeface="Arial"/>
              </a:rPr>
              <a:t>n", cheapest)</a:t>
            </a:r>
          </a:p>
          <a:p>
            <a:pPr marR="4702556" indent="0">
              <a:lnSpc>
                <a:spcPts val="960"/>
              </a:lnSpc>
            </a:pPr>
            <a:r>
              <a:rPr lang="en-US" sz="750">
                <a:latin typeface="Arial"/>
              </a:rPr>
              <a:t>Average cost per cuisine: cuisine_type</a:t>
            </a:r>
          </a:p>
          <a:p>
            <a:pPr algn="just" indent="0">
              <a:lnSpc>
                <a:spcPts val="960"/>
              </a:lnSpc>
            </a:pPr>
            <a:r>
              <a:rPr lang="en-US" sz="750">
                <a:latin typeface="Arial"/>
              </a:rPr>
              <a:t>French    19.793889</a:t>
            </a:r>
          </a:p>
          <a:p>
            <a:pPr algn="just" indent="0">
              <a:lnSpc>
                <a:spcPts val="960"/>
              </a:lnSpc>
            </a:pPr>
            <a:r>
              <a:rPr lang="en-US" sz="750">
                <a:latin typeface="Arial"/>
              </a:rPr>
              <a:t>Southern    19.300588</a:t>
            </a:r>
          </a:p>
          <a:p>
            <a:pPr algn="just" indent="0">
              <a:lnSpc>
                <a:spcPts val="960"/>
              </a:lnSpc>
            </a:pPr>
            <a:r>
              <a:rPr lang="en-US" sz="750">
                <a:latin typeface="Arial"/>
              </a:rPr>
              <a:t>Thai    19.207895</a:t>
            </a:r>
          </a:p>
          <a:p>
            <a:pPr algn="just" indent="0">
              <a:lnSpc>
                <a:spcPts val="960"/>
              </a:lnSpc>
            </a:pPr>
            <a:r>
              <a:rPr lang="en-US" sz="750">
                <a:latin typeface="Arial"/>
              </a:rPr>
              <a:t>Spanish    18.994167</a:t>
            </a:r>
          </a:p>
          <a:p>
            <a:pPr algn="just" indent="0">
              <a:lnSpc>
                <a:spcPts val="960"/>
              </a:lnSpc>
            </a:pPr>
            <a:r>
              <a:rPr lang="en-US" sz="750">
                <a:latin typeface="Arial"/>
              </a:rPr>
              <a:t>Middle Eastern 18.820612</a:t>
            </a:r>
          </a:p>
          <a:p>
            <a:pPr algn="just" indent="0">
              <a:lnSpc>
                <a:spcPts val="960"/>
              </a:lnSpc>
            </a:pPr>
            <a:r>
              <a:rPr lang="en-US" sz="750">
                <a:latin typeface="Arial"/>
              </a:rPr>
              <a:t>Mexican    16.933117</a:t>
            </a:r>
          </a:p>
          <a:p>
            <a:pPr algn="just" indent="0">
              <a:lnSpc>
                <a:spcPts val="960"/>
              </a:lnSpc>
            </a:pPr>
            <a:r>
              <a:rPr lang="en-US" sz="750">
                <a:latin typeface="Arial"/>
              </a:rPr>
              <a:t>Indian 16.919726</a:t>
            </a:r>
          </a:p>
          <a:p>
            <a:pPr algn="just" indent="0">
              <a:lnSpc>
                <a:spcPts val="960"/>
              </a:lnSpc>
            </a:pPr>
            <a:r>
              <a:rPr lang="en-US" sz="750">
                <a:latin typeface="Arial"/>
              </a:rPr>
              <a:t>Italian    16.418691</a:t>
            </a:r>
          </a:p>
          <a:p>
            <a:pPr algn="just" indent="0">
              <a:lnSpc>
                <a:spcPts val="960"/>
              </a:lnSpc>
            </a:pPr>
            <a:r>
              <a:rPr lang="en-US" sz="750">
                <a:latin typeface="Arial"/>
              </a:rPr>
              <a:t>American    16.319829</a:t>
            </a:r>
          </a:p>
          <a:p>
            <a:pPr algn="just" indent="0">
              <a:lnSpc>
                <a:spcPts val="960"/>
              </a:lnSpc>
            </a:pPr>
            <a:r>
              <a:rPr lang="en-US" sz="750">
                <a:latin typeface="Arial"/>
              </a:rPr>
              <a:t>Chinese    16.305209</a:t>
            </a:r>
          </a:p>
          <a:p>
            <a:pPr algn="just" indent="0">
              <a:lnSpc>
                <a:spcPts val="960"/>
              </a:lnSpc>
            </a:pPr>
            <a:r>
              <a:rPr lang="en-US" sz="750">
                <a:latin typeface="Arial"/>
              </a:rPr>
              <a:t>Japanese    16.304532</a:t>
            </a:r>
          </a:p>
          <a:p>
            <a:pPr algn="just" indent="0">
              <a:lnSpc>
                <a:spcPts val="960"/>
              </a:lnSpc>
            </a:pPr>
            <a:r>
              <a:rPr lang="en-US" sz="750">
                <a:latin typeface="Arial"/>
              </a:rPr>
              <a:t>Mediterranean 15.474783</a:t>
            </a:r>
          </a:p>
          <a:p>
            <a:pPr algn="just" indent="0">
              <a:lnSpc>
                <a:spcPts val="960"/>
              </a:lnSpc>
            </a:pPr>
            <a:r>
              <a:rPr lang="en-US" sz="750">
                <a:latin typeface="Arial"/>
              </a:rPr>
              <a:t>Korean    14.001538</a:t>
            </a:r>
          </a:p>
          <a:p>
            <a:pPr algn="just" indent="0">
              <a:lnSpc>
                <a:spcPts val="960"/>
              </a:lnSpc>
            </a:pPr>
            <a:r>
              <a:rPr lang="en-US" sz="750">
                <a:latin typeface="Arial"/>
              </a:rPr>
              <a:t>Vietnamese 12.882857</a:t>
            </a:r>
          </a:p>
          <a:p>
            <a:pPr algn="just" indent="0">
              <a:lnSpc>
                <a:spcPts val="960"/>
              </a:lnSpc>
              <a:spcAft>
                <a:spcPts val="630"/>
              </a:spcAft>
            </a:pPr>
            <a:r>
              <a:rPr lang="en-US" sz="750">
                <a:latin typeface="Arial"/>
              </a:rPr>
              <a:t>Name: cost_of_the_order, dtype: float64</a:t>
            </a:r>
          </a:p>
          <a:p>
            <a:pPr marR="4702556" indent="0">
              <a:lnSpc>
                <a:spcPts val="960"/>
              </a:lnSpc>
            </a:pPr>
            <a:r>
              <a:rPr lang="en-US" sz="750">
                <a:latin typeface="Arial"/>
              </a:rPr>
              <a:t>Most Expensive Cuisine: cuisine_type French 19.793889</a:t>
            </a:r>
          </a:p>
          <a:p>
            <a:pPr algn="just" indent="0">
              <a:lnSpc>
                <a:spcPts val="960"/>
              </a:lnSpc>
              <a:spcAft>
                <a:spcPts val="630"/>
              </a:spcAft>
            </a:pPr>
            <a:r>
              <a:rPr lang="en-US" sz="750">
                <a:latin typeface="Arial"/>
              </a:rPr>
              <a:t>Name: cost_of_the_order, dtype: float64</a:t>
            </a:r>
          </a:p>
          <a:p>
            <a:pPr marR="4702556" indent="0">
              <a:lnSpc>
                <a:spcPts val="960"/>
              </a:lnSpc>
            </a:pPr>
            <a:r>
              <a:rPr lang="en-US" sz="750">
                <a:latin typeface="Arial"/>
              </a:rPr>
              <a:t>Cheapest Cuisine: cuisine_type</a:t>
            </a:r>
          </a:p>
          <a:p>
            <a:pPr algn="just" indent="0">
              <a:lnSpc>
                <a:spcPts val="960"/>
              </a:lnSpc>
            </a:pPr>
            <a:r>
              <a:rPr lang="en-US" sz="750">
                <a:latin typeface="Arial"/>
              </a:rPr>
              <a:t>Vietnamese    12.882857</a:t>
            </a:r>
          </a:p>
          <a:p>
            <a:pPr algn="just" indent="0">
              <a:lnSpc>
                <a:spcPts val="960"/>
              </a:lnSpc>
            </a:pPr>
            <a:r>
              <a:rPr lang="en-US" sz="750">
                <a:latin typeface="Arial"/>
              </a:rPr>
              <a:t>Name: cost_of_the_order, dtype: float64</a:t>
            </a:r>
          </a:p>
          <a:p>
            <a:pPr algn="just" indent="0">
              <a:lnSpc>
                <a:spcPts val="1128"/>
              </a:lnSpc>
            </a:pPr>
            <a:r>
              <a:rPr lang="en-US" sz="950">
                <a:latin typeface="Arial"/>
              </a:rPr>
              <a:t>In [39]:</a:t>
            </a:r>
          </a:p>
          <a:p>
            <a:pPr marR="2454656" indent="0">
              <a:lnSpc>
                <a:spcPts val="1128"/>
              </a:lnSpc>
            </a:pPr>
            <a:r>
              <a:rPr lang="en-US" i="1" sz="950">
                <a:latin typeface="Arial"/>
              </a:rPr>
              <a:t>#    Relationship between food preparation time and cuisine type </a:t>
            </a:r>
            <a:r>
              <a:rPr lang="en-US" sz="950">
                <a:latin typeface="Arial"/>
              </a:rPr>
              <a:t>plt</a:t>
            </a:r>
            <a:r>
              <a:rPr lang="en-US" b="1" sz="850">
                <a:latin typeface="Arial"/>
              </a:rPr>
              <a:t>.</a:t>
            </a:r>
            <a:r>
              <a:rPr lang="en-US" sz="950">
                <a:latin typeface="Arial"/>
              </a:rPr>
              <a:t>figure(figsize</a:t>
            </a:r>
            <a:r>
              <a:rPr lang="en-US" b="1" sz="850">
                <a:latin typeface="Arial"/>
              </a:rPr>
              <a:t>=</a:t>
            </a:r>
            <a:r>
              <a:rPr lang="en-US" sz="950">
                <a:latin typeface="Arial"/>
              </a:rPr>
              <a:t>(15,7))</a:t>
            </a:r>
          </a:p>
          <a:p>
            <a:pPr algn="just" indent="0">
              <a:lnSpc>
                <a:spcPts val="1128"/>
              </a:lnSpc>
            </a:pPr>
            <a:r>
              <a:rPr lang="en-US" sz="950">
                <a:latin typeface="Arial"/>
              </a:rPr>
              <a:t>sns</a:t>
            </a:r>
            <a:r>
              <a:rPr lang="en-US" b="1" sz="850">
                <a:latin typeface="Arial"/>
              </a:rPr>
              <a:t>.</a:t>
            </a:r>
            <a:r>
              <a:rPr lang="en-US" sz="950">
                <a:latin typeface="Arial"/>
              </a:rPr>
              <a:t>boxplot(x</a:t>
            </a:r>
            <a:r>
              <a:rPr lang="en-US" b="1" sz="850">
                <a:latin typeface="Arial"/>
              </a:rPr>
              <a:t>=</a:t>
            </a:r>
            <a:r>
              <a:rPr lang="en-US" sz="950">
                <a:latin typeface="Arial"/>
              </a:rPr>
              <a:t>'cuisine_type', y</a:t>
            </a:r>
            <a:r>
              <a:rPr lang="en-US" b="1" sz="850">
                <a:latin typeface="Arial"/>
              </a:rPr>
              <a:t>=</a:t>
            </a:r>
            <a:r>
              <a:rPr lang="en-US" sz="950">
                <a:latin typeface="Arial"/>
              </a:rPr>
              <a:t>'food_preparation_time', data</a:t>
            </a:r>
            <a:r>
              <a:rPr lang="en-US" b="1" sz="850">
                <a:latin typeface="Arial"/>
              </a:rPr>
              <a:t>=</a:t>
            </a:r>
            <a:r>
              <a:rPr lang="en-US" sz="950">
                <a:latin typeface="Arial"/>
              </a:rPr>
              <a:t>df)</a:t>
            </a:r>
          </a:p>
          <a:p>
            <a:pPr algn="just" indent="0">
              <a:lnSpc>
                <a:spcPts val="1128"/>
              </a:lnSpc>
            </a:pPr>
            <a:r>
              <a:rPr lang="en-US" sz="950">
                <a:latin typeface="Arial"/>
              </a:rPr>
              <a:t>plt</a:t>
            </a:r>
            <a:r>
              <a:rPr lang="en-US" b="1" sz="850">
                <a:latin typeface="Arial"/>
              </a:rPr>
              <a:t>.</a:t>
            </a:r>
            <a:r>
              <a:rPr lang="en-US" sz="950">
                <a:latin typeface="Arial"/>
              </a:rPr>
              <a:t>xticks(rotation </a:t>
            </a:r>
            <a:r>
              <a:rPr lang="en-US" b="1" sz="850">
                <a:latin typeface="Arial"/>
              </a:rPr>
              <a:t>= </a:t>
            </a:r>
            <a:r>
              <a:rPr lang="en-US" sz="950">
                <a:latin typeface="Arial"/>
              </a:rPr>
              <a:t>60)</a:t>
            </a:r>
          </a:p>
          <a:p>
            <a:pPr algn="just" indent="0">
              <a:lnSpc>
                <a:spcPts val="1128"/>
              </a:lnSpc>
              <a:spcAft>
                <a:spcPts val="2310"/>
              </a:spcAft>
            </a:pPr>
            <a:r>
              <a:rPr lang="en-US" sz="950">
                <a:latin typeface="Arial"/>
              </a:rPr>
              <a:t>plt</a:t>
            </a:r>
            <a:r>
              <a:rPr lang="en-US" b="1" sz="850">
                <a:latin typeface="Arial"/>
              </a:rPr>
              <a:t>.</a:t>
            </a:r>
            <a:r>
              <a:rPr lang="en-US" sz="950">
                <a:latin typeface="Arial"/>
              </a:rPr>
              <a:t>show()</a:t>
            </a:r>
          </a:p>
        </p:txBody>
      </p:sp>
      <p:sp>
        <p:nvSpPr>
          <p:cNvPr id="4" name=""/>
          <p:cNvSpPr/>
          <p:nvPr/>
        </p:nvSpPr>
        <p:spPr>
          <a:xfrm>
            <a:off x="231648" y="6269736"/>
            <a:ext cx="124968" cy="97536"/>
          </a:xfrm>
          <a:prstGeom prst="rect">
            <a:avLst/>
          </a:prstGeom>
        </p:spPr>
        <p:txBody>
          <a:bodyPr lIns="0" tIns="0" rIns="0" bIns="0" wrap="none">
            <a:noAutofit/>
          </a:bodyPr>
          <a:p>
            <a:pPr indent="0"/>
            <a:r>
              <a:rPr lang="en-US" sz="700">
                <a:latin typeface="Calibri"/>
              </a:rPr>
              <a:t>34</a:t>
            </a:r>
          </a:p>
        </p:txBody>
      </p:sp>
      <p:sp>
        <p:nvSpPr>
          <p:cNvPr id="5" name=""/>
          <p:cNvSpPr/>
          <p:nvPr/>
        </p:nvSpPr>
        <p:spPr>
          <a:xfrm>
            <a:off x="3651504" y="9881616"/>
            <a:ext cx="545592" cy="118872"/>
          </a:xfrm>
          <a:prstGeom prst="rect">
            <a:avLst/>
          </a:prstGeom>
        </p:spPr>
        <p:txBody>
          <a:bodyPr lIns="0" tIns="0" rIns="0" bIns="0" wrap="none">
            <a:noAutofit/>
          </a:bodyPr>
          <a:p>
            <a:pPr indent="0"/>
            <a:r>
              <a:rPr lang="en-US" b="1" sz="650">
                <a:solidFill>
                  <a:srgbClr val="3F3F3F"/>
                </a:solidFill>
                <a:latin typeface="Arial"/>
              </a:rPr>
              <a:t>cuisine type</a:t>
            </a:r>
          </a:p>
        </p:txBody>
      </p:sp>
      <p:sp>
        <p:nvSpPr>
          <p:cNvPr id="6" name=""/>
          <p:cNvSpPr/>
          <p:nvPr/>
        </p:nvSpPr>
        <p:spPr>
          <a:xfrm>
            <a:off x="54864" y="10076688"/>
            <a:ext cx="390144" cy="149352"/>
          </a:xfrm>
          <a:prstGeom prst="rect">
            <a:avLst/>
          </a:prstGeom>
        </p:spPr>
        <p:txBody>
          <a:bodyPr lIns="0" tIns="0" rIns="0" bIns="0" wrap="none">
            <a:noAutofit/>
          </a:bodyPr>
          <a:p>
            <a:pPr algn="just" indent="0">
              <a:spcBef>
                <a:spcPts val="420"/>
              </a:spcBef>
            </a:pPr>
            <a:r>
              <a:rPr lang="en-US" sz="950">
                <a:latin typeface="Arial"/>
              </a:rPr>
              <a:t>In [11]:</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4309872" y="4754880"/>
            <a:ext cx="2801112" cy="816864"/>
          </a:xfrm>
          <a:prstGeom prst="rect">
            <a:avLst/>
          </a:prstGeom>
        </p:spPr>
      </p:pic>
      <p:sp>
        <p:nvSpPr>
          <p:cNvPr id="3" name=""/>
          <p:cNvSpPr/>
          <p:nvPr/>
        </p:nvSpPr>
        <p:spPr>
          <a:xfrm>
            <a:off x="48768" y="0"/>
            <a:ext cx="4005072" cy="996696"/>
          </a:xfrm>
          <a:prstGeom prst="rect">
            <a:avLst/>
          </a:prstGeom>
        </p:spPr>
        <p:txBody>
          <a:bodyPr lIns="0" tIns="0" rIns="0" bIns="0">
            <a:noAutofit/>
          </a:bodyPr>
          <a:p>
            <a:pPr indent="0">
              <a:lnSpc>
                <a:spcPts val="1128"/>
              </a:lnSpc>
            </a:pPr>
            <a:r>
              <a:rPr lang="en-US" i="1" sz="950">
                <a:latin typeface="Arial"/>
              </a:rPr>
              <a:t># Group by cuisine and calculate min, avg, max preparation time </a:t>
            </a:r>
            <a:r>
              <a:rPr lang="en-US" b="1" sz="850">
                <a:latin typeface="Arial"/>
              </a:rPr>
              <a:t>prep_time_stats = df.groupby('cuisine_type')['food_preparation_time'].agg( min_time='min', avg_time='mean', median='median', max_time='max'</a:t>
            </a:r>
          </a:p>
          <a:p>
            <a:pPr indent="0">
              <a:lnSpc>
                <a:spcPts val="1128"/>
              </a:lnSpc>
            </a:pPr>
            <a:r>
              <a:rPr lang="en-US" b="1" sz="850">
                <a:latin typeface="Arial"/>
              </a:rPr>
              <a:t>).sort_values(by='median', ascending=False)</a:t>
            </a:r>
          </a:p>
        </p:txBody>
      </p:sp>
      <p:sp>
        <p:nvSpPr>
          <p:cNvPr id="4" name=""/>
          <p:cNvSpPr/>
          <p:nvPr/>
        </p:nvSpPr>
        <p:spPr>
          <a:xfrm>
            <a:off x="48768" y="1170432"/>
            <a:ext cx="4005072" cy="316992"/>
          </a:xfrm>
          <a:prstGeom prst="rect">
            <a:avLst/>
          </a:prstGeom>
        </p:spPr>
        <p:txBody>
          <a:bodyPr lIns="0" tIns="0" rIns="0" bIns="0">
            <a:noAutofit/>
          </a:bodyPr>
          <a:p>
            <a:pPr indent="0">
              <a:spcAft>
                <a:spcPts val="420"/>
              </a:spcAft>
            </a:pPr>
            <a:r>
              <a:rPr lang="en-US" b="1" sz="850">
                <a:latin typeface="Arial"/>
              </a:rPr>
              <a:t>print(prep_time_stats)</a:t>
            </a:r>
          </a:p>
          <a:p>
            <a:pPr marL="457200" indent="0"/>
            <a:r>
              <a:rPr lang="en-US" sz="750">
                <a:latin typeface="Arial"/>
              </a:rPr>
              <a:t>min_time avg_time median max_time</a:t>
            </a:r>
          </a:p>
        </p:txBody>
      </p:sp>
      <p:graphicFrame>
        <p:nvGraphicFramePr>
          <p:cNvPr id="5" name=""/>
          <p:cNvGraphicFramePr>
            <a:graphicFrameLocks noGrp="1"/>
          </p:cNvGraphicFramePr>
          <p:nvPr/>
        </p:nvGraphicFramePr>
        <p:xfrm>
          <a:off x="45720" y="1484376"/>
          <a:ext cx="2182368" cy="1972056"/>
        </p:xfrm>
        <a:graphic>
          <a:graphicData uri="http://schemas.openxmlformats.org/drawingml/2006/table">
            <a:tbl>
              <a:tblPr/>
              <a:tblGrid>
                <a:gridCol w="679704"/>
                <a:gridCol w="783336"/>
                <a:gridCol w="377952"/>
                <a:gridCol w="341376"/>
              </a:tblGrid>
              <a:tr h="115824">
                <a:tc>
                  <a:txBody>
                    <a:bodyPr lIns="0" tIns="0" rIns="0" bIns="0">
                      <a:noAutofit/>
                    </a:bodyPr>
                    <a:p>
                      <a:pPr indent="0"/>
                      <a:r>
                        <a:rPr lang="en-US" sz="750">
                          <a:latin typeface="Arial"/>
                        </a:rPr>
                        <a:t>cuisine_type</a:t>
                      </a:r>
                    </a:p>
                  </a:txBody>
                  <a:tcPr marL="0" marR="0" marT="0" marB="0" anchor="b"/>
                </a:tc>
                <a:tc>
                  <a:txBody>
                    <a:bodyPr lIns="0" tIns="0" rIns="0" bIns="0">
                      <a:noAutofit/>
                    </a:bodyPr>
                    <a:p>
                      <a:endParaRPr sz="600"/>
                    </a:p>
                  </a:txBody>
                  <a:tcPr marL="0" marR="0" marT="0" marB="0"/>
                </a:tc>
                <a:tc>
                  <a:txBody>
                    <a:bodyPr lIns="0" tIns="0" rIns="0" bIns="0">
                      <a:noAutofit/>
                    </a:bodyPr>
                    <a:p>
                      <a:endParaRPr sz="600"/>
                    </a:p>
                  </a:txBody>
                  <a:tcPr marL="0" marR="0" marT="0" marB="0"/>
                </a:tc>
                <a:tc>
                  <a:txBody>
                    <a:bodyPr lIns="0" tIns="0" rIns="0" bIns="0">
                      <a:noAutofit/>
                    </a:bodyPr>
                    <a:p>
                      <a:endParaRPr sz="600"/>
                    </a:p>
                  </a:txBody>
                  <a:tcPr marL="0" marR="0" marT="0" marB="0"/>
                </a:tc>
              </a:tr>
              <a:tr h="115824">
                <a:tc>
                  <a:txBody>
                    <a:bodyPr lIns="0" tIns="0" rIns="0" bIns="0">
                      <a:noAutofit/>
                    </a:bodyPr>
                    <a:p>
                      <a:pPr indent="0"/>
                      <a:r>
                        <a:rPr lang="en-US" sz="750">
                          <a:latin typeface="Arial"/>
                        </a:rPr>
                        <a:t>Italian</a:t>
                      </a:r>
                    </a:p>
                  </a:txBody>
                  <a:tcPr marL="0" marR="0" marT="0" marB="0"/>
                </a:tc>
                <a:tc gridSpan="2">
                  <a:txBody>
                    <a:bodyPr lIns="0" tIns="0" rIns="0" bIns="0">
                      <a:noAutofit/>
                    </a:bodyPr>
                    <a:p>
                      <a:pPr indent="0"/>
                      <a:r>
                        <a:rPr lang="en-US" sz="750">
                          <a:latin typeface="Arial"/>
                        </a:rPr>
                        <a:t>20 27.483221 28.0</a:t>
                      </a:r>
                    </a:p>
                  </a:txBody>
                  <a:tcPr marL="0" marR="0" marT="0" marB="0"/>
                </a:tc>
                <a:tc hMerge="1">
                  <a:txBody>
                    <a:bodyPr lIns="0" tIns="0" rIns="0" bIns="0">
                      <a:noAutofit/>
                    </a:bodyPr>
                    <a:p>
                      <a:endParaRPr sz="600"/>
                    </a:p>
                  </a:txBody>
                  <a:tcPr marL="0" marR="0" marT="0" marB="0"/>
                </a:tc>
                <a:tc>
                  <a:txBody>
                    <a:bodyPr lIns="0" tIns="0" rIns="0" bIns="0">
                      <a:noAutofit/>
                    </a:bodyPr>
                    <a:p>
                      <a:pPr indent="0"/>
                      <a:r>
                        <a:rPr lang="en-US" sz="750">
                          <a:latin typeface="Arial"/>
                        </a:rPr>
                        <a:t>35</a:t>
                      </a:r>
                    </a:p>
                  </a:txBody>
                  <a:tcPr marL="0" marR="0" marT="0" marB="0"/>
                </a:tc>
              </a:tr>
              <a:tr h="121920">
                <a:tc>
                  <a:txBody>
                    <a:bodyPr lIns="0" tIns="0" rIns="0" bIns="0">
                      <a:noAutofit/>
                    </a:bodyPr>
                    <a:p>
                      <a:pPr indent="0"/>
                      <a:r>
                        <a:rPr lang="en-US" sz="750">
                          <a:latin typeface="Arial"/>
                        </a:rPr>
                        <a:t>Thai</a:t>
                      </a:r>
                    </a:p>
                  </a:txBody>
                  <a:tcPr marL="0" marR="0" marT="0" marB="0"/>
                </a:tc>
                <a:tc gridSpan="2">
                  <a:txBody>
                    <a:bodyPr lIns="0" tIns="0" rIns="0" bIns="0">
                      <a:noAutofit/>
                    </a:bodyPr>
                    <a:p>
                      <a:pPr indent="0"/>
                      <a:r>
                        <a:rPr lang="en-US" sz="750">
                          <a:latin typeface="Arial"/>
                        </a:rPr>
                        <a:t>21 27.315789 28.0</a:t>
                      </a:r>
                    </a:p>
                  </a:txBody>
                  <a:tcPr marL="0" marR="0" marT="0" marB="0"/>
                </a:tc>
                <a:tc hMerge="1">
                  <a:txBody>
                    <a:bodyPr lIns="0" tIns="0" rIns="0" bIns="0">
                      <a:noAutofit/>
                    </a:bodyPr>
                    <a:p>
                      <a:endParaRPr sz="600"/>
                    </a:p>
                  </a:txBody>
                  <a:tcPr marL="0" marR="0" marT="0" marB="0"/>
                </a:tc>
                <a:tc>
                  <a:txBody>
                    <a:bodyPr lIns="0" tIns="0" rIns="0" bIns="0">
                      <a:noAutofit/>
                    </a:bodyPr>
                    <a:p>
                      <a:pPr indent="0"/>
                      <a:r>
                        <a:rPr lang="en-US" sz="750">
                          <a:latin typeface="Arial"/>
                        </a:rPr>
                        <a:t>35</a:t>
                      </a:r>
                    </a:p>
                  </a:txBody>
                  <a:tcPr marL="0" marR="0" marT="0" marB="0"/>
                </a:tc>
              </a:tr>
              <a:tr h="124968">
                <a:tc>
                  <a:txBody>
                    <a:bodyPr lIns="0" tIns="0" rIns="0" bIns="0">
                      <a:noAutofit/>
                    </a:bodyPr>
                    <a:p>
                      <a:pPr indent="0"/>
                      <a:r>
                        <a:rPr lang="en-US" sz="750">
                          <a:latin typeface="Arial"/>
                        </a:rPr>
                        <a:t>Spanish</a:t>
                      </a:r>
                    </a:p>
                  </a:txBody>
                  <a:tcPr marL="0" marR="0" marT="0" marB="0" anchor="b"/>
                </a:tc>
                <a:tc>
                  <a:txBody>
                    <a:bodyPr lIns="0" tIns="0" rIns="0" bIns="0">
                      <a:noAutofit/>
                    </a:bodyPr>
                    <a:p>
                      <a:pPr marL="127000" indent="0"/>
                      <a:r>
                        <a:rPr lang="en-US" sz="750">
                          <a:latin typeface="Arial"/>
                        </a:rPr>
                        <a:t>20 26.916667</a:t>
                      </a:r>
                    </a:p>
                  </a:txBody>
                  <a:tcPr marL="0" marR="0" marT="0" marB="0" anchor="b"/>
                </a:tc>
                <a:tc>
                  <a:txBody>
                    <a:bodyPr lIns="0" tIns="0" rIns="0" bIns="0">
                      <a:noAutofit/>
                    </a:bodyPr>
                    <a:p>
                      <a:pPr indent="0"/>
                      <a:r>
                        <a:rPr lang="en-US" sz="750">
                          <a:latin typeface="Arial"/>
                        </a:rPr>
                        <a:t>27.5</a:t>
                      </a:r>
                    </a:p>
                  </a:txBody>
                  <a:tcPr marL="0" marR="0" marT="0" marB="0" anchor="b"/>
                </a:tc>
                <a:tc>
                  <a:txBody>
                    <a:bodyPr lIns="0" tIns="0" rIns="0" bIns="0">
                      <a:noAutofit/>
                    </a:bodyPr>
                    <a:p>
                      <a:pPr marL="114300" indent="0"/>
                      <a:r>
                        <a:rPr lang="en-US" sz="750">
                          <a:latin typeface="Arial"/>
                        </a:rPr>
                        <a:t>35</a:t>
                      </a:r>
                    </a:p>
                  </a:txBody>
                  <a:tcPr marL="0" marR="0" marT="0" marB="0" anchor="b"/>
                </a:tc>
              </a:tr>
              <a:tr h="124968">
                <a:tc>
                  <a:txBody>
                    <a:bodyPr lIns="0" tIns="0" rIns="0" bIns="0">
                      <a:noAutofit/>
                    </a:bodyPr>
                    <a:p>
                      <a:pPr indent="0"/>
                      <a:r>
                        <a:rPr lang="en-US" sz="750">
                          <a:latin typeface="Arial"/>
                        </a:rPr>
                        <a:t>Japanese</a:t>
                      </a:r>
                    </a:p>
                  </a:txBody>
                  <a:tcPr marL="0" marR="0" marT="0" marB="0"/>
                </a:tc>
                <a:tc>
                  <a:txBody>
                    <a:bodyPr lIns="0" tIns="0" rIns="0" bIns="0">
                      <a:noAutofit/>
                    </a:bodyPr>
                    <a:p>
                      <a:pPr algn="r" indent="0"/>
                      <a:r>
                        <a:rPr lang="en-US" sz="750">
                          <a:latin typeface="Arial"/>
                        </a:rPr>
                        <a:t>20 27.510638</a:t>
                      </a:r>
                    </a:p>
                  </a:txBody>
                  <a:tcPr marL="0" marR="0" marT="0" marB="0"/>
                </a:tc>
                <a:tc>
                  <a:txBody>
                    <a:bodyPr lIns="0" tIns="0" rIns="0" bIns="0">
                      <a:noAutofit/>
                    </a:bodyPr>
                    <a:p>
                      <a:pPr marL="114300" indent="0"/>
                      <a:r>
                        <a:rPr lang="en-US" sz="750">
                          <a:latin typeface="Arial"/>
                        </a:rPr>
                        <a:t>27.5</a:t>
                      </a:r>
                    </a:p>
                  </a:txBody>
                  <a:tcPr marL="0" marR="0" marT="0" marB="0"/>
                </a:tc>
                <a:tc>
                  <a:txBody>
                    <a:bodyPr lIns="0" tIns="0" rIns="0" bIns="0">
                      <a:noAutofit/>
                    </a:bodyPr>
                    <a:p>
                      <a:pPr marL="152400" indent="0"/>
                      <a:r>
                        <a:rPr lang="en-US" sz="750">
                          <a:latin typeface="Arial"/>
                        </a:rPr>
                        <a:t>35</a:t>
                      </a:r>
                    </a:p>
                  </a:txBody>
                  <a:tcPr marL="0" marR="0" marT="0" marB="0"/>
                </a:tc>
              </a:tr>
              <a:tr h="115824">
                <a:tc>
                  <a:txBody>
                    <a:bodyPr lIns="0" tIns="0" rIns="0" bIns="0">
                      <a:noAutofit/>
                    </a:bodyPr>
                    <a:p>
                      <a:pPr indent="0"/>
                      <a:r>
                        <a:rPr lang="en-US" sz="750">
                          <a:latin typeface="Arial"/>
                        </a:rPr>
                        <a:t>Chinese</a:t>
                      </a:r>
                    </a:p>
                  </a:txBody>
                  <a:tcPr marL="0" marR="0" marT="0" marB="0"/>
                </a:tc>
                <a:tc>
                  <a:txBody>
                    <a:bodyPr lIns="0" tIns="0" rIns="0" bIns="0">
                      <a:noAutofit/>
                    </a:bodyPr>
                    <a:p>
                      <a:pPr marL="127000" indent="0"/>
                      <a:r>
                        <a:rPr lang="en-US" sz="750">
                          <a:latin typeface="Arial"/>
                        </a:rPr>
                        <a:t>20 27.511628</a:t>
                      </a:r>
                    </a:p>
                  </a:txBody>
                  <a:tcPr marL="0" marR="0" marT="0" marB="0"/>
                </a:tc>
                <a:tc>
                  <a:txBody>
                    <a:bodyPr lIns="0" tIns="0" rIns="0" bIns="0">
                      <a:noAutofit/>
                    </a:bodyPr>
                    <a:p>
                      <a:pPr indent="0"/>
                      <a:r>
                        <a:rPr lang="en-US" sz="750">
                          <a:latin typeface="Arial"/>
                        </a:rPr>
                        <a:t>27.0</a:t>
                      </a:r>
                    </a:p>
                  </a:txBody>
                  <a:tcPr marL="0" marR="0" marT="0" marB="0"/>
                </a:tc>
                <a:tc>
                  <a:txBody>
                    <a:bodyPr lIns="0" tIns="0" rIns="0" bIns="0">
                      <a:noAutofit/>
                    </a:bodyPr>
                    <a:p>
                      <a:pPr marL="114300" indent="0"/>
                      <a:r>
                        <a:rPr lang="en-US" sz="750">
                          <a:latin typeface="Arial"/>
                        </a:rPr>
                        <a:t>35</a:t>
                      </a:r>
                    </a:p>
                  </a:txBody>
                  <a:tcPr marL="0" marR="0" marT="0" marB="0"/>
                </a:tc>
              </a:tr>
              <a:tr h="121920">
                <a:tc>
                  <a:txBody>
                    <a:bodyPr lIns="0" tIns="0" rIns="0" bIns="0">
                      <a:noAutofit/>
                    </a:bodyPr>
                    <a:p>
                      <a:pPr indent="0"/>
                      <a:r>
                        <a:rPr lang="en-US" sz="750">
                          <a:latin typeface="Arial"/>
                        </a:rPr>
                        <a:t>American</a:t>
                      </a:r>
                    </a:p>
                  </a:txBody>
                  <a:tcPr marL="0" marR="0" marT="0" marB="0" anchor="b"/>
                </a:tc>
                <a:tc>
                  <a:txBody>
                    <a:bodyPr lIns="0" tIns="0" rIns="0" bIns="0">
                      <a:noAutofit/>
                    </a:bodyPr>
                    <a:p>
                      <a:pPr marL="152400" indent="0"/>
                      <a:r>
                        <a:rPr lang="en-US" sz="750">
                          <a:latin typeface="Arial"/>
                        </a:rPr>
                        <a:t>20 27.440068</a:t>
                      </a:r>
                    </a:p>
                  </a:txBody>
                  <a:tcPr marL="0" marR="0" marT="0" marB="0" anchor="b"/>
                </a:tc>
                <a:tc>
                  <a:txBody>
                    <a:bodyPr lIns="0" tIns="0" rIns="0" bIns="0">
                      <a:noAutofit/>
                    </a:bodyPr>
                    <a:p>
                      <a:pPr marL="114300" indent="0"/>
                      <a:r>
                        <a:rPr lang="en-US" sz="750">
                          <a:latin typeface="Arial"/>
                        </a:rPr>
                        <a:t>27.0</a:t>
                      </a:r>
                    </a:p>
                  </a:txBody>
                  <a:tcPr marL="0" marR="0" marT="0" marB="0" anchor="b"/>
                </a:tc>
                <a:tc>
                  <a:txBody>
                    <a:bodyPr lIns="0" tIns="0" rIns="0" bIns="0">
                      <a:noAutofit/>
                    </a:bodyPr>
                    <a:p>
                      <a:pPr marL="152400" indent="0"/>
                      <a:r>
                        <a:rPr lang="en-US" sz="750">
                          <a:latin typeface="Arial"/>
                        </a:rPr>
                        <a:t>35</a:t>
                      </a:r>
                    </a:p>
                  </a:txBody>
                  <a:tcPr marL="0" marR="0" marT="0" marB="0" anchor="b"/>
                </a:tc>
              </a:tr>
              <a:tr h="121920">
                <a:tc>
                  <a:txBody>
                    <a:bodyPr lIns="0" tIns="0" rIns="0" bIns="0">
                      <a:noAutofit/>
                    </a:bodyPr>
                    <a:p>
                      <a:pPr indent="0"/>
                      <a:r>
                        <a:rPr lang="en-US" sz="750">
                          <a:latin typeface="Arial"/>
                        </a:rPr>
                        <a:t>Mediterranean</a:t>
                      </a:r>
                    </a:p>
                  </a:txBody>
                  <a:tcPr marL="0" marR="0" marT="0" marB="0" anchor="b"/>
                </a:tc>
                <a:tc gridSpan="2">
                  <a:txBody>
                    <a:bodyPr lIns="0" tIns="0" rIns="0" bIns="0">
                      <a:noAutofit/>
                    </a:bodyPr>
                    <a:p>
                      <a:pPr algn="r" indent="0"/>
                      <a:r>
                        <a:rPr lang="en-US" sz="750">
                          <a:latin typeface="Arial"/>
                        </a:rPr>
                        <a:t>20 27.000000 27.0</a:t>
                      </a:r>
                    </a:p>
                  </a:txBody>
                  <a:tcPr marL="0" marR="0" marT="0" marB="0" anchor="b"/>
                </a:tc>
                <a:tc hMerge="1">
                  <a:txBody>
                    <a:bodyPr lIns="0" tIns="0" rIns="0" bIns="0">
                      <a:noAutofit/>
                    </a:bodyPr>
                    <a:p>
                      <a:endParaRPr sz="600"/>
                    </a:p>
                  </a:txBody>
                  <a:tcPr marL="0" marR="0" marT="0" marB="0"/>
                </a:tc>
                <a:tc>
                  <a:txBody>
                    <a:bodyPr lIns="0" tIns="0" rIns="0" bIns="0">
                      <a:noAutofit/>
                    </a:bodyPr>
                    <a:p>
                      <a:pPr algn="r" indent="0"/>
                      <a:r>
                        <a:rPr lang="en-US" sz="750">
                          <a:latin typeface="Arial"/>
                        </a:rPr>
                        <a:t>35</a:t>
                      </a:r>
                    </a:p>
                  </a:txBody>
                  <a:tcPr marL="0" marR="0" marT="0" marB="0" anchor="b"/>
                </a:tc>
              </a:tr>
              <a:tr h="121920">
                <a:tc>
                  <a:txBody>
                    <a:bodyPr lIns="0" tIns="0" rIns="0" bIns="0">
                      <a:noAutofit/>
                    </a:bodyPr>
                    <a:p>
                      <a:pPr indent="0"/>
                      <a:r>
                        <a:rPr lang="en-US" sz="750">
                          <a:latin typeface="Arial"/>
                        </a:rPr>
                        <a:t>Indian</a:t>
                      </a:r>
                    </a:p>
                  </a:txBody>
                  <a:tcPr marL="0" marR="0" marT="0" marB="0" anchor="b"/>
                </a:tc>
                <a:tc>
                  <a:txBody>
                    <a:bodyPr lIns="0" tIns="0" rIns="0" bIns="0">
                      <a:noAutofit/>
                    </a:bodyPr>
                    <a:p>
                      <a:pPr indent="0"/>
                      <a:r>
                        <a:rPr lang="en-US" sz="750">
                          <a:latin typeface="Arial"/>
                        </a:rPr>
                        <a:t>20 27.109589</a:t>
                      </a:r>
                    </a:p>
                  </a:txBody>
                  <a:tcPr marL="0" marR="0" marT="0" marB="0" anchor="b"/>
                </a:tc>
                <a:tc>
                  <a:txBody>
                    <a:bodyPr lIns="0" tIns="0" rIns="0" bIns="0">
                      <a:noAutofit/>
                    </a:bodyPr>
                    <a:p>
                      <a:pPr indent="0"/>
                      <a:r>
                        <a:rPr lang="en-US" sz="750">
                          <a:latin typeface="Arial"/>
                        </a:rPr>
                        <a:t>27.0</a:t>
                      </a:r>
                    </a:p>
                  </a:txBody>
                  <a:tcPr marL="0" marR="0" marT="0" marB="0" anchor="b"/>
                </a:tc>
                <a:tc>
                  <a:txBody>
                    <a:bodyPr lIns="0" tIns="0" rIns="0" bIns="0">
                      <a:noAutofit/>
                    </a:bodyPr>
                    <a:p>
                      <a:pPr indent="0"/>
                      <a:r>
                        <a:rPr lang="en-US" sz="750">
                          <a:latin typeface="Arial"/>
                        </a:rPr>
                        <a:t>35</a:t>
                      </a:r>
                    </a:p>
                  </a:txBody>
                  <a:tcPr marL="0" marR="0" marT="0" marB="0" anchor="b"/>
                </a:tc>
              </a:tr>
              <a:tr h="121920">
                <a:tc>
                  <a:txBody>
                    <a:bodyPr lIns="0" tIns="0" rIns="0" bIns="0">
                      <a:noAutofit/>
                    </a:bodyPr>
                    <a:p>
                      <a:pPr indent="0"/>
                      <a:r>
                        <a:rPr lang="en-US" sz="750">
                          <a:latin typeface="Arial"/>
                        </a:rPr>
                        <a:t>Middle Eastern</a:t>
                      </a:r>
                    </a:p>
                  </a:txBody>
                  <a:tcPr marL="0" marR="0" marT="0" marB="0" anchor="b"/>
                </a:tc>
                <a:tc gridSpan="2">
                  <a:txBody>
                    <a:bodyPr lIns="0" tIns="0" rIns="0" bIns="0">
                      <a:noAutofit/>
                    </a:bodyPr>
                    <a:p>
                      <a:pPr algn="r" indent="0"/>
                      <a:r>
                        <a:rPr lang="en-US" sz="750">
                          <a:latin typeface="Arial"/>
                        </a:rPr>
                        <a:t>20 26.673469 27.0</a:t>
                      </a:r>
                    </a:p>
                  </a:txBody>
                  <a:tcPr marL="0" marR="0" marT="0" marB="0" anchor="b"/>
                </a:tc>
                <a:tc hMerge="1">
                  <a:txBody>
                    <a:bodyPr lIns="0" tIns="0" rIns="0" bIns="0">
                      <a:noAutofit/>
                    </a:bodyPr>
                    <a:p>
                      <a:endParaRPr sz="600"/>
                    </a:p>
                  </a:txBody>
                  <a:tcPr marL="0" marR="0" marT="0" marB="0"/>
                </a:tc>
                <a:tc>
                  <a:txBody>
                    <a:bodyPr lIns="0" tIns="0" rIns="0" bIns="0">
                      <a:noAutofit/>
                    </a:bodyPr>
                    <a:p>
                      <a:pPr algn="r" indent="0"/>
                      <a:r>
                        <a:rPr lang="en-US" sz="750">
                          <a:latin typeface="Arial"/>
                        </a:rPr>
                        <a:t>34</a:t>
                      </a:r>
                    </a:p>
                  </a:txBody>
                  <a:tcPr marL="0" marR="0" marT="0" marB="0" anchor="b"/>
                </a:tc>
              </a:tr>
              <a:tr h="121920">
                <a:tc>
                  <a:txBody>
                    <a:bodyPr lIns="0" tIns="0" rIns="0" bIns="0">
                      <a:noAutofit/>
                    </a:bodyPr>
                    <a:p>
                      <a:pPr indent="0"/>
                      <a:r>
                        <a:rPr lang="en-US" sz="750">
                          <a:latin typeface="Arial"/>
                        </a:rPr>
                        <a:t>Southern</a:t>
                      </a:r>
                    </a:p>
                  </a:txBody>
                  <a:tcPr marL="0" marR="0" marT="0" marB="0" anchor="b"/>
                </a:tc>
                <a:tc>
                  <a:txBody>
                    <a:bodyPr lIns="0" tIns="0" rIns="0" bIns="0">
                      <a:noAutofit/>
                    </a:bodyPr>
                    <a:p>
                      <a:pPr marL="101600" indent="0"/>
                      <a:r>
                        <a:rPr lang="en-US" sz="750">
                          <a:latin typeface="Arial"/>
                        </a:rPr>
                        <a:t>20 27.588235</a:t>
                      </a:r>
                    </a:p>
                  </a:txBody>
                  <a:tcPr marL="0" marR="0" marT="0" marB="0" anchor="b"/>
                </a:tc>
                <a:tc>
                  <a:txBody>
                    <a:bodyPr lIns="0" tIns="0" rIns="0" bIns="0">
                      <a:noAutofit/>
                    </a:bodyPr>
                    <a:p>
                      <a:pPr indent="0"/>
                      <a:r>
                        <a:rPr lang="en-US" sz="750">
                          <a:latin typeface="Arial"/>
                        </a:rPr>
                        <a:t>26.0</a:t>
                      </a:r>
                    </a:p>
                  </a:txBody>
                  <a:tcPr marL="0" marR="0" marT="0" marB="0" anchor="b"/>
                </a:tc>
                <a:tc>
                  <a:txBody>
                    <a:bodyPr lIns="0" tIns="0" rIns="0" bIns="0">
                      <a:noAutofit/>
                    </a:bodyPr>
                    <a:p>
                      <a:pPr marL="114300" indent="0"/>
                      <a:r>
                        <a:rPr lang="en-US" sz="750">
                          <a:latin typeface="Arial"/>
                        </a:rPr>
                        <a:t>35</a:t>
                      </a:r>
                    </a:p>
                  </a:txBody>
                  <a:tcPr marL="0" marR="0" marT="0" marB="0" anchor="b"/>
                </a:tc>
              </a:tr>
              <a:tr h="121920">
                <a:tc>
                  <a:txBody>
                    <a:bodyPr lIns="0" tIns="0" rIns="0" bIns="0">
                      <a:noAutofit/>
                    </a:bodyPr>
                    <a:p>
                      <a:pPr indent="0"/>
                      <a:r>
                        <a:rPr lang="en-US" sz="750">
                          <a:latin typeface="Arial"/>
                        </a:rPr>
                        <a:t>Mexican</a:t>
                      </a:r>
                    </a:p>
                  </a:txBody>
                  <a:tcPr marL="0" marR="0" marT="0" marB="0" anchor="b"/>
                </a:tc>
                <a:tc>
                  <a:txBody>
                    <a:bodyPr lIns="0" tIns="0" rIns="0" bIns="0">
                      <a:noAutofit/>
                    </a:bodyPr>
                    <a:p>
                      <a:pPr marL="101600" indent="0"/>
                      <a:r>
                        <a:rPr lang="en-US" sz="750">
                          <a:latin typeface="Arial"/>
                        </a:rPr>
                        <a:t>20 26.727273</a:t>
                      </a:r>
                    </a:p>
                  </a:txBody>
                  <a:tcPr marL="0" marR="0" marT="0" marB="0" anchor="b"/>
                </a:tc>
                <a:tc>
                  <a:txBody>
                    <a:bodyPr lIns="0" tIns="0" rIns="0" bIns="0">
                      <a:noAutofit/>
                    </a:bodyPr>
                    <a:p>
                      <a:pPr indent="0"/>
                      <a:r>
                        <a:rPr lang="en-US" sz="750">
                          <a:latin typeface="Arial"/>
                        </a:rPr>
                        <a:t>26.0</a:t>
                      </a:r>
                    </a:p>
                  </a:txBody>
                  <a:tcPr marL="0" marR="0" marT="0" marB="0" anchor="b"/>
                </a:tc>
                <a:tc>
                  <a:txBody>
                    <a:bodyPr lIns="0" tIns="0" rIns="0" bIns="0">
                      <a:noAutofit/>
                    </a:bodyPr>
                    <a:p>
                      <a:pPr marL="114300" indent="0"/>
                      <a:r>
                        <a:rPr lang="en-US" sz="750">
                          <a:latin typeface="Arial"/>
                        </a:rPr>
                        <a:t>35</a:t>
                      </a:r>
                    </a:p>
                  </a:txBody>
                  <a:tcPr marL="0" marR="0" marT="0" marB="0" anchor="b"/>
                </a:tc>
              </a:tr>
              <a:tr h="121920">
                <a:tc>
                  <a:txBody>
                    <a:bodyPr lIns="0" tIns="0" rIns="0" bIns="0">
                      <a:noAutofit/>
                    </a:bodyPr>
                    <a:p>
                      <a:pPr indent="0"/>
                      <a:r>
                        <a:rPr lang="en-US" sz="750">
                          <a:latin typeface="Arial"/>
                        </a:rPr>
                        <a:t>French</a:t>
                      </a:r>
                    </a:p>
                  </a:txBody>
                  <a:tcPr marL="0" marR="0" marT="0" marB="0" anchor="b"/>
                </a:tc>
                <a:tc>
                  <a:txBody>
                    <a:bodyPr lIns="0" tIns="0" rIns="0" bIns="0">
                      <a:noAutofit/>
                    </a:bodyPr>
                    <a:p>
                      <a:pPr marL="101600" indent="0"/>
                      <a:r>
                        <a:rPr lang="en-US" sz="750">
                          <a:latin typeface="Arial"/>
                        </a:rPr>
                        <a:t>21 26.888889</a:t>
                      </a:r>
                    </a:p>
                  </a:txBody>
                  <a:tcPr marL="0" marR="0" marT="0" marB="0" anchor="b"/>
                </a:tc>
                <a:tc>
                  <a:txBody>
                    <a:bodyPr lIns="0" tIns="0" rIns="0" bIns="0">
                      <a:noAutofit/>
                    </a:bodyPr>
                    <a:p>
                      <a:pPr indent="0"/>
                      <a:r>
                        <a:rPr lang="en-US" sz="750">
                          <a:latin typeface="Arial"/>
                        </a:rPr>
                        <a:t>25.5</a:t>
                      </a:r>
                    </a:p>
                  </a:txBody>
                  <a:tcPr marL="0" marR="0" marT="0" marB="0" anchor="b"/>
                </a:tc>
                <a:tc>
                  <a:txBody>
                    <a:bodyPr lIns="0" tIns="0" rIns="0" bIns="0">
                      <a:noAutofit/>
                    </a:bodyPr>
                    <a:p>
                      <a:pPr marL="114300" indent="0"/>
                      <a:r>
                        <a:rPr lang="en-US" sz="750">
                          <a:latin typeface="Arial"/>
                        </a:rPr>
                        <a:t>35</a:t>
                      </a:r>
                    </a:p>
                  </a:txBody>
                  <a:tcPr marL="0" marR="0" marT="0" marB="0" anchor="b"/>
                </a:tc>
              </a:tr>
              <a:tr h="121920">
                <a:tc>
                  <a:txBody>
                    <a:bodyPr lIns="0" tIns="0" rIns="0" bIns="0">
                      <a:noAutofit/>
                    </a:bodyPr>
                    <a:p>
                      <a:pPr indent="0"/>
                      <a:r>
                        <a:rPr lang="en-US" sz="750">
                          <a:latin typeface="Arial"/>
                        </a:rPr>
                        <a:t>Korean</a:t>
                      </a:r>
                    </a:p>
                  </a:txBody>
                  <a:tcPr marL="0" marR="0" marT="0" marB="0" anchor="b"/>
                </a:tc>
                <a:tc>
                  <a:txBody>
                    <a:bodyPr lIns="0" tIns="0" rIns="0" bIns="0">
                      <a:noAutofit/>
                    </a:bodyPr>
                    <a:p>
                      <a:pPr marL="101600" indent="0"/>
                      <a:r>
                        <a:rPr lang="en-US" sz="750">
                          <a:latin typeface="Arial"/>
                        </a:rPr>
                        <a:t>20 25.461538</a:t>
                      </a:r>
                    </a:p>
                  </a:txBody>
                  <a:tcPr marL="0" marR="0" marT="0" marB="0" anchor="b"/>
                </a:tc>
                <a:tc>
                  <a:txBody>
                    <a:bodyPr lIns="0" tIns="0" rIns="0" bIns="0">
                      <a:noAutofit/>
                    </a:bodyPr>
                    <a:p>
                      <a:pPr indent="0"/>
                      <a:r>
                        <a:rPr lang="en-US" sz="750">
                          <a:latin typeface="Arial"/>
                        </a:rPr>
                        <a:t>25.0</a:t>
                      </a:r>
                    </a:p>
                  </a:txBody>
                  <a:tcPr marL="0" marR="0" marT="0" marB="0" anchor="b"/>
                </a:tc>
                <a:tc>
                  <a:txBody>
                    <a:bodyPr lIns="0" tIns="0" rIns="0" bIns="0">
                      <a:noAutofit/>
                    </a:bodyPr>
                    <a:p>
                      <a:pPr marL="114300" indent="0"/>
                      <a:r>
                        <a:rPr lang="en-US" sz="750">
                          <a:latin typeface="Arial"/>
                        </a:rPr>
                        <a:t>33</a:t>
                      </a:r>
                    </a:p>
                  </a:txBody>
                  <a:tcPr marL="0" marR="0" marT="0" marB="0" anchor="b"/>
                </a:tc>
              </a:tr>
              <a:tr h="121920">
                <a:tc>
                  <a:txBody>
                    <a:bodyPr lIns="0" tIns="0" rIns="0" bIns="0">
                      <a:noAutofit/>
                    </a:bodyPr>
                    <a:p>
                      <a:pPr indent="0"/>
                      <a:r>
                        <a:rPr lang="en-US" sz="750">
                          <a:latin typeface="Arial"/>
                        </a:rPr>
                        <a:t>Vietnamese</a:t>
                      </a:r>
                    </a:p>
                  </a:txBody>
                  <a:tcPr marL="0" marR="0" marT="0" marB="0" anchor="b"/>
                </a:tc>
                <a:tc gridSpan="2">
                  <a:txBody>
                    <a:bodyPr lIns="0" tIns="0" rIns="0" bIns="0">
                      <a:noAutofit/>
                    </a:bodyPr>
                    <a:p>
                      <a:pPr algn="r" indent="0"/>
                      <a:r>
                        <a:rPr lang="en-US" sz="750">
                          <a:latin typeface="Arial"/>
                        </a:rPr>
                        <a:t>20 25.714286 25.0</a:t>
                      </a:r>
                    </a:p>
                  </a:txBody>
                  <a:tcPr marL="0" marR="0" marT="0" marB="0" anchor="b"/>
                </a:tc>
                <a:tc hMerge="1">
                  <a:txBody>
                    <a:bodyPr lIns="0" tIns="0" rIns="0" bIns="0">
                      <a:noAutofit/>
                    </a:bodyPr>
                    <a:p>
                      <a:endParaRPr sz="600"/>
                    </a:p>
                  </a:txBody>
                  <a:tcPr marL="0" marR="0" marT="0" marB="0"/>
                </a:tc>
                <a:tc>
                  <a:txBody>
                    <a:bodyPr lIns="0" tIns="0" rIns="0" bIns="0">
                      <a:noAutofit/>
                    </a:bodyPr>
                    <a:p>
                      <a:pPr algn="r" indent="0"/>
                      <a:r>
                        <a:rPr lang="en-US" sz="750">
                          <a:latin typeface="Arial"/>
                        </a:rPr>
                        <a:t>33</a:t>
                      </a:r>
                    </a:p>
                  </a:txBody>
                  <a:tcPr marL="0" marR="0" marT="0" marB="0" anchor="b"/>
                </a:tc>
              </a:tr>
              <a:tr h="155448">
                <a:tc>
                  <a:txBody>
                    <a:bodyPr lIns="0" tIns="0" rIns="0" bIns="0">
                      <a:noAutofit/>
                    </a:bodyPr>
                    <a:p>
                      <a:pPr indent="0"/>
                      <a:r>
                        <a:rPr lang="en-US" b="1" sz="850">
                          <a:latin typeface="Arial"/>
                        </a:rPr>
                        <a:t>In [7]:</a:t>
                      </a:r>
                    </a:p>
                  </a:txBody>
                  <a:tcPr marL="0" marR="0" marT="0" marB="0" anchor="b"/>
                </a:tc>
                <a:tc>
                  <a:txBody>
                    <a:bodyPr lIns="0" tIns="0" rIns="0" bIns="0">
                      <a:noAutofit/>
                    </a:bodyPr>
                    <a:p>
                      <a:endParaRPr sz="800"/>
                    </a:p>
                  </a:txBody>
                  <a:tcPr marL="0" marR="0" marT="0" marB="0"/>
                </a:tc>
                <a:tc>
                  <a:txBody>
                    <a:bodyPr lIns="0" tIns="0" rIns="0" bIns="0">
                      <a:noAutofit/>
                    </a:bodyPr>
                    <a:p>
                      <a:endParaRPr sz="800"/>
                    </a:p>
                  </a:txBody>
                  <a:tcPr marL="0" marR="0" marT="0" marB="0"/>
                </a:tc>
                <a:tc>
                  <a:txBody>
                    <a:bodyPr lIns="0" tIns="0" rIns="0" bIns="0">
                      <a:noAutofit/>
                    </a:bodyPr>
                    <a:p>
                      <a:endParaRPr sz="800"/>
                    </a:p>
                  </a:txBody>
                  <a:tcPr marL="0" marR="0" marT="0" marB="0"/>
                </a:tc>
              </a:tr>
            </a:tbl>
          </a:graphicData>
        </a:graphic>
      </p:graphicFrame>
      <p:sp>
        <p:nvSpPr>
          <p:cNvPr id="6" name=""/>
          <p:cNvSpPr/>
          <p:nvPr/>
        </p:nvSpPr>
        <p:spPr>
          <a:xfrm>
            <a:off x="45720" y="3453384"/>
            <a:ext cx="7467600" cy="731520"/>
          </a:xfrm>
          <a:prstGeom prst="rect">
            <a:avLst/>
          </a:prstGeom>
        </p:spPr>
        <p:txBody>
          <a:bodyPr lIns="0" tIns="0" rIns="0" bIns="0">
            <a:noAutofit/>
          </a:bodyPr>
          <a:p>
            <a:pPr indent="0">
              <a:lnSpc>
                <a:spcPts val="1128"/>
              </a:lnSpc>
            </a:pPr>
            <a:r>
              <a:rPr lang="en-US" i="1" sz="950">
                <a:latin typeface="Arial"/>
              </a:rPr>
              <a:t>#Day of the Week</a:t>
            </a:r>
            <a:r>
              <a:rPr lang="en-US" b="1" sz="850">
                <a:latin typeface="Arial"/>
              </a:rPr>
              <a:t> vs </a:t>
            </a:r>
            <a:r>
              <a:rPr lang="en-US" i="1" sz="950">
                <a:latin typeface="Arial"/>
              </a:rPr>
              <a:t>Delivery time</a:t>
            </a:r>
          </a:p>
          <a:p>
            <a:pPr indent="0">
              <a:lnSpc>
                <a:spcPts val="1128"/>
              </a:lnSpc>
            </a:pPr>
            <a:r>
              <a:rPr lang="en-US" i="1" sz="950">
                <a:latin typeface="Arial"/>
              </a:rPr>
              <a:t># Relationship between day of the week and delivery time</a:t>
            </a:r>
          </a:p>
          <a:p>
            <a:pPr indent="0">
              <a:lnSpc>
                <a:spcPts val="1128"/>
              </a:lnSpc>
            </a:pPr>
            <a:r>
              <a:rPr lang="en-US" b="1" sz="850">
                <a:latin typeface="Arial"/>
              </a:rPr>
              <a:t>plt.figure(figsize=(15,7))</a:t>
            </a:r>
          </a:p>
          <a:p>
            <a:pPr algn="just" indent="0">
              <a:lnSpc>
                <a:spcPts val="1128"/>
              </a:lnSpc>
              <a:spcAft>
                <a:spcPts val="1260"/>
              </a:spcAft>
            </a:pPr>
            <a:r>
              <a:rPr lang="en-US" b="1" sz="850">
                <a:latin typeface="Arial"/>
              </a:rPr>
              <a:t>sns.boxplot(x='day_of_the_week', y='delivery_time', data=df) </a:t>
            </a:r>
            <a:r>
              <a:rPr lang="en-US" i="1" sz="950">
                <a:latin typeface="Arial"/>
              </a:rPr>
              <a:t>## Complete the code to visualize the relationship between day of the week a </a:t>
            </a:r>
            <a:r>
              <a:rPr lang="en-US" b="1" sz="850">
                <a:latin typeface="Arial"/>
              </a:rPr>
              <a:t>plt.show()</a:t>
            </a:r>
          </a:p>
        </p:txBody>
      </p:sp>
      <p:sp>
        <p:nvSpPr>
          <p:cNvPr id="7" name=""/>
          <p:cNvSpPr/>
          <p:nvPr/>
        </p:nvSpPr>
        <p:spPr>
          <a:xfrm>
            <a:off x="228600" y="4468368"/>
            <a:ext cx="274320" cy="94488"/>
          </a:xfrm>
          <a:prstGeom prst="rect">
            <a:avLst/>
          </a:prstGeom>
        </p:spPr>
        <p:txBody>
          <a:bodyPr lIns="0" tIns="0" rIns="0" bIns="0" wrap="none">
            <a:noAutofit/>
          </a:bodyPr>
          <a:p>
            <a:pPr algn="just" indent="0">
              <a:spcBef>
                <a:spcPts val="1260"/>
              </a:spcBef>
              <a:spcAft>
                <a:spcPts val="1680"/>
              </a:spcAft>
            </a:pPr>
            <a:r>
              <a:rPr lang="en-US" sz="650">
                <a:solidFill>
                  <a:srgbClr val="2D2D2D"/>
                </a:solidFill>
                <a:latin typeface="Calibri"/>
              </a:rPr>
              <a:t>32.5</a:t>
            </a:r>
            <a:r>
              <a:rPr lang="en-US" sz="650">
                <a:latin typeface="Calibri"/>
              </a:rPr>
              <a:t> </a:t>
            </a:r>
            <a:r>
              <a:rPr lang="en-US" sz="400">
                <a:solidFill>
                  <a:srgbClr val="2D2D2D"/>
                </a:solidFill>
                <a:latin typeface="Calibri"/>
              </a:rPr>
              <a:t>-</a:t>
            </a:r>
          </a:p>
        </p:txBody>
      </p:sp>
      <p:sp>
        <p:nvSpPr>
          <p:cNvPr id="8" name=""/>
          <p:cNvSpPr/>
          <p:nvPr/>
        </p:nvSpPr>
        <p:spPr>
          <a:xfrm>
            <a:off x="228600" y="4873752"/>
            <a:ext cx="274320" cy="97536"/>
          </a:xfrm>
          <a:prstGeom prst="rect">
            <a:avLst/>
          </a:prstGeom>
        </p:spPr>
        <p:txBody>
          <a:bodyPr lIns="0" tIns="0" rIns="0" bIns="0" wrap="none">
            <a:noAutofit/>
          </a:bodyPr>
          <a:p>
            <a:pPr algn="just" indent="0">
              <a:spcBef>
                <a:spcPts val="1680"/>
              </a:spcBef>
              <a:spcAft>
                <a:spcPts val="1680"/>
              </a:spcAft>
            </a:pPr>
            <a:r>
              <a:rPr lang="en-US" sz="700">
                <a:solidFill>
                  <a:srgbClr val="3F3F3F"/>
                </a:solidFill>
                <a:latin typeface="Calibri"/>
              </a:rPr>
              <a:t>30.0</a:t>
            </a:r>
            <a:r>
              <a:rPr lang="en-US" sz="400">
                <a:solidFill>
                  <a:srgbClr val="3F3F3F"/>
                </a:solidFill>
                <a:latin typeface="Calibri"/>
              </a:rPr>
              <a:t> -</a:t>
            </a:r>
          </a:p>
        </p:txBody>
      </p:sp>
      <p:sp>
        <p:nvSpPr>
          <p:cNvPr id="9" name=""/>
          <p:cNvSpPr/>
          <p:nvPr/>
        </p:nvSpPr>
        <p:spPr>
          <a:xfrm>
            <a:off x="228600" y="5279136"/>
            <a:ext cx="274320" cy="97536"/>
          </a:xfrm>
          <a:prstGeom prst="rect">
            <a:avLst/>
          </a:prstGeom>
        </p:spPr>
        <p:txBody>
          <a:bodyPr lIns="0" tIns="0" rIns="0" bIns="0" wrap="none">
            <a:noAutofit/>
          </a:bodyPr>
          <a:p>
            <a:pPr algn="just" indent="0">
              <a:spcBef>
                <a:spcPts val="1680"/>
              </a:spcBef>
              <a:spcAft>
                <a:spcPts val="1260"/>
              </a:spcAft>
            </a:pPr>
            <a:r>
              <a:rPr lang="en-US" sz="700">
                <a:latin typeface="Calibri"/>
              </a:rPr>
              <a:t>27.5 </a:t>
            </a:r>
            <a:r>
              <a:rPr lang="en-US" sz="400">
                <a:latin typeface="Calibri"/>
              </a:rPr>
              <a:t>-</a:t>
            </a:r>
          </a:p>
        </p:txBody>
      </p:sp>
      <p:sp>
        <p:nvSpPr>
          <p:cNvPr id="10" name=""/>
          <p:cNvSpPr/>
          <p:nvPr/>
        </p:nvSpPr>
        <p:spPr>
          <a:xfrm>
            <a:off x="103632" y="5608320"/>
            <a:ext cx="399288" cy="585216"/>
          </a:xfrm>
          <a:prstGeom prst="rect">
            <a:avLst/>
          </a:prstGeom>
        </p:spPr>
        <p:txBody>
          <a:bodyPr lIns="0" tIns="0" rIns="0" bIns="0">
            <a:noAutofit/>
          </a:bodyPr>
          <a:p>
            <a:pPr indent="0">
              <a:spcBef>
                <a:spcPts val="1260"/>
              </a:spcBef>
            </a:pPr>
            <a:r>
              <a:rPr lang="en-US" sz="650" spc="-50">
                <a:solidFill>
                  <a:srgbClr val="2D2D2D"/>
                </a:solidFill>
                <a:latin typeface="Calibri"/>
              </a:rPr>
              <a:t>&lt;u</a:t>
            </a:r>
          </a:p>
          <a:p>
            <a:pPr indent="0">
              <a:lnSpc>
                <a:spcPts val="1296"/>
              </a:lnSpc>
            </a:pPr>
            <a:r>
              <a:rPr lang="en-US" sz="650">
                <a:solidFill>
                  <a:srgbClr val="2D2D2D"/>
                </a:solidFill>
                <a:latin typeface="Calibri"/>
              </a:rPr>
              <a:t>.1</a:t>
            </a:r>
            <a:r>
              <a:rPr lang="en-US" sz="400">
                <a:solidFill>
                  <a:srgbClr val="2D2D2D"/>
                </a:solidFill>
                <a:latin typeface="Calibri"/>
              </a:rPr>
              <a:t> </a:t>
            </a:r>
            <a:r>
              <a:rPr lang="en-US" sz="650">
                <a:solidFill>
                  <a:srgbClr val="2D2D2D"/>
                </a:solidFill>
                <a:latin typeface="Calibri"/>
              </a:rPr>
              <a:t>25</a:t>
            </a:r>
            <a:r>
              <a:rPr lang="en-US" sz="400">
                <a:solidFill>
                  <a:srgbClr val="2D2D2D"/>
                </a:solidFill>
                <a:latin typeface="Calibri"/>
              </a:rPr>
              <a:t>.</a:t>
            </a:r>
            <a:r>
              <a:rPr lang="en-US" sz="650">
                <a:solidFill>
                  <a:srgbClr val="2D2D2D"/>
                </a:solidFill>
                <a:latin typeface="Calibri"/>
              </a:rPr>
              <a:t>0</a:t>
            </a:r>
            <a:r>
              <a:rPr lang="en-US" sz="400">
                <a:solidFill>
                  <a:srgbClr val="2D2D2D"/>
                </a:solidFill>
                <a:latin typeface="Calibri"/>
              </a:rPr>
              <a:t>-</a:t>
            </a:r>
            <a:r>
              <a:rPr lang="en-US" sz="950">
                <a:solidFill>
                  <a:srgbClr val="2D2D2D"/>
                </a:solidFill>
                <a:latin typeface="Arial"/>
              </a:rPr>
              <a:t>£7</a:t>
            </a:r>
          </a:p>
          <a:p>
            <a:pPr indent="0"/>
            <a:r>
              <a:rPr lang="en-US" b="1" sz="650">
                <a:solidFill>
                  <a:srgbClr val="2D2D2D"/>
                </a:solidFill>
                <a:latin typeface="Arial"/>
              </a:rPr>
              <a:t>CD</a:t>
            </a:r>
          </a:p>
          <a:p>
            <a:pPr indent="0"/>
            <a:r>
              <a:rPr lang="en-US" b="1" i="1" sz="950">
                <a:solidFill>
                  <a:srgbClr val="2D2D2D"/>
                </a:solidFill>
                <a:latin typeface="Arial"/>
              </a:rPr>
              <a:t>&gt;</a:t>
            </a:r>
          </a:p>
          <a:p>
            <a:pPr indent="0">
              <a:spcAft>
                <a:spcPts val="1680"/>
              </a:spcAft>
            </a:pPr>
            <a:r>
              <a:rPr lang="en-US" sz="700">
                <a:solidFill>
                  <a:srgbClr val="3F3F3F"/>
                </a:solidFill>
                <a:latin typeface="Calibri"/>
              </a:rPr>
              <a:t>1</a:t>
            </a:r>
            <a:r>
              <a:rPr lang="en-US" sz="400">
                <a:solidFill>
                  <a:srgbClr val="3F3F3F"/>
                </a:solidFill>
                <a:latin typeface="Calibri"/>
              </a:rPr>
              <a:t> </a:t>
            </a:r>
            <a:r>
              <a:rPr lang="en-US" sz="700">
                <a:solidFill>
                  <a:srgbClr val="2D2D2D"/>
                </a:solidFill>
                <a:latin typeface="Calibri"/>
              </a:rPr>
              <a:t>22</a:t>
            </a:r>
            <a:r>
              <a:rPr lang="en-US" sz="400">
                <a:solidFill>
                  <a:srgbClr val="2D2D2D"/>
                </a:solidFill>
                <a:latin typeface="Calibri"/>
              </a:rPr>
              <a:t>.</a:t>
            </a:r>
            <a:r>
              <a:rPr lang="en-US" sz="700">
                <a:solidFill>
                  <a:srgbClr val="2D2D2D"/>
                </a:solidFill>
                <a:latin typeface="Calibri"/>
              </a:rPr>
              <a:t>5</a:t>
            </a:r>
            <a:r>
              <a:rPr lang="en-US" sz="400">
                <a:solidFill>
                  <a:srgbClr val="2D2D2D"/>
                </a:solidFill>
                <a:latin typeface="Calibri"/>
              </a:rPr>
              <a:t>-</a:t>
            </a:r>
          </a:p>
        </p:txBody>
      </p:sp>
      <p:sp>
        <p:nvSpPr>
          <p:cNvPr id="11" name=""/>
          <p:cNvSpPr/>
          <p:nvPr/>
        </p:nvSpPr>
        <p:spPr>
          <a:xfrm>
            <a:off x="228600" y="6498336"/>
            <a:ext cx="274320" cy="97536"/>
          </a:xfrm>
          <a:prstGeom prst="rect">
            <a:avLst/>
          </a:prstGeom>
        </p:spPr>
        <p:txBody>
          <a:bodyPr lIns="0" tIns="0" rIns="0" bIns="0" wrap="none">
            <a:noAutofit/>
          </a:bodyPr>
          <a:p>
            <a:pPr algn="just" indent="0">
              <a:spcBef>
                <a:spcPts val="1680"/>
              </a:spcBef>
              <a:spcAft>
                <a:spcPts val="1680"/>
              </a:spcAft>
            </a:pPr>
            <a:r>
              <a:rPr lang="en-US" sz="750">
                <a:solidFill>
                  <a:srgbClr val="3F3F3F"/>
                </a:solidFill>
                <a:latin typeface="Calibri"/>
              </a:rPr>
              <a:t>20.0</a:t>
            </a:r>
            <a:r>
              <a:rPr lang="en-US" sz="400">
                <a:solidFill>
                  <a:srgbClr val="3F3F3F"/>
                </a:solidFill>
                <a:latin typeface="Arial"/>
              </a:rPr>
              <a:t> </a:t>
            </a:r>
            <a:r>
              <a:rPr lang="en-US" sz="400">
                <a:latin typeface="Arial"/>
              </a:rPr>
              <a:t>-</a:t>
            </a:r>
          </a:p>
        </p:txBody>
      </p:sp>
      <p:sp>
        <p:nvSpPr>
          <p:cNvPr id="12" name=""/>
          <p:cNvSpPr/>
          <p:nvPr/>
        </p:nvSpPr>
        <p:spPr>
          <a:xfrm>
            <a:off x="234696" y="6906768"/>
            <a:ext cx="268224" cy="94488"/>
          </a:xfrm>
          <a:prstGeom prst="rect">
            <a:avLst/>
          </a:prstGeom>
        </p:spPr>
        <p:txBody>
          <a:bodyPr lIns="0" tIns="0" rIns="0" bIns="0" wrap="none">
            <a:noAutofit/>
          </a:bodyPr>
          <a:p>
            <a:pPr algn="just" indent="0">
              <a:spcBef>
                <a:spcPts val="1680"/>
              </a:spcBef>
              <a:spcAft>
                <a:spcPts val="1680"/>
              </a:spcAft>
            </a:pPr>
            <a:r>
              <a:rPr lang="en-US" sz="700">
                <a:solidFill>
                  <a:srgbClr val="2D2D2D"/>
                </a:solidFill>
                <a:latin typeface="Calibri"/>
              </a:rPr>
              <a:t>17.5</a:t>
            </a:r>
            <a:r>
              <a:rPr lang="en-US" sz="700">
                <a:latin typeface="Calibri"/>
              </a:rPr>
              <a:t> </a:t>
            </a:r>
            <a:r>
              <a:rPr lang="en-US" sz="400">
                <a:solidFill>
                  <a:srgbClr val="2D2D2D"/>
                </a:solidFill>
                <a:latin typeface="Calibri"/>
              </a:rPr>
              <a:t>-</a:t>
            </a:r>
          </a:p>
        </p:txBody>
      </p:sp>
      <p:sp>
        <p:nvSpPr>
          <p:cNvPr id="13" name=""/>
          <p:cNvSpPr/>
          <p:nvPr/>
        </p:nvSpPr>
        <p:spPr>
          <a:xfrm>
            <a:off x="45720" y="7312152"/>
            <a:ext cx="5855208" cy="2816352"/>
          </a:xfrm>
          <a:prstGeom prst="rect">
            <a:avLst/>
          </a:prstGeom>
        </p:spPr>
        <p:txBody>
          <a:bodyPr lIns="0" tIns="0" rIns="0" bIns="0">
            <a:noAutofit/>
          </a:bodyPr>
          <a:p>
            <a:pPr algn="just" marL="203200" indent="0">
              <a:spcBef>
                <a:spcPts val="1680"/>
              </a:spcBef>
              <a:spcAft>
                <a:spcPts val="840"/>
              </a:spcAft>
            </a:pPr>
            <a:r>
              <a:rPr lang="en-US" sz="700">
                <a:solidFill>
                  <a:srgbClr val="3F3F3F"/>
                </a:solidFill>
                <a:latin typeface="Calibri"/>
              </a:rPr>
              <a:t>15.0</a:t>
            </a:r>
            <a:r>
              <a:rPr lang="en-US" sz="400">
                <a:solidFill>
                  <a:srgbClr val="3F3F3F"/>
                </a:solidFill>
                <a:latin typeface="Calibri"/>
              </a:rPr>
              <a:t> -    --</a:t>
            </a:r>
          </a:p>
          <a:p>
            <a:pPr algn="just" marL="1981200" indent="0"/>
            <a:r>
              <a:rPr lang="en-US" b="1" sz="650">
                <a:solidFill>
                  <a:srgbClr val="3F3F3F"/>
                </a:solidFill>
                <a:latin typeface="Arial"/>
              </a:rPr>
              <a:t>weekend    weekday</a:t>
            </a:r>
          </a:p>
          <a:p>
            <a:pPr marL="3556000" indent="0">
              <a:spcAft>
                <a:spcPts val="840"/>
              </a:spcAft>
            </a:pPr>
            <a:r>
              <a:rPr lang="en-US" b="1" sz="650">
                <a:solidFill>
                  <a:srgbClr val="3F3F3F"/>
                </a:solidFill>
                <a:latin typeface="Arial"/>
              </a:rPr>
              <a:t>day_of_the_week</a:t>
            </a:r>
          </a:p>
          <a:p>
            <a:pPr indent="0">
              <a:lnSpc>
                <a:spcPts val="1128"/>
              </a:lnSpc>
            </a:pPr>
            <a:r>
              <a:rPr lang="en-US" b="1" sz="850">
                <a:latin typeface="Arial"/>
              </a:rPr>
              <a:t>In [</a:t>
            </a:r>
            <a:r>
              <a:rPr lang="en-US" b="1" sz="950">
                <a:latin typeface="Arial"/>
              </a:rPr>
              <a:t>8</a:t>
            </a:r>
            <a:r>
              <a:rPr lang="en-US" b="1" sz="850">
                <a:latin typeface="Arial"/>
              </a:rPr>
              <a:t>]:</a:t>
            </a:r>
          </a:p>
          <a:p>
            <a:pPr marR="1867408" indent="0">
              <a:lnSpc>
                <a:spcPts val="1128"/>
              </a:lnSpc>
            </a:pPr>
            <a:r>
              <a:rPr lang="en-US" i="1" sz="950">
                <a:latin typeface="Arial"/>
              </a:rPr>
              <a:t># Group by day_of_the_week and calculate min, avg, max delivery time </a:t>
            </a:r>
            <a:r>
              <a:rPr lang="en-US" b="1" sz="850">
                <a:latin typeface="Arial"/>
              </a:rPr>
              <a:t>delivery_time_stats = df.groupby('day_of_the_week')['delivery_time'].agg( min_time='min', avg_time='mean', max_time='max'</a:t>
            </a:r>
          </a:p>
          <a:p>
            <a:pPr indent="0">
              <a:spcAft>
                <a:spcPts val="840"/>
              </a:spcAft>
            </a:pPr>
            <a:r>
              <a:rPr lang="en-US" b="1" baseline="30000" sz="850">
                <a:latin typeface="Arial"/>
              </a:rPr>
              <a:t>)</a:t>
            </a:r>
          </a:p>
          <a:p>
            <a:pPr indent="0">
              <a:spcAft>
                <a:spcPts val="420"/>
              </a:spcAft>
            </a:pPr>
            <a:r>
              <a:rPr lang="en-US" b="1" sz="850">
                <a:latin typeface="Arial"/>
              </a:rPr>
              <a:t>print(delivery_time_stats)</a:t>
            </a:r>
          </a:p>
          <a:p>
            <a:pPr marR="4013708" indent="482600">
              <a:lnSpc>
                <a:spcPts val="960"/>
              </a:lnSpc>
            </a:pPr>
            <a:r>
              <a:rPr lang="en-US" sz="750">
                <a:latin typeface="Arial"/>
              </a:rPr>
              <a:t>min_time avg_time max_time day_of_the_week</a:t>
            </a:r>
          </a:p>
          <a:p>
            <a:pPr algn="just" indent="0">
              <a:lnSpc>
                <a:spcPts val="960"/>
              </a:lnSpc>
            </a:pPr>
            <a:r>
              <a:rPr lang="en-US" sz="750">
                <a:latin typeface="Arial"/>
              </a:rPr>
              <a:t>Weekday    24 28.340037    33</a:t>
            </a:r>
          </a:p>
          <a:p>
            <a:pPr algn="just" indent="0">
              <a:lnSpc>
                <a:spcPts val="960"/>
              </a:lnSpc>
            </a:pPr>
            <a:r>
              <a:rPr lang="en-US" sz="750">
                <a:latin typeface="Arial"/>
              </a:rPr>
              <a:t>Weekend    15 22.470022    30</a:t>
            </a:r>
          </a:p>
          <a:p>
            <a:pPr algn="just" indent="0">
              <a:lnSpc>
                <a:spcPts val="1152"/>
              </a:lnSpc>
            </a:pPr>
            <a:r>
              <a:rPr lang="en-US" b="1" sz="850">
                <a:latin typeface="Arial"/>
              </a:rPr>
              <a:t>In [9]:</a:t>
            </a:r>
          </a:p>
          <a:p>
            <a:pPr algn="just" indent="0">
              <a:lnSpc>
                <a:spcPts val="1152"/>
              </a:lnSpc>
            </a:pPr>
            <a:r>
              <a:rPr lang="en-US" i="1" sz="950">
                <a:latin typeface="Arial"/>
              </a:rPr>
              <a:t>#Run the below code and write your observations on thec</a:t>
            </a:r>
          </a:p>
          <a:p>
            <a:pPr algn="just" indent="0">
              <a:lnSpc>
                <a:spcPts val="1152"/>
              </a:lnSpc>
            </a:pPr>
            <a:r>
              <a:rPr lang="en-US" b="1" sz="850">
                <a:latin typeface="Arial"/>
              </a:rPr>
              <a:t>df.groupby(['restaurant_name'])['cost_of_the_order'].sum</a:t>
            </a:r>
            <a:r>
              <a:rPr lang="en-US" sz="1200">
                <a:latin typeface="Arial"/>
              </a:rPr>
              <a:t>0</a:t>
            </a:r>
            <a:r>
              <a:rPr lang="en-US" b="1" sz="850">
                <a:latin typeface="Arial"/>
              </a:rPr>
              <a:t>.sort_values(ascending = False).head(14)</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60960" y="5583936"/>
            <a:ext cx="7434072" cy="3745992"/>
          </a:xfrm>
          <a:prstGeom prst="rect">
            <a:avLst/>
          </a:prstGeom>
        </p:spPr>
      </p:pic>
      <p:sp>
        <p:nvSpPr>
          <p:cNvPr id="3" name=""/>
          <p:cNvSpPr/>
          <p:nvPr/>
        </p:nvSpPr>
        <p:spPr>
          <a:xfrm>
            <a:off x="48768" y="0"/>
            <a:ext cx="390144" cy="143256"/>
          </a:xfrm>
          <a:prstGeom prst="rect">
            <a:avLst/>
          </a:prstGeom>
        </p:spPr>
        <p:txBody>
          <a:bodyPr lIns="0" tIns="0" rIns="0" bIns="0" wrap="none">
            <a:noAutofit/>
          </a:bodyPr>
          <a:p>
            <a:pPr indent="0"/>
            <a:r>
              <a:rPr lang="en-US" sz="950">
                <a:latin typeface="Arial"/>
              </a:rPr>
              <a:t>Out[9]:</a:t>
            </a:r>
          </a:p>
        </p:txBody>
      </p:sp>
      <p:sp>
        <p:nvSpPr>
          <p:cNvPr id="4" name=""/>
          <p:cNvSpPr/>
          <p:nvPr/>
        </p:nvSpPr>
        <p:spPr>
          <a:xfrm>
            <a:off x="1944624" y="198120"/>
            <a:ext cx="1094232" cy="128016"/>
          </a:xfrm>
          <a:prstGeom prst="rect">
            <a:avLst/>
          </a:prstGeom>
        </p:spPr>
        <p:txBody>
          <a:bodyPr lIns="0" tIns="0" rIns="0" bIns="0" wrap="none">
            <a:noAutofit/>
          </a:bodyPr>
          <a:p>
            <a:pPr indent="0"/>
            <a:r>
              <a:rPr lang="en-US" b="1" sz="850">
                <a:latin typeface="Arial"/>
              </a:rPr>
              <a:t>cost of the order</a:t>
            </a:r>
          </a:p>
        </p:txBody>
      </p:sp>
      <p:graphicFrame>
        <p:nvGraphicFramePr>
          <p:cNvPr id="5" name=""/>
          <p:cNvGraphicFramePr>
            <a:graphicFrameLocks noGrp="1"/>
          </p:cNvGraphicFramePr>
          <p:nvPr/>
        </p:nvGraphicFramePr>
        <p:xfrm>
          <a:off x="112776" y="472440"/>
          <a:ext cx="2919984" cy="3880104"/>
        </p:xfrm>
        <a:graphic>
          <a:graphicData uri="http://schemas.openxmlformats.org/drawingml/2006/table">
            <a:tbl>
              <a:tblPr/>
              <a:tblGrid>
                <a:gridCol w="2100072"/>
                <a:gridCol w="819912"/>
              </a:tblGrid>
              <a:tr h="188976">
                <a:tc>
                  <a:txBody>
                    <a:bodyPr lIns="0" tIns="0" rIns="0" bIns="0">
                      <a:noAutofit/>
                    </a:bodyPr>
                    <a:p>
                      <a:pPr algn="r" marR="381000" indent="0"/>
                      <a:r>
                        <a:rPr lang="en-US" b="1" sz="850">
                          <a:latin typeface="Arial"/>
                        </a:rPr>
                        <a:t>restaurant_name</a:t>
                      </a:r>
                    </a:p>
                  </a:txBody>
                  <a:tcPr marL="0" marR="0" marT="0" marB="0"/>
                </a:tc>
                <a:tc>
                  <a:txBody>
                    <a:bodyPr lIns="0" tIns="0" rIns="0" bIns="0">
                      <a:noAutofit/>
                    </a:bodyPr>
                    <a:p>
                      <a:endParaRPr sz="900"/>
                    </a:p>
                  </a:txBody>
                  <a:tcPr marL="0" marR="0" marT="0" marB="0"/>
                </a:tc>
              </a:tr>
              <a:tr h="268224">
                <a:tc>
                  <a:txBody>
                    <a:bodyPr lIns="0" tIns="0" rIns="0" bIns="0">
                      <a:noAutofit/>
                    </a:bodyPr>
                    <a:p>
                      <a:pPr algn="r" marR="381000" indent="0"/>
                      <a:r>
                        <a:rPr lang="en-US" b="1" sz="850">
                          <a:latin typeface="Arial"/>
                        </a:rPr>
                        <a:t>Shake Shack</a:t>
                      </a:r>
                    </a:p>
                  </a:txBody>
                  <a:tcPr marL="0" marR="0" marT="0" marB="0" anchor="ctr"/>
                </a:tc>
                <a:tc>
                  <a:txBody>
                    <a:bodyPr lIns="0" tIns="0" rIns="0" bIns="0">
                      <a:noAutofit/>
                    </a:bodyPr>
                    <a:p>
                      <a:pPr algn="r" indent="0"/>
                      <a:r>
                        <a:rPr lang="en-US" b="1" sz="850">
                          <a:latin typeface="Arial"/>
                        </a:rPr>
                        <a:t>3579.53</a:t>
                      </a:r>
                    </a:p>
                  </a:txBody>
                  <a:tcPr marL="0" marR="0" marT="0" marB="0" anchor="ctr"/>
                </a:tc>
              </a:tr>
              <a:tr h="268224">
                <a:tc>
                  <a:txBody>
                    <a:bodyPr lIns="0" tIns="0" rIns="0" bIns="0">
                      <a:noAutofit/>
                    </a:bodyPr>
                    <a:p>
                      <a:pPr algn="r" marR="381000" indent="0"/>
                      <a:r>
                        <a:rPr lang="en-US" b="1" sz="850">
                          <a:latin typeface="Arial"/>
                        </a:rPr>
                        <a:t>The Meatball Shop</a:t>
                      </a:r>
                    </a:p>
                  </a:txBody>
                  <a:tcPr marL="0" marR="0" marT="0" marB="0" anchor="ctr"/>
                </a:tc>
                <a:tc>
                  <a:txBody>
                    <a:bodyPr lIns="0" tIns="0" rIns="0" bIns="0">
                      <a:noAutofit/>
                    </a:bodyPr>
                    <a:p>
                      <a:pPr algn="r" indent="0"/>
                      <a:r>
                        <a:rPr lang="en-US" b="1" sz="850">
                          <a:latin typeface="Arial"/>
                        </a:rPr>
                        <a:t>2145.21</a:t>
                      </a:r>
                    </a:p>
                  </a:txBody>
                  <a:tcPr marL="0" marR="0" marT="0" marB="0" anchor="ctr"/>
                </a:tc>
              </a:tr>
              <a:tr h="265176">
                <a:tc>
                  <a:txBody>
                    <a:bodyPr lIns="0" tIns="0" rIns="0" bIns="0">
                      <a:noAutofit/>
                    </a:bodyPr>
                    <a:p>
                      <a:pPr algn="r" marR="381000" indent="0"/>
                      <a:r>
                        <a:rPr lang="en-US" b="1" sz="850">
                          <a:latin typeface="Arial"/>
                        </a:rPr>
                        <a:t>Blue Ribbon Sushi</a:t>
                      </a:r>
                    </a:p>
                  </a:txBody>
                  <a:tcPr marL="0" marR="0" marT="0" marB="0" anchor="ctr"/>
                </a:tc>
                <a:tc>
                  <a:txBody>
                    <a:bodyPr lIns="0" tIns="0" rIns="0" bIns="0">
                      <a:noAutofit/>
                    </a:bodyPr>
                    <a:p>
                      <a:pPr algn="r" indent="0"/>
                      <a:r>
                        <a:rPr lang="en-US" b="1" sz="850">
                          <a:latin typeface="Arial"/>
                        </a:rPr>
                        <a:t>1903.95</a:t>
                      </a:r>
                    </a:p>
                  </a:txBody>
                  <a:tcPr marL="0" marR="0" marT="0" marB="0" anchor="ctr"/>
                </a:tc>
              </a:tr>
              <a:tr h="265176">
                <a:tc>
                  <a:txBody>
                    <a:bodyPr lIns="0" tIns="0" rIns="0" bIns="0">
                      <a:noAutofit/>
                    </a:bodyPr>
                    <a:p>
                      <a:pPr algn="r" marR="381000" indent="0"/>
                      <a:r>
                        <a:rPr lang="en-US" b="1" sz="850">
                          <a:latin typeface="Arial"/>
                        </a:rPr>
                        <a:t>Blue Ribbon Fried Chicken</a:t>
                      </a:r>
                    </a:p>
                  </a:txBody>
                  <a:tcPr marL="0" marR="0" marT="0" marB="0" anchor="ctr"/>
                </a:tc>
                <a:tc>
                  <a:txBody>
                    <a:bodyPr lIns="0" tIns="0" rIns="0" bIns="0">
                      <a:noAutofit/>
                    </a:bodyPr>
                    <a:p>
                      <a:pPr algn="r" indent="0"/>
                      <a:r>
                        <a:rPr lang="en-US" b="1" sz="850">
                          <a:latin typeface="Arial"/>
                        </a:rPr>
                        <a:t>1662.29</a:t>
                      </a:r>
                    </a:p>
                  </a:txBody>
                  <a:tcPr marL="0" marR="0" marT="0" marB="0" anchor="ctr"/>
                </a:tc>
              </a:tr>
              <a:tr h="265176">
                <a:tc>
                  <a:txBody>
                    <a:bodyPr lIns="0" tIns="0" rIns="0" bIns="0">
                      <a:noAutofit/>
                    </a:bodyPr>
                    <a:p>
                      <a:pPr algn="r" marR="381000" indent="0"/>
                      <a:r>
                        <a:rPr lang="en-US" b="1" sz="850">
                          <a:latin typeface="Arial"/>
                        </a:rPr>
                        <a:t>Parm</a:t>
                      </a:r>
                    </a:p>
                  </a:txBody>
                  <a:tcPr marL="0" marR="0" marT="0" marB="0" anchor="ctr"/>
                </a:tc>
                <a:tc>
                  <a:txBody>
                    <a:bodyPr lIns="0" tIns="0" rIns="0" bIns="0">
                      <a:noAutofit/>
                    </a:bodyPr>
                    <a:p>
                      <a:pPr algn="r" indent="0"/>
                      <a:r>
                        <a:rPr lang="en-US" b="1" sz="850">
                          <a:latin typeface="Arial"/>
                        </a:rPr>
                        <a:t>1112.76</a:t>
                      </a:r>
                    </a:p>
                  </a:txBody>
                  <a:tcPr marL="0" marR="0" marT="0" marB="0" anchor="ctr"/>
                </a:tc>
              </a:tr>
              <a:tr h="277368">
                <a:tc>
                  <a:txBody>
                    <a:bodyPr lIns="0" tIns="0" rIns="0" bIns="0">
                      <a:noAutofit/>
                    </a:bodyPr>
                    <a:p>
                      <a:pPr algn="r" marR="381000" indent="0"/>
                      <a:r>
                        <a:rPr lang="en-US" b="1" sz="850">
                          <a:latin typeface="Arial"/>
                        </a:rPr>
                        <a:t>RedFarm Broadway</a:t>
                      </a:r>
                    </a:p>
                  </a:txBody>
                  <a:tcPr marL="0" marR="0" marT="0" marB="0" anchor="ctr"/>
                </a:tc>
                <a:tc>
                  <a:txBody>
                    <a:bodyPr lIns="0" tIns="0" rIns="0" bIns="0">
                      <a:noAutofit/>
                    </a:bodyPr>
                    <a:p>
                      <a:pPr algn="r" indent="0"/>
                      <a:r>
                        <a:rPr lang="en-US" b="1" sz="850">
                          <a:latin typeface="Arial"/>
                        </a:rPr>
                        <a:t>965.13</a:t>
                      </a:r>
                    </a:p>
                  </a:txBody>
                  <a:tcPr marL="0" marR="0" marT="0" marB="0" anchor="ctr"/>
                </a:tc>
              </a:tr>
              <a:tr h="259080">
                <a:tc>
                  <a:txBody>
                    <a:bodyPr lIns="0" tIns="0" rIns="0" bIns="0">
                      <a:noAutofit/>
                    </a:bodyPr>
                    <a:p>
                      <a:pPr algn="r" marR="381000" indent="0"/>
                      <a:r>
                        <a:rPr lang="en-US" b="1" sz="850">
                          <a:latin typeface="Arial"/>
                        </a:rPr>
                        <a:t>RedFarm Hudson</a:t>
                      </a:r>
                    </a:p>
                  </a:txBody>
                  <a:tcPr marL="0" marR="0" marT="0" marB="0" anchor="ctr"/>
                </a:tc>
                <a:tc>
                  <a:txBody>
                    <a:bodyPr lIns="0" tIns="0" rIns="0" bIns="0">
                      <a:noAutofit/>
                    </a:bodyPr>
                    <a:p>
                      <a:pPr algn="r" indent="0"/>
                      <a:r>
                        <a:rPr lang="en-US" b="1" sz="850">
                          <a:latin typeface="Arial"/>
                        </a:rPr>
                        <a:t>921.21</a:t>
                      </a:r>
                    </a:p>
                  </a:txBody>
                  <a:tcPr marL="0" marR="0" marT="0" marB="0" anchor="ctr"/>
                </a:tc>
              </a:tr>
              <a:tr h="268224">
                <a:tc>
                  <a:txBody>
                    <a:bodyPr lIns="0" tIns="0" rIns="0" bIns="0">
                      <a:noAutofit/>
                    </a:bodyPr>
                    <a:p>
                      <a:pPr algn="r" marR="381000" indent="0"/>
                      <a:r>
                        <a:rPr lang="en-US" b="1" sz="850">
                          <a:latin typeface="Arial"/>
                        </a:rPr>
                        <a:t>TAO</a:t>
                      </a:r>
                    </a:p>
                  </a:txBody>
                  <a:tcPr marL="0" marR="0" marT="0" marB="0" anchor="ctr"/>
                </a:tc>
                <a:tc>
                  <a:txBody>
                    <a:bodyPr lIns="0" tIns="0" rIns="0" bIns="0">
                      <a:noAutofit/>
                    </a:bodyPr>
                    <a:p>
                      <a:pPr algn="r" indent="0"/>
                      <a:r>
                        <a:rPr lang="en-US" b="1" sz="850">
                          <a:latin typeface="Arial"/>
                        </a:rPr>
                        <a:t>834.50</a:t>
                      </a:r>
                    </a:p>
                  </a:txBody>
                  <a:tcPr marL="0" marR="0" marT="0" marB="0" anchor="ctr"/>
                </a:tc>
              </a:tr>
              <a:tr h="271272">
                <a:tc>
                  <a:txBody>
                    <a:bodyPr lIns="0" tIns="0" rIns="0" bIns="0">
                      <a:noAutofit/>
                    </a:bodyPr>
                    <a:p>
                      <a:pPr algn="r" marR="381000" indent="0"/>
                      <a:r>
                        <a:rPr lang="en-US" b="1" sz="850">
                          <a:latin typeface="Arial"/>
                        </a:rPr>
                        <a:t>Han Dynasty</a:t>
                      </a:r>
                    </a:p>
                  </a:txBody>
                  <a:tcPr marL="0" marR="0" marT="0" marB="0" anchor="ctr"/>
                </a:tc>
                <a:tc>
                  <a:txBody>
                    <a:bodyPr lIns="0" tIns="0" rIns="0" bIns="0">
                      <a:noAutofit/>
                    </a:bodyPr>
                    <a:p>
                      <a:pPr algn="r" indent="0"/>
                      <a:r>
                        <a:rPr lang="en-US" b="1" sz="850">
                          <a:latin typeface="Arial"/>
                        </a:rPr>
                        <a:t>755.29</a:t>
                      </a:r>
                    </a:p>
                  </a:txBody>
                  <a:tcPr marL="0" marR="0" marT="0" marB="0" anchor="ctr"/>
                </a:tc>
              </a:tr>
              <a:tr h="259080">
                <a:tc>
                  <a:txBody>
                    <a:bodyPr lIns="0" tIns="0" rIns="0" bIns="0">
                      <a:noAutofit/>
                    </a:bodyPr>
                    <a:p>
                      <a:pPr algn="r" marR="381000" indent="0"/>
                      <a:r>
                        <a:rPr lang="en-US" b="1" sz="850">
                          <a:latin typeface="Arial"/>
                        </a:rPr>
                        <a:t>Blue Ribbon Sushi Bar &amp; Grill</a:t>
                      </a:r>
                    </a:p>
                  </a:txBody>
                  <a:tcPr marL="0" marR="0" marT="0" marB="0" anchor="ctr"/>
                </a:tc>
                <a:tc>
                  <a:txBody>
                    <a:bodyPr lIns="0" tIns="0" rIns="0" bIns="0">
                      <a:noAutofit/>
                    </a:bodyPr>
                    <a:p>
                      <a:pPr algn="r" indent="0"/>
                      <a:r>
                        <a:rPr lang="en-US" b="1" sz="850">
                          <a:latin typeface="Arial"/>
                        </a:rPr>
                        <a:t>666.62</a:t>
                      </a:r>
                    </a:p>
                  </a:txBody>
                  <a:tcPr marL="0" marR="0" marT="0" marB="0" anchor="ctr"/>
                </a:tc>
              </a:tr>
              <a:tr h="268224">
                <a:tc>
                  <a:txBody>
                    <a:bodyPr lIns="0" tIns="0" rIns="0" bIns="0">
                      <a:noAutofit/>
                    </a:bodyPr>
                    <a:p>
                      <a:pPr algn="r" marR="381000" indent="0"/>
                      <a:r>
                        <a:rPr lang="en-US" b="1" sz="850">
                          <a:latin typeface="Arial"/>
                        </a:rPr>
                        <a:t>Rubirosa</a:t>
                      </a:r>
                    </a:p>
                  </a:txBody>
                  <a:tcPr marL="0" marR="0" marT="0" marB="0" anchor="ctr"/>
                </a:tc>
                <a:tc>
                  <a:txBody>
                    <a:bodyPr lIns="0" tIns="0" rIns="0" bIns="0">
                      <a:noAutofit/>
                    </a:bodyPr>
                    <a:p>
                      <a:pPr algn="r" indent="0"/>
                      <a:r>
                        <a:rPr lang="en-US" b="1" sz="850">
                          <a:latin typeface="Arial"/>
                        </a:rPr>
                        <a:t>660.45</a:t>
                      </a:r>
                    </a:p>
                  </a:txBody>
                  <a:tcPr marL="0" marR="0" marT="0" marB="0" anchor="ctr"/>
                </a:tc>
              </a:tr>
              <a:tr h="265176">
                <a:tc>
                  <a:txBody>
                    <a:bodyPr lIns="0" tIns="0" rIns="0" bIns="0">
                      <a:noAutofit/>
                    </a:bodyPr>
                    <a:p>
                      <a:pPr algn="r" marR="381000" indent="0"/>
                      <a:r>
                        <a:rPr lang="en-US" b="1" sz="850">
                          <a:latin typeface="Arial"/>
                        </a:rPr>
                        <a:t>Sushi of Gari 46</a:t>
                      </a:r>
                    </a:p>
                  </a:txBody>
                  <a:tcPr marL="0" marR="0" marT="0" marB="0" anchor="ctr"/>
                </a:tc>
                <a:tc>
                  <a:txBody>
                    <a:bodyPr lIns="0" tIns="0" rIns="0" bIns="0">
                      <a:noAutofit/>
                    </a:bodyPr>
                    <a:p>
                      <a:pPr algn="r" indent="0"/>
                      <a:r>
                        <a:rPr lang="en-US" b="1" sz="850">
                          <a:latin typeface="Arial"/>
                        </a:rPr>
                        <a:t>640.87</a:t>
                      </a:r>
                    </a:p>
                  </a:txBody>
                  <a:tcPr marL="0" marR="0" marT="0" marB="0" anchor="ctr"/>
                </a:tc>
              </a:tr>
              <a:tr h="268224">
                <a:tc>
                  <a:txBody>
                    <a:bodyPr lIns="0" tIns="0" rIns="0" bIns="0">
                      <a:noAutofit/>
                    </a:bodyPr>
                    <a:p>
                      <a:pPr algn="r" marR="381000" indent="0"/>
                      <a:r>
                        <a:rPr lang="en-US" b="1" sz="850">
                          <a:latin typeface="Arial"/>
                        </a:rPr>
                        <a:t>Nobu Next Door</a:t>
                      </a:r>
                    </a:p>
                  </a:txBody>
                  <a:tcPr marL="0" marR="0" marT="0" marB="0" anchor="ctr"/>
                </a:tc>
                <a:tc>
                  <a:txBody>
                    <a:bodyPr lIns="0" tIns="0" rIns="0" bIns="0">
                      <a:noAutofit/>
                    </a:bodyPr>
                    <a:p>
                      <a:pPr algn="r" indent="0"/>
                      <a:r>
                        <a:rPr lang="en-US" b="1" sz="850">
                          <a:latin typeface="Arial"/>
                        </a:rPr>
                        <a:t>623.67</a:t>
                      </a:r>
                    </a:p>
                  </a:txBody>
                  <a:tcPr marL="0" marR="0" marT="0" marB="0" anchor="ctr"/>
                </a:tc>
              </a:tr>
              <a:tr h="222504">
                <a:tc>
                  <a:txBody>
                    <a:bodyPr lIns="0" tIns="0" rIns="0" bIns="0">
                      <a:noAutofit/>
                    </a:bodyPr>
                    <a:p>
                      <a:pPr algn="r" marR="381000" indent="0"/>
                      <a:r>
                        <a:rPr lang="en-US" b="1" sz="850">
                          <a:latin typeface="Arial"/>
                        </a:rPr>
                        <a:t>Five Guys Burgers and Fries</a:t>
                      </a:r>
                    </a:p>
                  </a:txBody>
                  <a:tcPr marL="0" marR="0" marT="0" marB="0" anchor="b"/>
                </a:tc>
                <a:tc>
                  <a:txBody>
                    <a:bodyPr lIns="0" tIns="0" rIns="0" bIns="0">
                      <a:noAutofit/>
                    </a:bodyPr>
                    <a:p>
                      <a:pPr algn="r" indent="0"/>
                      <a:r>
                        <a:rPr lang="en-US" b="1" sz="850">
                          <a:latin typeface="Arial"/>
                        </a:rPr>
                        <a:t>506.47</a:t>
                      </a:r>
                    </a:p>
                  </a:txBody>
                  <a:tcPr marL="0" marR="0" marT="0" marB="0" anchor="b"/>
                </a:tc>
              </a:tr>
            </a:tbl>
          </a:graphicData>
        </a:graphic>
      </p:graphicFrame>
      <p:sp>
        <p:nvSpPr>
          <p:cNvPr id="6" name=""/>
          <p:cNvSpPr/>
          <p:nvPr/>
        </p:nvSpPr>
        <p:spPr>
          <a:xfrm>
            <a:off x="45720" y="4672584"/>
            <a:ext cx="2862072" cy="874776"/>
          </a:xfrm>
          <a:prstGeom prst="rect">
            <a:avLst/>
          </a:prstGeom>
        </p:spPr>
        <p:txBody>
          <a:bodyPr lIns="0" tIns="0" rIns="0" bIns="0">
            <a:noAutofit/>
          </a:bodyPr>
          <a:p>
            <a:pPr marR="2087372" indent="0">
              <a:lnSpc>
                <a:spcPts val="1128"/>
              </a:lnSpc>
            </a:pPr>
            <a:r>
              <a:rPr lang="en-US" b="1" sz="850">
                <a:latin typeface="Arial"/>
              </a:rPr>
              <a:t>dtype: float64 In [10]:</a:t>
            </a:r>
          </a:p>
          <a:p>
            <a:pPr indent="0">
              <a:lnSpc>
                <a:spcPts val="1128"/>
              </a:lnSpc>
            </a:pPr>
            <a:r>
              <a:rPr lang="en-US" i="1" sz="950">
                <a:latin typeface="Arial"/>
              </a:rPr>
              <a:t># Relationship between rating and delivery time </a:t>
            </a:r>
            <a:r>
              <a:rPr lang="en-US" b="1" sz="850">
                <a:latin typeface="Arial"/>
              </a:rPr>
              <a:t>plt.figure(figsize=(15, 7))</a:t>
            </a:r>
          </a:p>
          <a:p>
            <a:pPr indent="0">
              <a:lnSpc>
                <a:spcPts val="1128"/>
              </a:lnSpc>
            </a:pPr>
            <a:r>
              <a:rPr lang="en-US" b="1" sz="850">
                <a:latin typeface="Arial"/>
              </a:rPr>
              <a:t>sns.pointplot(x = 'rating', y = 'delivery_time', data = df) plt.show()</a:t>
            </a:r>
          </a:p>
        </p:txBody>
      </p:sp>
      <p:sp>
        <p:nvSpPr>
          <p:cNvPr id="7" name=""/>
          <p:cNvSpPr/>
          <p:nvPr/>
        </p:nvSpPr>
        <p:spPr>
          <a:xfrm>
            <a:off x="45720" y="9345168"/>
            <a:ext cx="3386328" cy="277368"/>
          </a:xfrm>
          <a:prstGeom prst="rect">
            <a:avLst/>
          </a:prstGeom>
        </p:spPr>
        <p:txBody>
          <a:bodyPr lIns="0" tIns="0" rIns="0" bIns="0">
            <a:noAutofit/>
          </a:bodyPr>
          <a:p>
            <a:pPr algn="just" indent="0">
              <a:spcAft>
                <a:spcPts val="210"/>
              </a:spcAft>
            </a:pPr>
            <a:r>
              <a:rPr lang="en-US" i="1" sz="950">
                <a:latin typeface="Arial"/>
              </a:rPr>
              <a:t>#    Replace 'Notgiven' with NaN</a:t>
            </a:r>
          </a:p>
          <a:p>
            <a:pPr algn="just" indent="0"/>
            <a:r>
              <a:rPr lang="en-US" b="1" sz="850">
                <a:latin typeface="Arial"/>
              </a:rPr>
              <a:t>df['rating'] = df['rating'].replace('Not given', pd.NA)</a:t>
            </a:r>
          </a:p>
        </p:txBody>
      </p:sp>
      <p:sp>
        <p:nvSpPr>
          <p:cNvPr id="8" name=""/>
          <p:cNvSpPr/>
          <p:nvPr/>
        </p:nvSpPr>
        <p:spPr>
          <a:xfrm>
            <a:off x="45720" y="9793224"/>
            <a:ext cx="3386328" cy="862584"/>
          </a:xfrm>
          <a:prstGeom prst="rect">
            <a:avLst/>
          </a:prstGeom>
        </p:spPr>
        <p:txBody>
          <a:bodyPr lIns="0" tIns="0" rIns="0" bIns="0">
            <a:noAutofit/>
          </a:bodyPr>
          <a:p>
            <a:pPr marR="1379728" indent="0">
              <a:lnSpc>
                <a:spcPts val="1128"/>
              </a:lnSpc>
              <a:spcBef>
                <a:spcPts val="630"/>
              </a:spcBef>
              <a:spcAft>
                <a:spcPts val="630"/>
              </a:spcAft>
            </a:pPr>
            <a:r>
              <a:rPr lang="en-US" i="1" sz="950">
                <a:latin typeface="Arial"/>
              </a:rPr>
              <a:t>#    Convert rating column to numeric </a:t>
            </a:r>
            <a:r>
              <a:rPr lang="en-US" b="1" sz="850">
                <a:latin typeface="Arial"/>
              </a:rPr>
              <a:t>df['rating'] = pd.to_numeric(df['rating'])</a:t>
            </a:r>
          </a:p>
          <a:p>
            <a:pPr algn="just" indent="0">
              <a:lnSpc>
                <a:spcPts val="1128"/>
              </a:lnSpc>
            </a:pPr>
            <a:r>
              <a:rPr lang="en-US" i="1" sz="950">
                <a:latin typeface="Arial"/>
              </a:rPr>
              <a:t>#    Now check correlation</a:t>
            </a:r>
          </a:p>
          <a:p>
            <a:pPr indent="0">
              <a:lnSpc>
                <a:spcPts val="1128"/>
              </a:lnSpc>
            </a:pPr>
            <a:r>
              <a:rPr lang="en-US" b="1" sz="850">
                <a:latin typeface="Arial"/>
              </a:rPr>
              <a:t>correlation = df['rating'].corr(df['delivery_time']) print("Correlation between rating &amp; delivery_time:", correlation)</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60960" y="1027176"/>
            <a:ext cx="7434072" cy="3767328"/>
          </a:xfrm>
          <a:prstGeom prst="rect">
            <a:avLst/>
          </a:prstGeom>
        </p:spPr>
      </p:pic>
      <p:pic>
        <p:nvPicPr>
          <p:cNvPr id="3" name=""/>
          <p:cNvPicPr>
            <a:picLocks noChangeAspect="1"/>
          </p:cNvPicPr>
          <p:nvPr/>
        </p:nvPicPr>
        <p:blipFill>
          <a:blip r:embed="rPictId1"/>
          <a:stretch>
            <a:fillRect/>
          </a:stretch>
        </p:blipFill>
        <p:spPr>
          <a:xfrm>
            <a:off x="60960" y="5577840"/>
            <a:ext cx="7434072" cy="3767328"/>
          </a:xfrm>
          <a:prstGeom prst="rect">
            <a:avLst/>
          </a:prstGeom>
        </p:spPr>
      </p:pic>
      <p:sp>
        <p:nvSpPr>
          <p:cNvPr id="4" name=""/>
          <p:cNvSpPr/>
          <p:nvPr/>
        </p:nvSpPr>
        <p:spPr>
          <a:xfrm>
            <a:off x="45720" y="0"/>
            <a:ext cx="7467600" cy="990600"/>
          </a:xfrm>
          <a:prstGeom prst="rect">
            <a:avLst/>
          </a:prstGeom>
        </p:spPr>
        <p:txBody>
          <a:bodyPr lIns="0" tIns="0" rIns="0" bIns="0">
            <a:noAutofit/>
          </a:bodyPr>
          <a:p>
            <a:pPr indent="0"/>
            <a:r>
              <a:rPr lang="en-US" sz="750">
                <a:latin typeface="Arial"/>
              </a:rPr>
              <a:t>Correlation between rating &amp; delivery_time: -0.009804253948165316</a:t>
            </a:r>
          </a:p>
          <a:p>
            <a:pPr indent="0">
              <a:lnSpc>
                <a:spcPts val="1128"/>
              </a:lnSpc>
            </a:pPr>
            <a:r>
              <a:rPr lang="en-US" b="1" sz="850">
                <a:latin typeface="Arial"/>
              </a:rPr>
              <a:t>In [19]:</a:t>
            </a:r>
          </a:p>
          <a:p>
            <a:pPr marR="4419600" indent="0">
              <a:lnSpc>
                <a:spcPts val="1128"/>
              </a:lnSpc>
            </a:pPr>
            <a:r>
              <a:rPr lang="en-US" i="1" sz="950">
                <a:latin typeface="Arial"/>
              </a:rPr>
              <a:t>#Rating vs Food preparation time # Relationship between rating and food preparation time </a:t>
            </a:r>
            <a:r>
              <a:rPr lang="en-US" b="1" sz="850">
                <a:latin typeface="Arial"/>
              </a:rPr>
              <a:t>plt.figure(figsize=(15, 7))</a:t>
            </a:r>
          </a:p>
          <a:p>
            <a:pPr algn="just" indent="0">
              <a:lnSpc>
                <a:spcPts val="1128"/>
              </a:lnSpc>
            </a:pPr>
            <a:r>
              <a:rPr lang="en-US" b="1" sz="850">
                <a:latin typeface="Arial"/>
              </a:rPr>
              <a:t>sns.pointplot(x = 'rating', y = 'food_preparation_time', data = df) </a:t>
            </a:r>
            <a:r>
              <a:rPr lang="en-US" i="1" sz="950">
                <a:latin typeface="Arial"/>
              </a:rPr>
              <a:t>## Complete the code to visualize the relationship between rating and food </a:t>
            </a:r>
            <a:r>
              <a:rPr lang="en-US" b="1" sz="850">
                <a:latin typeface="Arial"/>
              </a:rPr>
              <a:t>plt.show()</a:t>
            </a:r>
          </a:p>
        </p:txBody>
      </p:sp>
      <p:sp>
        <p:nvSpPr>
          <p:cNvPr id="5" name=""/>
          <p:cNvSpPr/>
          <p:nvPr/>
        </p:nvSpPr>
        <p:spPr>
          <a:xfrm>
            <a:off x="45720" y="4806696"/>
            <a:ext cx="7467600" cy="734568"/>
          </a:xfrm>
          <a:prstGeom prst="rect">
            <a:avLst/>
          </a:prstGeom>
        </p:spPr>
        <p:txBody>
          <a:bodyPr lIns="0" tIns="0" rIns="0" bIns="0">
            <a:noAutofit/>
          </a:bodyPr>
          <a:p>
            <a:pPr marR="4686300" indent="0">
              <a:lnSpc>
                <a:spcPts val="1128"/>
              </a:lnSpc>
            </a:pPr>
            <a:r>
              <a:rPr lang="en-US" i="1" sz="950">
                <a:latin typeface="Arial"/>
              </a:rPr>
              <a:t>#Rating vs Cost of the order # Relationship between rating and cost of the order </a:t>
            </a:r>
            <a:r>
              <a:rPr lang="en-US" b="1" sz="850">
                <a:latin typeface="Arial"/>
              </a:rPr>
              <a:t>plt.figure(figsize=(15, 7))</a:t>
            </a:r>
          </a:p>
          <a:p>
            <a:pPr algn="just" indent="0">
              <a:lnSpc>
                <a:spcPts val="1128"/>
              </a:lnSpc>
            </a:pPr>
            <a:r>
              <a:rPr lang="en-US" b="1" sz="850">
                <a:latin typeface="Arial"/>
              </a:rPr>
              <a:t>sns.pointplot(x='rating', y='cost_of_the_order', data=df,order=["Not given", </a:t>
            </a:r>
            <a:r>
              <a:rPr lang="en-US" b="1" sz="850" spc="100">
                <a:latin typeface="Arial"/>
              </a:rPr>
              <a:t>1,2,</a:t>
            </a:r>
            <a:r>
              <a:rPr lang="en-US" b="1" sz="850">
                <a:latin typeface="Arial"/>
              </a:rPr>
              <a:t> 3, 4, 5]) </a:t>
            </a:r>
            <a:r>
              <a:rPr lang="en-US" i="1" sz="950">
                <a:latin typeface="Arial"/>
              </a:rPr>
              <a:t>## Complete the code to visualize the relationship b </a:t>
            </a:r>
            <a:r>
              <a:rPr lang="en-US" b="1" sz="850">
                <a:latin typeface="Arial"/>
              </a:rPr>
              <a:t>plt.show()</a:t>
            </a:r>
          </a:p>
        </p:txBody>
      </p:sp>
      <p:sp>
        <p:nvSpPr>
          <p:cNvPr id="6" name=""/>
          <p:cNvSpPr/>
          <p:nvPr/>
        </p:nvSpPr>
        <p:spPr>
          <a:xfrm>
            <a:off x="45720" y="9357360"/>
            <a:ext cx="4828032" cy="877824"/>
          </a:xfrm>
          <a:prstGeom prst="rect">
            <a:avLst/>
          </a:prstGeom>
        </p:spPr>
        <p:txBody>
          <a:bodyPr lIns="0" tIns="0" rIns="0" bIns="0">
            <a:noAutofit/>
          </a:bodyPr>
          <a:p>
            <a:pPr marR="1780032" indent="0">
              <a:lnSpc>
                <a:spcPts val="1128"/>
              </a:lnSpc>
            </a:pPr>
            <a:r>
              <a:rPr lang="en-US" i="1" sz="950">
                <a:latin typeface="Arial"/>
              </a:rPr>
              <a:t>#Correlation among variables # Plot the heatmap</a:t>
            </a:r>
          </a:p>
          <a:p>
            <a:pPr indent="0">
              <a:lnSpc>
                <a:spcPts val="1128"/>
              </a:lnSpc>
            </a:pPr>
            <a:r>
              <a:rPr lang="en-US" b="1" sz="850">
                <a:latin typeface="Arial"/>
              </a:rPr>
              <a:t>col_list = ['cost_of_the_order', 'food_preparation_time', 'delivery_time'] plt.figure(figsize=(15, 7))</a:t>
            </a:r>
          </a:p>
          <a:p>
            <a:pPr indent="0">
              <a:lnSpc>
                <a:spcPts val="1128"/>
              </a:lnSpc>
            </a:pPr>
            <a:r>
              <a:rPr lang="en-US" b="1" sz="850">
                <a:latin typeface="Arial"/>
              </a:rPr>
              <a:t>sns.heatmap(df[col_list].corr(), annot=True, vmin=-1, vmax=1, fmt=".2f", cmap="Spectral") plt.show()</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pic>
        <p:nvPicPr>
          <p:cNvPr id="2" name=""/>
          <p:cNvPicPr>
            <a:picLocks noChangeAspect="1"/>
          </p:cNvPicPr>
          <p:nvPr/>
        </p:nvPicPr>
        <p:blipFill>
          <a:blip r:embed="rPictId0"/>
          <a:stretch>
            <a:fillRect/>
          </a:stretch>
        </p:blipFill>
        <p:spPr>
          <a:xfrm>
            <a:off x="60960" y="0"/>
            <a:ext cx="7434072" cy="3934968"/>
          </a:xfrm>
          <a:prstGeom prst="rect">
            <a:avLst/>
          </a:prstGeom>
        </p:spPr>
      </p:pic>
      <p:sp>
        <p:nvSpPr>
          <p:cNvPr id="3" name=""/>
          <p:cNvSpPr/>
          <p:nvPr/>
        </p:nvSpPr>
        <p:spPr>
          <a:xfrm>
            <a:off x="45720" y="4105656"/>
            <a:ext cx="7467600" cy="4401312"/>
          </a:xfrm>
          <a:prstGeom prst="rect">
            <a:avLst/>
          </a:prstGeom>
        </p:spPr>
        <p:txBody>
          <a:bodyPr lIns="0" tIns="0" rIns="0" bIns="0">
            <a:noAutofit/>
          </a:bodyPr>
          <a:p>
            <a:pPr indent="0">
              <a:lnSpc>
                <a:spcPts val="1368"/>
              </a:lnSpc>
              <a:spcBef>
                <a:spcPts val="840"/>
              </a:spcBef>
            </a:pPr>
            <a:r>
              <a:rPr lang="en-US" b="1" sz="1100">
                <a:latin typeface="Arial"/>
              </a:rPr>
              <a:t>Question 13: The company wants to provide a promotional offer in the advertisement of the restaurants.</a:t>
            </a:r>
          </a:p>
          <a:p>
            <a:pPr indent="0">
              <a:lnSpc>
                <a:spcPts val="1368"/>
              </a:lnSpc>
            </a:pPr>
            <a:r>
              <a:rPr lang="en-US" b="1" sz="1100">
                <a:latin typeface="Arial"/>
              </a:rPr>
              <a:t>The condition to get the offer is that the restaurants must have a rating count of more than 50 and the average rating should be greater than 4. Find the restaurants fulfilling the criteria to get the promotional offer. [3 marks]</a:t>
            </a:r>
          </a:p>
          <a:p>
            <a:pPr indent="0">
              <a:lnSpc>
                <a:spcPts val="1152"/>
              </a:lnSpc>
            </a:pPr>
            <a:r>
              <a:rPr lang="en-US" sz="950">
                <a:latin typeface="Arial"/>
              </a:rPr>
              <a:t>In [32]:</a:t>
            </a:r>
          </a:p>
          <a:p>
            <a:pPr algn="just" indent="0">
              <a:lnSpc>
                <a:spcPts val="1152"/>
              </a:lnSpc>
            </a:pPr>
            <a:r>
              <a:rPr lang="en-US" i="1" sz="950">
                <a:latin typeface="Arial"/>
              </a:rPr>
              <a:t>#    Write the code here</a:t>
            </a:r>
          </a:p>
          <a:p>
            <a:pPr algn="just" indent="0">
              <a:lnSpc>
                <a:spcPts val="1152"/>
              </a:lnSpc>
            </a:pPr>
            <a:r>
              <a:rPr lang="en-US" i="1" sz="950">
                <a:latin typeface="Arial"/>
              </a:rPr>
              <a:t>#    Filter the rated restaurants</a:t>
            </a:r>
          </a:p>
          <a:p>
            <a:pPr algn="just" indent="0">
              <a:lnSpc>
                <a:spcPts val="1152"/>
              </a:lnSpc>
              <a:spcAft>
                <a:spcPts val="840"/>
              </a:spcAft>
            </a:pPr>
            <a:r>
              <a:rPr lang="en-US" sz="950">
                <a:latin typeface="Arial"/>
              </a:rPr>
              <a:t>df_rated </a:t>
            </a:r>
            <a:r>
              <a:rPr lang="en-US" b="1" sz="850">
                <a:latin typeface="Arial"/>
              </a:rPr>
              <a:t>= </a:t>
            </a:r>
            <a:r>
              <a:rPr lang="en-US" sz="950">
                <a:latin typeface="Arial"/>
              </a:rPr>
              <a:t>df[df['rating'] </a:t>
            </a:r>
            <a:r>
              <a:rPr lang="en-US" b="1" sz="850">
                <a:latin typeface="Arial"/>
              </a:rPr>
              <a:t>!= </a:t>
            </a:r>
            <a:r>
              <a:rPr lang="en-US" sz="950">
                <a:latin typeface="Arial"/>
              </a:rPr>
              <a:t>'Not given']</a:t>
            </a:r>
            <a:r>
              <a:rPr lang="en-US" b="1" sz="850">
                <a:latin typeface="Arial"/>
              </a:rPr>
              <a:t>.</a:t>
            </a:r>
            <a:r>
              <a:rPr lang="en-US" sz="950">
                <a:latin typeface="Arial"/>
              </a:rPr>
              <a:t>copy()</a:t>
            </a:r>
          </a:p>
          <a:p>
            <a:pPr marR="330200" indent="0">
              <a:lnSpc>
                <a:spcPts val="1128"/>
              </a:lnSpc>
              <a:spcAft>
                <a:spcPts val="840"/>
              </a:spcAft>
            </a:pPr>
            <a:r>
              <a:rPr lang="en-US" i="1" sz="950">
                <a:latin typeface="Arial"/>
              </a:rPr>
              <a:t>#    Convert rating column from object to integer </a:t>
            </a:r>
            <a:r>
              <a:rPr lang="en-US" sz="950">
                <a:latin typeface="Arial"/>
              </a:rPr>
              <a:t>df_rated['rating'] </a:t>
            </a:r>
            <a:r>
              <a:rPr lang="en-US" b="1" sz="850">
                <a:latin typeface="Arial"/>
              </a:rPr>
              <a:t>= </a:t>
            </a:r>
            <a:r>
              <a:rPr lang="en-US" sz="950">
                <a:latin typeface="Arial"/>
              </a:rPr>
              <a:t>df_rated['rating']</a:t>
            </a:r>
            <a:r>
              <a:rPr lang="en-US" b="1" sz="850">
                <a:latin typeface="Arial"/>
              </a:rPr>
              <a:t>.</a:t>
            </a:r>
            <a:r>
              <a:rPr lang="en-US" sz="950">
                <a:latin typeface="Arial"/>
              </a:rPr>
              <a:t>astype('int')</a:t>
            </a:r>
          </a:p>
          <a:p>
            <a:pPr algn="just" indent="0">
              <a:lnSpc>
                <a:spcPts val="1128"/>
              </a:lnSpc>
            </a:pPr>
            <a:r>
              <a:rPr lang="en-US" i="1" sz="950">
                <a:latin typeface="Arial"/>
              </a:rPr>
              <a:t>#    Create a dataframe that contains the restaurant names with their rating counts</a:t>
            </a:r>
          </a:p>
          <a:p>
            <a:pPr indent="0">
              <a:lnSpc>
                <a:spcPts val="1128"/>
              </a:lnSpc>
              <a:spcAft>
                <a:spcPts val="840"/>
              </a:spcAft>
            </a:pPr>
            <a:r>
              <a:rPr lang="en-US" sz="950">
                <a:latin typeface="Arial"/>
              </a:rPr>
              <a:t>df_rating_count </a:t>
            </a:r>
            <a:r>
              <a:rPr lang="en-US" b="1" sz="850">
                <a:latin typeface="Arial"/>
              </a:rPr>
              <a:t>= </a:t>
            </a:r>
            <a:r>
              <a:rPr lang="en-US" sz="950">
                <a:latin typeface="Arial"/>
              </a:rPr>
              <a:t>df_rated</a:t>
            </a:r>
            <a:r>
              <a:rPr lang="en-US" b="1" sz="850">
                <a:latin typeface="Arial"/>
              </a:rPr>
              <a:t>.</a:t>
            </a:r>
            <a:r>
              <a:rPr lang="en-US" sz="950">
                <a:latin typeface="Arial"/>
              </a:rPr>
              <a:t>groupby(['restaurant_name'])['rating']</a:t>
            </a:r>
            <a:r>
              <a:rPr lang="en-US" b="1" sz="850">
                <a:latin typeface="Arial"/>
              </a:rPr>
              <a:t>.</a:t>
            </a:r>
            <a:r>
              <a:rPr lang="en-US" sz="950">
                <a:latin typeface="Arial"/>
              </a:rPr>
              <a:t>count()</a:t>
            </a:r>
            <a:r>
              <a:rPr lang="en-US" b="1" sz="850">
                <a:latin typeface="Arial"/>
              </a:rPr>
              <a:t>.</a:t>
            </a:r>
            <a:r>
              <a:rPr lang="en-US" sz="950">
                <a:latin typeface="Arial"/>
              </a:rPr>
              <a:t>sort_values(ascending </a:t>
            </a:r>
            <a:r>
              <a:rPr lang="en-US" b="1" sz="850">
                <a:latin typeface="Arial"/>
              </a:rPr>
              <a:t>= False</a:t>
            </a:r>
            <a:r>
              <a:rPr lang="en-US" sz="950">
                <a:latin typeface="Arial"/>
              </a:rPr>
              <a:t>)</a:t>
            </a:r>
            <a:r>
              <a:rPr lang="en-US" b="1" sz="850">
                <a:latin typeface="Arial"/>
              </a:rPr>
              <a:t>.</a:t>
            </a:r>
            <a:r>
              <a:rPr lang="en-US" sz="950">
                <a:latin typeface="Arial"/>
              </a:rPr>
              <a:t>resetJndexO print(df_rating_count</a:t>
            </a:r>
            <a:r>
              <a:rPr lang="en-US" b="1" sz="850">
                <a:latin typeface="Arial"/>
              </a:rPr>
              <a:t>.</a:t>
            </a:r>
            <a:r>
              <a:rPr lang="en-US" sz="950">
                <a:latin typeface="Arial"/>
              </a:rPr>
              <a:t>head())</a:t>
            </a:r>
          </a:p>
          <a:p>
            <a:pPr algn="just" indent="0"/>
            <a:r>
              <a:rPr lang="en-US" i="1" sz="950">
                <a:latin typeface="Arial"/>
              </a:rPr>
              <a:t>#    Get the restaurant names that have rating count more than 50</a:t>
            </a:r>
          </a:p>
          <a:p>
            <a:pPr algn="just" indent="0">
              <a:spcAft>
                <a:spcPts val="840"/>
              </a:spcAft>
            </a:pPr>
            <a:r>
              <a:rPr lang="en-US" sz="950">
                <a:latin typeface="Arial"/>
              </a:rPr>
              <a:t>rest_names </a:t>
            </a:r>
            <a:r>
              <a:rPr lang="en-US" b="1" sz="850">
                <a:latin typeface="Arial"/>
              </a:rPr>
              <a:t>= </a:t>
            </a:r>
            <a:r>
              <a:rPr lang="en-US" sz="950">
                <a:latin typeface="Arial"/>
              </a:rPr>
              <a:t>df_rating_count[df_rating_count['rating'] </a:t>
            </a:r>
            <a:r>
              <a:rPr lang="en-US" b="1" sz="850">
                <a:latin typeface="Arial"/>
              </a:rPr>
              <a:t>&gt;</a:t>
            </a:r>
            <a:r>
              <a:rPr lang="en-US" sz="950">
                <a:latin typeface="Arial"/>
              </a:rPr>
              <a:t>50 ]['restaurant_name'] </a:t>
            </a:r>
            <a:r>
              <a:rPr lang="en-US" i="1" sz="950">
                <a:latin typeface="Arial"/>
              </a:rPr>
              <a:t>## Complete the code to get the restaurant names having r</a:t>
            </a:r>
          </a:p>
          <a:p>
            <a:pPr marR="330200" indent="0">
              <a:lnSpc>
                <a:spcPts val="1152"/>
              </a:lnSpc>
              <a:spcAft>
                <a:spcPts val="840"/>
              </a:spcAft>
            </a:pPr>
            <a:r>
              <a:rPr lang="en-US" i="1" sz="950">
                <a:latin typeface="Arial"/>
              </a:rPr>
              <a:t>#    Filter to get the data of restaurants that have rating count more than 50 </a:t>
            </a:r>
            <a:r>
              <a:rPr lang="en-US" sz="950">
                <a:latin typeface="Arial"/>
              </a:rPr>
              <a:t>df_mean_4 </a:t>
            </a:r>
            <a:r>
              <a:rPr lang="en-US" b="1" sz="850">
                <a:latin typeface="Arial"/>
              </a:rPr>
              <a:t>= </a:t>
            </a:r>
            <a:r>
              <a:rPr lang="en-US" sz="950">
                <a:latin typeface="Arial"/>
              </a:rPr>
              <a:t>df_rated[df_rated['restaurant_name']</a:t>
            </a:r>
            <a:r>
              <a:rPr lang="en-US" b="1" sz="850">
                <a:latin typeface="Arial"/>
              </a:rPr>
              <a:t>.</a:t>
            </a:r>
            <a:r>
              <a:rPr lang="en-US" sz="950">
                <a:latin typeface="Arial"/>
              </a:rPr>
              <a:t>isin(rest_names)]</a:t>
            </a:r>
            <a:r>
              <a:rPr lang="en-US" b="1" sz="850">
                <a:latin typeface="Arial"/>
              </a:rPr>
              <a:t>.</a:t>
            </a:r>
            <a:r>
              <a:rPr lang="en-US" sz="950">
                <a:latin typeface="Arial"/>
              </a:rPr>
              <a:t>copy()</a:t>
            </a:r>
          </a:p>
          <a:p>
            <a:pPr algn="just" indent="0"/>
            <a:r>
              <a:rPr lang="en-US" i="1" sz="950">
                <a:latin typeface="Arial"/>
              </a:rPr>
              <a:t>#    Group the restaurant names with their ratings and find the mean rating of each restaurant</a:t>
            </a:r>
          </a:p>
          <a:p>
            <a:pPr algn="just" indent="0">
              <a:spcAft>
                <a:spcPts val="840"/>
              </a:spcAft>
            </a:pPr>
            <a:r>
              <a:rPr lang="en-US" sz="950">
                <a:latin typeface="Arial"/>
              </a:rPr>
              <a:t>df_mean_4_rating </a:t>
            </a:r>
            <a:r>
              <a:rPr lang="en-US" b="1" sz="850">
                <a:latin typeface="Arial"/>
              </a:rPr>
              <a:t>= </a:t>
            </a:r>
            <a:r>
              <a:rPr lang="en-US" sz="950">
                <a:latin typeface="Arial"/>
              </a:rPr>
              <a:t>df_mean_4</a:t>
            </a:r>
            <a:r>
              <a:rPr lang="en-US" b="1" sz="850">
                <a:latin typeface="Arial"/>
              </a:rPr>
              <a:t>.</a:t>
            </a:r>
            <a:r>
              <a:rPr lang="en-US" sz="950">
                <a:latin typeface="Arial"/>
              </a:rPr>
              <a:t>groupby(['restaurant_name'])['rating']</a:t>
            </a:r>
            <a:r>
              <a:rPr lang="en-US" b="1" sz="850">
                <a:latin typeface="Arial"/>
              </a:rPr>
              <a:t>.</a:t>
            </a:r>
            <a:r>
              <a:rPr lang="en-US" sz="950">
                <a:latin typeface="Arial"/>
              </a:rPr>
              <a:t>mean()</a:t>
            </a:r>
            <a:r>
              <a:rPr lang="en-US" b="1" sz="850">
                <a:latin typeface="Arial"/>
              </a:rPr>
              <a:t>.</a:t>
            </a:r>
            <a:r>
              <a:rPr lang="en-US" sz="950">
                <a:latin typeface="Arial"/>
              </a:rPr>
              <a:t>sort_values(ascending </a:t>
            </a:r>
            <a:r>
              <a:rPr lang="en-US" b="1" sz="850">
                <a:latin typeface="Arial"/>
              </a:rPr>
              <a:t>= False</a:t>
            </a:r>
            <a:r>
              <a:rPr lang="en-US" sz="950">
                <a:latin typeface="Arial"/>
              </a:rPr>
              <a:t>)</a:t>
            </a:r>
            <a:r>
              <a:rPr lang="en-US" b="1" sz="850">
                <a:latin typeface="Arial"/>
              </a:rPr>
              <a:t>.</a:t>
            </a:r>
            <a:r>
              <a:rPr lang="en-US" sz="950">
                <a:latin typeface="Arial"/>
              </a:rPr>
              <a:t>reset</a:t>
            </a:r>
            <a:r>
              <a:rPr lang="en-US" b="1" sz="850">
                <a:latin typeface="Arial"/>
              </a:rPr>
              <a:t>J</a:t>
            </a:r>
            <a:r>
              <a:rPr lang="en-US" sz="950">
                <a:latin typeface="Arial"/>
              </a:rPr>
              <a:t>ndex()</a:t>
            </a:r>
            <a:r>
              <a:rPr lang="en-US" b="1" sz="850">
                <a:latin typeface="Arial"/>
              </a:rPr>
              <a:t>.</a:t>
            </a:r>
            <a:r>
              <a:rPr lang="en-US" sz="950">
                <a:latin typeface="Arial"/>
              </a:rPr>
              <a:t>dropna</a:t>
            </a:r>
            <a:r>
              <a:rPr lang="en-US" b="1" sz="850">
                <a:latin typeface="Arial"/>
              </a:rPr>
              <a:t>O </a:t>
            </a:r>
            <a:r>
              <a:rPr lang="en-US" i="1" sz="950">
                <a:latin typeface="Arial"/>
              </a:rPr>
              <a:t>## Co</a:t>
            </a:r>
          </a:p>
          <a:p>
            <a:pPr algn="just" indent="0"/>
            <a:r>
              <a:rPr lang="en-US" i="1" sz="950">
                <a:latin typeface="Arial"/>
              </a:rPr>
              <a:t>#    filter for average rating greater than 4</a:t>
            </a:r>
          </a:p>
          <a:p>
            <a:pPr algn="just" indent="0">
              <a:lnSpc>
                <a:spcPts val="2280"/>
              </a:lnSpc>
            </a:pPr>
            <a:r>
              <a:rPr lang="en-US" sz="950">
                <a:latin typeface="Arial"/>
              </a:rPr>
              <a:t>df_avg_rating_greater_than_4 </a:t>
            </a:r>
            <a:r>
              <a:rPr lang="en-US" b="1" sz="850">
                <a:latin typeface="Arial"/>
              </a:rPr>
              <a:t>= </a:t>
            </a:r>
            <a:r>
              <a:rPr lang="en-US" sz="950">
                <a:latin typeface="Arial"/>
              </a:rPr>
              <a:t>df_mean_4_rating[df_mean_4_rating['rating'] </a:t>
            </a:r>
            <a:r>
              <a:rPr lang="en-US" b="1" sz="850">
                <a:latin typeface="Arial"/>
              </a:rPr>
              <a:t>&gt; </a:t>
            </a:r>
            <a:r>
              <a:rPr lang="en-US" sz="950">
                <a:latin typeface="Arial"/>
              </a:rPr>
              <a:t>4]</a:t>
            </a:r>
            <a:r>
              <a:rPr lang="en-US" b="1" sz="850">
                <a:latin typeface="Arial"/>
              </a:rPr>
              <a:t>.</a:t>
            </a:r>
            <a:r>
              <a:rPr lang="en-US" sz="950">
                <a:latin typeface="Arial"/>
              </a:rPr>
              <a:t>sort_values(by</a:t>
            </a:r>
            <a:r>
              <a:rPr lang="en-US" b="1" sz="850">
                <a:latin typeface="Arial"/>
              </a:rPr>
              <a:t>=</a:t>
            </a:r>
            <a:r>
              <a:rPr lang="en-US" sz="950">
                <a:latin typeface="Arial"/>
              </a:rPr>
              <a:t>'rating', ascending</a:t>
            </a:r>
            <a:r>
              <a:rPr lang="en-US" b="1" sz="850">
                <a:latin typeface="Arial"/>
              </a:rPr>
              <a:t>=False</a:t>
            </a:r>
            <a:r>
              <a:rPr lang="en-US" sz="950">
                <a:latin typeface="Arial"/>
              </a:rPr>
              <a:t>)</a:t>
            </a:r>
            <a:r>
              <a:rPr lang="en-US" b="1" sz="850">
                <a:latin typeface="Arial"/>
              </a:rPr>
              <a:t>.</a:t>
            </a:r>
            <a:r>
              <a:rPr lang="en-US" sz="950">
                <a:latin typeface="Arial"/>
              </a:rPr>
              <a:t>reset_index(d df_avg_rating_greater_than_4</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45720" y="0"/>
            <a:ext cx="1591056" cy="874776"/>
          </a:xfrm>
          <a:prstGeom prst="rect">
            <a:avLst/>
          </a:prstGeom>
        </p:spPr>
        <p:txBody>
          <a:bodyPr lIns="0" tIns="0" rIns="0" bIns="0">
            <a:noAutofit/>
          </a:bodyPr>
          <a:p>
            <a:pPr marL="381000" indent="0">
              <a:lnSpc>
                <a:spcPts val="936"/>
              </a:lnSpc>
            </a:pPr>
            <a:r>
              <a:rPr lang="en-US" sz="750">
                <a:latin typeface="Arial"/>
              </a:rPr>
              <a:t>restaurant_name rating</a:t>
            </a:r>
          </a:p>
          <a:p>
            <a:pPr algn="just" indent="0">
              <a:lnSpc>
                <a:spcPts val="936"/>
              </a:lnSpc>
            </a:pPr>
            <a:r>
              <a:rPr lang="en-US" sz="750">
                <a:latin typeface="Arial"/>
              </a:rPr>
              <a:t>0    Shake Shack 133</a:t>
            </a:r>
          </a:p>
          <a:p>
            <a:pPr algn="just" indent="0">
              <a:lnSpc>
                <a:spcPts val="936"/>
              </a:lnSpc>
            </a:pPr>
            <a:r>
              <a:rPr lang="en-US" sz="750">
                <a:latin typeface="Arial"/>
              </a:rPr>
              <a:t>1    The Meatball Shop    84</a:t>
            </a:r>
          </a:p>
          <a:p>
            <a:pPr algn="just" indent="0">
              <a:lnSpc>
                <a:spcPts val="936"/>
              </a:lnSpc>
            </a:pPr>
            <a:r>
              <a:rPr lang="en-US" sz="750">
                <a:latin typeface="Arial"/>
              </a:rPr>
              <a:t>2    Blue Ribbon Sushi    73</a:t>
            </a:r>
          </a:p>
          <a:p>
            <a:pPr algn="just" indent="0">
              <a:lnSpc>
                <a:spcPts val="936"/>
              </a:lnSpc>
            </a:pPr>
            <a:r>
              <a:rPr lang="en-US" sz="750">
                <a:latin typeface="Arial"/>
              </a:rPr>
              <a:t>3    Blue Ribbon Fried Chicken 64</a:t>
            </a:r>
          </a:p>
          <a:p>
            <a:pPr algn="just" indent="0">
              <a:lnSpc>
                <a:spcPts val="1104"/>
              </a:lnSpc>
            </a:pPr>
            <a:r>
              <a:rPr lang="en-US" sz="750">
                <a:latin typeface="Arial"/>
              </a:rPr>
              <a:t>4    RedFarm Broadway    41</a:t>
            </a:r>
          </a:p>
          <a:p>
            <a:pPr algn="just" indent="0">
              <a:lnSpc>
                <a:spcPts val="1104"/>
              </a:lnSpc>
            </a:pPr>
            <a:r>
              <a:rPr lang="en-US" sz="950">
                <a:latin typeface="Arial"/>
              </a:rPr>
              <a:t>Out[32]:</a:t>
            </a:r>
          </a:p>
        </p:txBody>
      </p:sp>
      <p:graphicFrame>
        <p:nvGraphicFramePr>
          <p:cNvPr id="3" name=""/>
          <p:cNvGraphicFramePr>
            <a:graphicFrameLocks noGrp="1"/>
          </p:cNvGraphicFramePr>
          <p:nvPr/>
        </p:nvGraphicFramePr>
        <p:xfrm>
          <a:off x="106680" y="929640"/>
          <a:ext cx="2292096" cy="1341120"/>
        </p:xfrm>
        <a:graphic>
          <a:graphicData uri="http://schemas.openxmlformats.org/drawingml/2006/table">
            <a:tbl>
              <a:tblPr/>
              <a:tblGrid>
                <a:gridCol w="359664"/>
                <a:gridCol w="1350264"/>
                <a:gridCol w="582168"/>
              </a:tblGrid>
              <a:tr h="201168">
                <a:tc>
                  <a:txBody>
                    <a:bodyPr lIns="0" tIns="0" rIns="0" bIns="0">
                      <a:noAutofit/>
                    </a:bodyPr>
                    <a:p>
                      <a:endParaRPr sz="1000"/>
                    </a:p>
                  </a:txBody>
                  <a:tcPr marL="0" marR="0" marT="0" marB="0"/>
                </a:tc>
                <a:tc>
                  <a:txBody>
                    <a:bodyPr lIns="0" tIns="0" rIns="0" bIns="0">
                      <a:noAutofit/>
                    </a:bodyPr>
                    <a:p>
                      <a:pPr algn="r" indent="0"/>
                      <a:r>
                        <a:rPr lang="en-US" b="1" sz="850">
                          <a:latin typeface="Arial"/>
                        </a:rPr>
                        <a:t>restaurant_name</a:t>
                      </a:r>
                    </a:p>
                  </a:txBody>
                  <a:tcPr marL="0" marR="0" marT="0" marB="0"/>
                </a:tc>
                <a:tc>
                  <a:txBody>
                    <a:bodyPr lIns="0" tIns="0" rIns="0" bIns="0">
                      <a:noAutofit/>
                    </a:bodyPr>
                    <a:p>
                      <a:pPr algn="r" indent="0"/>
                      <a:r>
                        <a:rPr lang="en-US" b="1" sz="850">
                          <a:latin typeface="Arial"/>
                        </a:rPr>
                        <a:t>rating</a:t>
                      </a:r>
                    </a:p>
                  </a:txBody>
                  <a:tcPr marL="0" marR="0" marT="0" marB="0"/>
                </a:tc>
              </a:tr>
              <a:tr h="265176">
                <a:tc>
                  <a:txBody>
                    <a:bodyPr lIns="0" tIns="0" rIns="0" bIns="0">
                      <a:noAutofit/>
                    </a:bodyPr>
                    <a:p>
                      <a:pPr indent="0"/>
                      <a:r>
                        <a:rPr lang="en-US" sz="950">
                          <a:latin typeface="Arial"/>
                        </a:rPr>
                        <a:t>0</a:t>
                      </a:r>
                    </a:p>
                  </a:txBody>
                  <a:tcPr marL="0" marR="0" marT="0" marB="0" anchor="ctr"/>
                </a:tc>
                <a:tc>
                  <a:txBody>
                    <a:bodyPr lIns="0" tIns="0" rIns="0" bIns="0">
                      <a:noAutofit/>
                    </a:bodyPr>
                    <a:p>
                      <a:pPr algn="r" indent="0"/>
                      <a:r>
                        <a:rPr lang="en-US" sz="950">
                          <a:latin typeface="Arial"/>
                        </a:rPr>
                        <a:t>The Meatball Shop</a:t>
                      </a:r>
                    </a:p>
                  </a:txBody>
                  <a:tcPr marL="0" marR="0" marT="0" marB="0" anchor="ctr"/>
                </a:tc>
                <a:tc>
                  <a:txBody>
                    <a:bodyPr lIns="0" tIns="0" rIns="0" bIns="0">
                      <a:noAutofit/>
                    </a:bodyPr>
                    <a:p>
                      <a:pPr algn="r" indent="0"/>
                      <a:r>
                        <a:rPr lang="en-US" sz="950">
                          <a:latin typeface="Arial"/>
                        </a:rPr>
                        <a:t>4.511905</a:t>
                      </a:r>
                    </a:p>
                  </a:txBody>
                  <a:tcPr marL="0" marR="0" marT="0" marB="0" anchor="ctr"/>
                </a:tc>
              </a:tr>
              <a:tr h="408432">
                <a:tc>
                  <a:txBody>
                    <a:bodyPr lIns="0" tIns="0" rIns="0" bIns="0">
                      <a:noAutofit/>
                    </a:bodyPr>
                    <a:p>
                      <a:pPr indent="0"/>
                      <a:r>
                        <a:rPr lang="en-US" sz="950">
                          <a:latin typeface="Arial"/>
                        </a:rPr>
                        <a:t>1</a:t>
                      </a:r>
                    </a:p>
                  </a:txBody>
                  <a:tcPr marL="0" marR="0" marT="0" marB="0" anchor="ctr"/>
                </a:tc>
                <a:tc>
                  <a:txBody>
                    <a:bodyPr lIns="0" tIns="0" rIns="0" bIns="0">
                      <a:noAutofit/>
                    </a:bodyPr>
                    <a:p>
                      <a:pPr algn="r" marL="304800" indent="0">
                        <a:lnSpc>
                          <a:spcPts val="1152"/>
                        </a:lnSpc>
                      </a:pPr>
                      <a:r>
                        <a:rPr lang="en-US" sz="950">
                          <a:latin typeface="Arial"/>
                        </a:rPr>
                        <a:t>Blue Ribbon Fried Chicken</a:t>
                      </a:r>
                    </a:p>
                  </a:txBody>
                  <a:tcPr marL="0" marR="0" marT="0" marB="0" anchor="ctr"/>
                </a:tc>
                <a:tc>
                  <a:txBody>
                    <a:bodyPr lIns="0" tIns="0" rIns="0" bIns="0">
                      <a:noAutofit/>
                    </a:bodyPr>
                    <a:p>
                      <a:pPr algn="r" indent="0"/>
                      <a:r>
                        <a:rPr lang="en-US" sz="950">
                          <a:latin typeface="Arial"/>
                        </a:rPr>
                        <a:t>4.328125</a:t>
                      </a:r>
                    </a:p>
                  </a:txBody>
                  <a:tcPr marL="0" marR="0" marT="0" marB="0" anchor="ctr"/>
                </a:tc>
              </a:tr>
              <a:tr h="265176">
                <a:tc>
                  <a:txBody>
                    <a:bodyPr lIns="0" tIns="0" rIns="0" bIns="0">
                      <a:noAutofit/>
                    </a:bodyPr>
                    <a:p>
                      <a:pPr indent="0"/>
                      <a:r>
                        <a:rPr lang="en-US" sz="950">
                          <a:latin typeface="Arial"/>
                        </a:rPr>
                        <a:t>2</a:t>
                      </a:r>
                    </a:p>
                  </a:txBody>
                  <a:tcPr marL="0" marR="0" marT="0" marB="0" anchor="ctr"/>
                </a:tc>
                <a:tc>
                  <a:txBody>
                    <a:bodyPr lIns="0" tIns="0" rIns="0" bIns="0">
                      <a:noAutofit/>
                    </a:bodyPr>
                    <a:p>
                      <a:pPr algn="r" indent="0"/>
                      <a:r>
                        <a:rPr lang="en-US" sz="950">
                          <a:latin typeface="Arial"/>
                        </a:rPr>
                        <a:t>Shake Shack</a:t>
                      </a:r>
                    </a:p>
                  </a:txBody>
                  <a:tcPr marL="0" marR="0" marT="0" marB="0" anchor="ctr"/>
                </a:tc>
                <a:tc>
                  <a:txBody>
                    <a:bodyPr lIns="0" tIns="0" rIns="0" bIns="0">
                      <a:noAutofit/>
                    </a:bodyPr>
                    <a:p>
                      <a:pPr algn="r" indent="0"/>
                      <a:r>
                        <a:rPr lang="en-US" sz="950">
                          <a:latin typeface="Arial"/>
                        </a:rPr>
                        <a:t>4.278195</a:t>
                      </a:r>
                    </a:p>
                  </a:txBody>
                  <a:tcPr marL="0" marR="0" marT="0" marB="0" anchor="ctr"/>
                </a:tc>
              </a:tr>
              <a:tr h="201168">
                <a:tc>
                  <a:txBody>
                    <a:bodyPr lIns="0" tIns="0" rIns="0" bIns="0">
                      <a:noAutofit/>
                    </a:bodyPr>
                    <a:p>
                      <a:pPr indent="0"/>
                      <a:r>
                        <a:rPr lang="en-US" b="1" sz="850">
                          <a:latin typeface="Arial"/>
                        </a:rPr>
                        <a:t>3</a:t>
                      </a:r>
                    </a:p>
                  </a:txBody>
                  <a:tcPr marL="0" marR="0" marT="0" marB="0" anchor="b"/>
                </a:tc>
                <a:tc>
                  <a:txBody>
                    <a:bodyPr lIns="0" tIns="0" rIns="0" bIns="0">
                      <a:noAutofit/>
                    </a:bodyPr>
                    <a:p>
                      <a:pPr algn="r" indent="0"/>
                      <a:r>
                        <a:rPr lang="en-US" sz="950">
                          <a:latin typeface="Arial"/>
                        </a:rPr>
                        <a:t>Blue Ribbon Sushi</a:t>
                      </a:r>
                    </a:p>
                  </a:txBody>
                  <a:tcPr marL="0" marR="0" marT="0" marB="0" anchor="b"/>
                </a:tc>
                <a:tc>
                  <a:txBody>
                    <a:bodyPr lIns="0" tIns="0" rIns="0" bIns="0">
                      <a:noAutofit/>
                    </a:bodyPr>
                    <a:p>
                      <a:pPr algn="r" indent="0"/>
                      <a:r>
                        <a:rPr lang="en-US" sz="950">
                          <a:latin typeface="Arial"/>
                        </a:rPr>
                        <a:t>4.219178</a:t>
                      </a:r>
                    </a:p>
                  </a:txBody>
                  <a:tcPr marL="0" marR="0" marT="0" marB="0" anchor="b"/>
                </a:tc>
              </a:tr>
            </a:tbl>
          </a:graphicData>
        </a:graphic>
      </p:graphicFrame>
      <p:sp>
        <p:nvSpPr>
          <p:cNvPr id="4" name=""/>
          <p:cNvSpPr/>
          <p:nvPr/>
        </p:nvSpPr>
        <p:spPr>
          <a:xfrm>
            <a:off x="48768" y="2627376"/>
            <a:ext cx="6160008" cy="868680"/>
          </a:xfrm>
          <a:prstGeom prst="rect">
            <a:avLst/>
          </a:prstGeom>
        </p:spPr>
        <p:txBody>
          <a:bodyPr lIns="0" tIns="0" rIns="0" bIns="0">
            <a:noAutofit/>
          </a:bodyPr>
          <a:p>
            <a:pPr algn="just" indent="0">
              <a:spcBef>
                <a:spcPts val="1890"/>
              </a:spcBef>
              <a:spcAft>
                <a:spcPts val="1050"/>
              </a:spcAft>
            </a:pPr>
            <a:r>
              <a:rPr lang="en-US" b="1" sz="850">
                <a:latin typeface="Arial"/>
              </a:rPr>
              <a:t>Observations:</a:t>
            </a:r>
          </a:p>
          <a:p>
            <a:pPr indent="0">
              <a:lnSpc>
                <a:spcPts val="1128"/>
              </a:lnSpc>
              <a:spcAft>
                <a:spcPts val="2730"/>
              </a:spcAft>
            </a:pPr>
            <a:r>
              <a:rPr lang="en-US" sz="950">
                <a:latin typeface="Arial"/>
              </a:rPr>
              <a:t>Restaurant for promotion offer are base don criteria of rating count &gt; 50 and avg rating &gt; 4 are The Meatball Shop Blue Ribbon Fried Chicken Shake Shack Blue Ribbon Sushi</a:t>
            </a:r>
          </a:p>
        </p:txBody>
      </p:sp>
      <p:sp>
        <p:nvSpPr>
          <p:cNvPr id="5" name=""/>
          <p:cNvSpPr/>
          <p:nvPr/>
        </p:nvSpPr>
        <p:spPr>
          <a:xfrm>
            <a:off x="45720" y="3998976"/>
            <a:ext cx="7467600" cy="6211824"/>
          </a:xfrm>
          <a:prstGeom prst="rect">
            <a:avLst/>
          </a:prstGeom>
        </p:spPr>
        <p:txBody>
          <a:bodyPr lIns="0" tIns="0" rIns="0" bIns="0">
            <a:noAutofit/>
          </a:bodyPr>
          <a:p>
            <a:pPr indent="0">
              <a:lnSpc>
                <a:spcPts val="1368"/>
              </a:lnSpc>
              <a:spcBef>
                <a:spcPts val="2730"/>
              </a:spcBef>
              <a:spcAft>
                <a:spcPts val="210"/>
              </a:spcAft>
            </a:pPr>
            <a:r>
              <a:rPr lang="en-US" b="1" sz="1100">
                <a:latin typeface="Arial"/>
              </a:rPr>
              <a:t>Question 14: The company charges the restaurant 25% on the orders having cost greater than 20 dollars and 15% on the orders having cost greater than 5 dollars. Find the net revenue generated by the company across all orders. [3 marks]</a:t>
            </a:r>
          </a:p>
          <a:p>
            <a:pPr algn="just" indent="0">
              <a:lnSpc>
                <a:spcPts val="1128"/>
              </a:lnSpc>
            </a:pPr>
            <a:r>
              <a:rPr lang="en-US" sz="950">
                <a:latin typeface="Arial"/>
              </a:rPr>
              <a:t>In [33]:</a:t>
            </a:r>
          </a:p>
          <a:p>
            <a:pPr marR="5575300" indent="0">
              <a:lnSpc>
                <a:spcPts val="1128"/>
              </a:lnSpc>
            </a:pPr>
            <a:r>
              <a:rPr lang="en-US" i="1" sz="950">
                <a:latin typeface="Arial"/>
              </a:rPr>
              <a:t>#    Write the code here #function to determine the revenue </a:t>
            </a:r>
            <a:r>
              <a:rPr lang="en-US" b="1" sz="850">
                <a:latin typeface="Arial"/>
              </a:rPr>
              <a:t>def </a:t>
            </a:r>
            <a:r>
              <a:rPr lang="en-US" sz="950">
                <a:latin typeface="Arial"/>
              </a:rPr>
              <a:t>compute_rev(x):</a:t>
            </a:r>
          </a:p>
          <a:p>
            <a:pPr marL="152400" indent="0">
              <a:lnSpc>
                <a:spcPts val="1128"/>
              </a:lnSpc>
            </a:pPr>
            <a:r>
              <a:rPr lang="en-US" b="1" sz="850">
                <a:latin typeface="Arial"/>
              </a:rPr>
              <a:t>if </a:t>
            </a:r>
            <a:r>
              <a:rPr lang="en-US" sz="950">
                <a:latin typeface="Arial"/>
              </a:rPr>
              <a:t>x </a:t>
            </a:r>
            <a:r>
              <a:rPr lang="en-US" b="1" sz="850">
                <a:latin typeface="Arial"/>
              </a:rPr>
              <a:t>&gt; </a:t>
            </a:r>
            <a:r>
              <a:rPr lang="en-US" sz="950">
                <a:latin typeface="Arial"/>
              </a:rPr>
              <a:t>20:</a:t>
            </a:r>
          </a:p>
          <a:p>
            <a:pPr marL="152400" marR="6451600" indent="152400">
              <a:lnSpc>
                <a:spcPts val="1128"/>
              </a:lnSpc>
            </a:pPr>
            <a:r>
              <a:rPr lang="en-US" b="1" sz="850">
                <a:latin typeface="Arial"/>
              </a:rPr>
              <a:t>return </a:t>
            </a:r>
            <a:r>
              <a:rPr lang="en-US" sz="950">
                <a:latin typeface="Arial"/>
              </a:rPr>
              <a:t>x</a:t>
            </a:r>
            <a:r>
              <a:rPr lang="en-US" b="1" sz="850">
                <a:latin typeface="Arial"/>
              </a:rPr>
              <a:t>*</a:t>
            </a:r>
            <a:r>
              <a:rPr lang="en-US" sz="950">
                <a:latin typeface="Arial"/>
              </a:rPr>
              <a:t>0.25 </a:t>
            </a:r>
            <a:r>
              <a:rPr lang="en-US" b="1" sz="850">
                <a:latin typeface="Arial"/>
              </a:rPr>
              <a:t>elif </a:t>
            </a:r>
            <a:r>
              <a:rPr lang="en-US" sz="950">
                <a:latin typeface="Arial"/>
              </a:rPr>
              <a:t>x </a:t>
            </a:r>
            <a:r>
              <a:rPr lang="en-US" b="1" sz="850">
                <a:latin typeface="Arial"/>
              </a:rPr>
              <a:t>&gt; </a:t>
            </a:r>
            <a:r>
              <a:rPr lang="en-US" sz="950">
                <a:latin typeface="Arial"/>
              </a:rPr>
              <a:t>5: </a:t>
            </a:r>
            <a:r>
              <a:rPr lang="en-US" b="1" sz="850">
                <a:latin typeface="Arial"/>
              </a:rPr>
              <a:t>return </a:t>
            </a:r>
            <a:r>
              <a:rPr lang="en-US" sz="950">
                <a:latin typeface="Arial"/>
              </a:rPr>
              <a:t>x</a:t>
            </a:r>
            <a:r>
              <a:rPr lang="en-US" b="1" sz="850">
                <a:latin typeface="Arial"/>
              </a:rPr>
              <a:t>*</a:t>
            </a:r>
            <a:r>
              <a:rPr lang="en-US" sz="950">
                <a:latin typeface="Arial"/>
              </a:rPr>
              <a:t>0.15 </a:t>
            </a:r>
            <a:r>
              <a:rPr lang="en-US" b="1" sz="850">
                <a:latin typeface="Arial"/>
              </a:rPr>
              <a:t>else</a:t>
            </a:r>
            <a:r>
              <a:rPr lang="en-US" sz="950">
                <a:latin typeface="Arial"/>
              </a:rPr>
              <a:t>:</a:t>
            </a:r>
          </a:p>
          <a:p>
            <a:pPr marL="152400" indent="152400">
              <a:lnSpc>
                <a:spcPts val="1128"/>
              </a:lnSpc>
              <a:spcAft>
                <a:spcPts val="630"/>
              </a:spcAft>
            </a:pPr>
            <a:r>
              <a:rPr lang="en-US" b="1" sz="850">
                <a:latin typeface="Arial"/>
              </a:rPr>
              <a:t>return </a:t>
            </a:r>
            <a:r>
              <a:rPr lang="en-US" sz="950">
                <a:latin typeface="Arial"/>
              </a:rPr>
              <a:t>x</a:t>
            </a:r>
            <a:r>
              <a:rPr lang="en-US" b="1" sz="850">
                <a:latin typeface="Arial"/>
              </a:rPr>
              <a:t>*</a:t>
            </a:r>
            <a:r>
              <a:rPr lang="en-US" sz="950">
                <a:latin typeface="Arial"/>
              </a:rPr>
              <a:t>0</a:t>
            </a:r>
          </a:p>
          <a:p>
            <a:pPr marR="990600" indent="0">
              <a:lnSpc>
                <a:spcPts val="1128"/>
              </a:lnSpc>
              <a:spcAft>
                <a:spcPts val="630"/>
              </a:spcAft>
            </a:pPr>
            <a:r>
              <a:rPr lang="en-US" sz="950">
                <a:latin typeface="Arial"/>
              </a:rPr>
              <a:t>df['Revenue'] </a:t>
            </a:r>
            <a:r>
              <a:rPr lang="en-US" b="1" sz="850">
                <a:latin typeface="Arial"/>
              </a:rPr>
              <a:t>= </a:t>
            </a:r>
            <a:r>
              <a:rPr lang="en-US" sz="950">
                <a:latin typeface="Arial"/>
              </a:rPr>
              <a:t>df['cost_of_the_order']</a:t>
            </a:r>
            <a:r>
              <a:rPr lang="en-US" b="1" sz="850">
                <a:latin typeface="Arial"/>
              </a:rPr>
              <a:t>.</a:t>
            </a:r>
            <a:r>
              <a:rPr lang="en-US" sz="950">
                <a:latin typeface="Arial"/>
              </a:rPr>
              <a:t>apply(compute_rev) </a:t>
            </a:r>
            <a:r>
              <a:rPr lang="en-US" i="1" sz="950">
                <a:latin typeface="Arial"/>
              </a:rPr>
              <a:t>## Write the apprpriate column name to compute the revenue </a:t>
            </a:r>
            <a:r>
              <a:rPr lang="en-US" sz="950">
                <a:latin typeface="Arial"/>
              </a:rPr>
              <a:t>df</a:t>
            </a:r>
            <a:r>
              <a:rPr lang="en-US" b="1" sz="850">
                <a:latin typeface="Arial"/>
              </a:rPr>
              <a:t>.</a:t>
            </a:r>
            <a:r>
              <a:rPr lang="en-US" sz="950">
                <a:latin typeface="Arial"/>
              </a:rPr>
              <a:t>head()</a:t>
            </a:r>
          </a:p>
          <a:p>
            <a:pPr algn="just" indent="0">
              <a:lnSpc>
                <a:spcPts val="1128"/>
              </a:lnSpc>
            </a:pPr>
            <a:r>
              <a:rPr lang="en-US" i="1" sz="950">
                <a:latin typeface="Arial"/>
              </a:rPr>
              <a:t>#    get the total revenue and print it</a:t>
            </a:r>
          </a:p>
          <a:p>
            <a:pPr marR="2730500" indent="0">
              <a:lnSpc>
                <a:spcPts val="1128"/>
              </a:lnSpc>
            </a:pPr>
            <a:r>
              <a:rPr lang="en-US" sz="950">
                <a:latin typeface="Arial"/>
              </a:rPr>
              <a:t>total_rev </a:t>
            </a:r>
            <a:r>
              <a:rPr lang="en-US" b="1" sz="850">
                <a:latin typeface="Arial"/>
              </a:rPr>
              <a:t>= </a:t>
            </a:r>
            <a:r>
              <a:rPr lang="en-US" sz="950">
                <a:latin typeface="Arial"/>
              </a:rPr>
              <a:t>df['Revenue']</a:t>
            </a:r>
            <a:r>
              <a:rPr lang="en-US" b="1" sz="850">
                <a:latin typeface="Arial"/>
              </a:rPr>
              <a:t>.</a:t>
            </a:r>
            <a:r>
              <a:rPr lang="en-US" sz="950">
                <a:latin typeface="Arial"/>
              </a:rPr>
              <a:t>sum() </a:t>
            </a:r>
            <a:r>
              <a:rPr lang="en-US" i="1" sz="950">
                <a:latin typeface="Arial"/>
              </a:rPr>
              <a:t>## Write the appropriate function to get the total revenue </a:t>
            </a:r>
            <a:r>
              <a:rPr lang="en-US" sz="950">
                <a:latin typeface="Arial"/>
              </a:rPr>
              <a:t>print('The net revenue is around', round(total_rev, 2), 'dollars')</a:t>
            </a:r>
          </a:p>
          <a:p>
            <a:pPr algn="just" indent="0">
              <a:spcAft>
                <a:spcPts val="1050"/>
              </a:spcAft>
            </a:pPr>
            <a:r>
              <a:rPr lang="en-US" sz="750">
                <a:latin typeface="Arial"/>
              </a:rPr>
              <a:t>The net revenue is around 6166.3 dollars</a:t>
            </a:r>
          </a:p>
          <a:p>
            <a:pPr algn="just" indent="0">
              <a:spcAft>
                <a:spcPts val="1050"/>
              </a:spcAft>
            </a:pPr>
            <a:r>
              <a:rPr lang="en-US" b="1" sz="850">
                <a:latin typeface="Arial"/>
              </a:rPr>
              <a:t>Observations:</a:t>
            </a:r>
          </a:p>
          <a:p>
            <a:pPr algn="just" marR="304800" indent="0">
              <a:lnSpc>
                <a:spcPts val="1368"/>
              </a:lnSpc>
              <a:spcAft>
                <a:spcPts val="210"/>
              </a:spcAft>
            </a:pPr>
            <a:r>
              <a:rPr lang="en-US" b="1" sz="1100">
                <a:latin typeface="Arial"/>
              </a:rPr>
              <a:t>Question 15: The company wants to analyze the total time required to deliver the food. What percentage of orders take more than 60 minutes to get delivered from the time the order is placed? (The food has to be prepared and then delivered.) [2 marks]</a:t>
            </a:r>
          </a:p>
          <a:p>
            <a:pPr algn="just" indent="0">
              <a:spcAft>
                <a:spcPts val="210"/>
              </a:spcAft>
            </a:pPr>
            <a:r>
              <a:rPr lang="en-US" sz="950">
                <a:latin typeface="Arial"/>
              </a:rPr>
              <a:t>In [34]:</a:t>
            </a:r>
          </a:p>
          <a:p>
            <a:pPr algn="just" indent="0">
              <a:spcAft>
                <a:spcPts val="210"/>
              </a:spcAft>
            </a:pPr>
            <a:r>
              <a:rPr lang="en-US" i="1" sz="950">
                <a:latin typeface="Arial"/>
              </a:rPr>
              <a:t>#    Write the code here</a:t>
            </a:r>
          </a:p>
          <a:p>
            <a:pPr marR="1917700" indent="0">
              <a:lnSpc>
                <a:spcPts val="1152"/>
              </a:lnSpc>
              <a:spcAft>
                <a:spcPts val="630"/>
              </a:spcAft>
            </a:pPr>
            <a:r>
              <a:rPr lang="en-US" i="1" sz="950">
                <a:latin typeface="Arial"/>
              </a:rPr>
              <a:t>#    Calculate total delivery time and add a new column to the dataframe df to store the total delivery time </a:t>
            </a:r>
            <a:r>
              <a:rPr lang="en-US" sz="950">
                <a:latin typeface="Arial"/>
              </a:rPr>
              <a:t>df['total_time'] </a:t>
            </a:r>
            <a:r>
              <a:rPr lang="en-US" b="1" sz="850">
                <a:latin typeface="Arial"/>
              </a:rPr>
              <a:t>= </a:t>
            </a:r>
            <a:r>
              <a:rPr lang="en-US" sz="950">
                <a:latin typeface="Arial"/>
              </a:rPr>
              <a:t>df['food_preparation_time'] </a:t>
            </a:r>
            <a:r>
              <a:rPr lang="en-US" b="1" sz="850">
                <a:latin typeface="Arial"/>
              </a:rPr>
              <a:t>+ </a:t>
            </a:r>
            <a:r>
              <a:rPr lang="en-US" sz="950">
                <a:latin typeface="Arial"/>
              </a:rPr>
              <a:t>df['delivery_time']</a:t>
            </a:r>
          </a:p>
          <a:p>
            <a:pPr algn="just" indent="0">
              <a:lnSpc>
                <a:spcPts val="1128"/>
              </a:lnSpc>
              <a:spcAft>
                <a:spcPts val="630"/>
              </a:spcAft>
            </a:pPr>
            <a:r>
              <a:rPr lang="en-US" i="1" sz="950">
                <a:latin typeface="Arial"/>
              </a:rPr>
              <a:t>## Write the code below to find the percentage of orders that have more than 60 minutes of total delivery time (see Question 9 for referenc </a:t>
            </a:r>
            <a:r>
              <a:rPr lang="en-US" sz="950">
                <a:latin typeface="Arial"/>
              </a:rPr>
              <a:t>perc_over_60 </a:t>
            </a:r>
            <a:r>
              <a:rPr lang="en-US" b="1" sz="850">
                <a:latin typeface="Arial"/>
              </a:rPr>
              <a:t>= </a:t>
            </a:r>
            <a:r>
              <a:rPr lang="en-US" sz="950">
                <a:latin typeface="Arial"/>
              </a:rPr>
              <a:t>(df[df['total_time'] </a:t>
            </a:r>
            <a:r>
              <a:rPr lang="en-US" b="1" sz="850">
                <a:latin typeface="Arial"/>
              </a:rPr>
              <a:t>&gt; </a:t>
            </a:r>
            <a:r>
              <a:rPr lang="en-US" sz="950">
                <a:latin typeface="Arial"/>
              </a:rPr>
              <a:t>60]</a:t>
            </a:r>
            <a:r>
              <a:rPr lang="en-US" b="1" sz="850">
                <a:latin typeface="Arial"/>
              </a:rPr>
              <a:t>.</a:t>
            </a:r>
            <a:r>
              <a:rPr lang="en-US" sz="950">
                <a:latin typeface="Arial"/>
              </a:rPr>
              <a:t>shape[0] </a:t>
            </a:r>
            <a:r>
              <a:rPr lang="en-US" b="1" sz="850">
                <a:latin typeface="Arial"/>
              </a:rPr>
              <a:t>/ </a:t>
            </a:r>
            <a:r>
              <a:rPr lang="en-US" sz="950">
                <a:latin typeface="Arial"/>
              </a:rPr>
              <a:t>df</a:t>
            </a:r>
            <a:r>
              <a:rPr lang="en-US" b="1" sz="850">
                <a:latin typeface="Arial"/>
              </a:rPr>
              <a:t>.</a:t>
            </a:r>
            <a:r>
              <a:rPr lang="en-US" sz="950">
                <a:latin typeface="Arial"/>
              </a:rPr>
              <a:t>shape[0]) </a:t>
            </a:r>
            <a:r>
              <a:rPr lang="en-US" b="1" sz="850">
                <a:latin typeface="Arial"/>
              </a:rPr>
              <a:t>* </a:t>
            </a:r>
            <a:r>
              <a:rPr lang="en-US" sz="950">
                <a:latin typeface="Arial"/>
              </a:rPr>
              <a:t>100</a:t>
            </a:r>
          </a:p>
          <a:p>
            <a:pPr marR="2730500" indent="0">
              <a:lnSpc>
                <a:spcPts val="1152"/>
              </a:lnSpc>
            </a:pPr>
            <a:r>
              <a:rPr lang="en-US" i="1" sz="950">
                <a:latin typeface="Arial"/>
              </a:rPr>
              <a:t>#    Calculate percentage of orders taking more than 60 minutes </a:t>
            </a:r>
            <a:r>
              <a:rPr lang="en-US" sz="950">
                <a:latin typeface="Arial"/>
              </a:rPr>
              <a:t>print("Percentage of orders taking more than 60 minutes:", round(perc_over_60, 2), "%")</a:t>
            </a:r>
          </a:p>
          <a:p>
            <a:pPr algn="just" indent="0">
              <a:spcAft>
                <a:spcPts val="1050"/>
              </a:spcAft>
            </a:pPr>
            <a:r>
              <a:rPr lang="en-US" sz="750">
                <a:latin typeface="Arial"/>
              </a:rPr>
              <a:t>Percentage of orders taking more than 60 minutes: 10.54 %</a:t>
            </a:r>
          </a:p>
          <a:p>
            <a:pPr algn="just" indent="0">
              <a:spcAft>
                <a:spcPts val="1050"/>
              </a:spcAft>
            </a:pPr>
            <a:r>
              <a:rPr lang="en-US" b="1" sz="850">
                <a:latin typeface="Arial"/>
              </a:rPr>
              <a:t>Observations:</a:t>
            </a:r>
          </a:p>
        </p:txBody>
      </p:sp>
      <p:sp>
        <p:nvSpPr>
          <p:cNvPr id="6" name=""/>
          <p:cNvSpPr/>
          <p:nvPr/>
        </p:nvSpPr>
        <p:spPr>
          <a:xfrm>
            <a:off x="54864" y="10387584"/>
            <a:ext cx="3243072" cy="152400"/>
          </a:xfrm>
          <a:prstGeom prst="rect">
            <a:avLst/>
          </a:prstGeom>
        </p:spPr>
        <p:txBody>
          <a:bodyPr lIns="0" tIns="0" rIns="0" bIns="0" wrap="none">
            <a:noAutofit/>
          </a:bodyPr>
          <a:p>
            <a:pPr algn="just" indent="0">
              <a:spcBef>
                <a:spcPts val="1050"/>
              </a:spcBef>
            </a:pPr>
            <a:r>
              <a:rPr lang="en-US" sz="950">
                <a:latin typeface="Arial"/>
              </a:rPr>
              <a:t>Percentage of orders taking more than 60 minutes: 10.54 %</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p:sp>
        <p:nvSpPr>
          <p:cNvPr id="2" name=""/>
          <p:cNvSpPr/>
          <p:nvPr/>
        </p:nvSpPr>
        <p:spPr>
          <a:xfrm>
            <a:off x="67056" y="146304"/>
            <a:ext cx="7135368" cy="310896"/>
          </a:xfrm>
          <a:prstGeom prst="rect">
            <a:avLst/>
          </a:prstGeom>
        </p:spPr>
        <p:txBody>
          <a:bodyPr lIns="0" tIns="0" rIns="0" bIns="0">
            <a:noAutofit/>
          </a:bodyPr>
          <a:p>
            <a:pPr indent="0">
              <a:lnSpc>
                <a:spcPts val="1368"/>
              </a:lnSpc>
              <a:spcAft>
                <a:spcPts val="210"/>
              </a:spcAft>
            </a:pPr>
            <a:r>
              <a:rPr lang="en-US" b="1" sz="1100">
                <a:latin typeface="Arial"/>
              </a:rPr>
              <a:t>Question 16: The company wants to analyze the delivery time of the orders on weekdays and weekends. How does the mean delivery time vary during weekdays and weekends? [2 marks]</a:t>
            </a:r>
          </a:p>
        </p:txBody>
      </p:sp>
      <p:sp>
        <p:nvSpPr>
          <p:cNvPr id="3" name=""/>
          <p:cNvSpPr/>
          <p:nvPr/>
        </p:nvSpPr>
        <p:spPr>
          <a:xfrm>
            <a:off x="73152" y="566928"/>
            <a:ext cx="353568" cy="112776"/>
          </a:xfrm>
          <a:prstGeom prst="rect">
            <a:avLst/>
          </a:prstGeom>
        </p:spPr>
        <p:txBody>
          <a:bodyPr lIns="0" tIns="0" rIns="0" bIns="0" wrap="none">
            <a:noAutofit/>
          </a:bodyPr>
          <a:p>
            <a:pPr indent="0">
              <a:lnSpc>
                <a:spcPts val="1128"/>
              </a:lnSpc>
            </a:pPr>
            <a:r>
              <a:rPr lang="en-US" b="1" sz="850">
                <a:latin typeface="Arial"/>
              </a:rPr>
              <a:t>In [35]:</a:t>
            </a:r>
          </a:p>
        </p:txBody>
      </p:sp>
      <p:sp>
        <p:nvSpPr>
          <p:cNvPr id="4" name=""/>
          <p:cNvSpPr/>
          <p:nvPr/>
        </p:nvSpPr>
        <p:spPr>
          <a:xfrm>
            <a:off x="67056" y="713232"/>
            <a:ext cx="1161288" cy="91440"/>
          </a:xfrm>
          <a:prstGeom prst="rect">
            <a:avLst/>
          </a:prstGeom>
        </p:spPr>
        <p:txBody>
          <a:bodyPr lIns="0" tIns="0" rIns="0" bIns="0" wrap="none">
            <a:noAutofit/>
          </a:bodyPr>
          <a:p>
            <a:pPr algn="just" indent="0">
              <a:lnSpc>
                <a:spcPts val="1128"/>
              </a:lnSpc>
            </a:pPr>
            <a:r>
              <a:rPr lang="en-US" i="1" sz="950">
                <a:latin typeface="Arial"/>
              </a:rPr>
              <a:t>#    Write the code here</a:t>
            </a:r>
          </a:p>
        </p:txBody>
      </p:sp>
      <p:sp>
        <p:nvSpPr>
          <p:cNvPr id="5" name=""/>
          <p:cNvSpPr/>
          <p:nvPr/>
        </p:nvSpPr>
        <p:spPr>
          <a:xfrm>
            <a:off x="67056" y="853440"/>
            <a:ext cx="2910840" cy="265176"/>
          </a:xfrm>
          <a:prstGeom prst="rect">
            <a:avLst/>
          </a:prstGeom>
        </p:spPr>
        <p:txBody>
          <a:bodyPr lIns="0" tIns="0" rIns="0" bIns="0">
            <a:noAutofit/>
          </a:bodyPr>
          <a:p>
            <a:pPr indent="0">
              <a:lnSpc>
                <a:spcPts val="1128"/>
              </a:lnSpc>
            </a:pPr>
            <a:r>
              <a:rPr lang="en-US" i="1" sz="950">
                <a:latin typeface="Arial"/>
              </a:rPr>
              <a:t>#    Get the mean delivery time on weekdays and print it </a:t>
            </a:r>
            <a:r>
              <a:rPr lang="en-US" b="1" sz="850">
                <a:latin typeface="Arial"/>
              </a:rPr>
              <a:t>print('The mean delivery time on weekdays is around',</a:t>
            </a:r>
          </a:p>
        </p:txBody>
      </p:sp>
      <p:sp>
        <p:nvSpPr>
          <p:cNvPr id="6" name=""/>
          <p:cNvSpPr/>
          <p:nvPr/>
        </p:nvSpPr>
        <p:spPr>
          <a:xfrm>
            <a:off x="277368" y="1146048"/>
            <a:ext cx="3733800" cy="115824"/>
          </a:xfrm>
          <a:prstGeom prst="rect">
            <a:avLst/>
          </a:prstGeom>
        </p:spPr>
        <p:txBody>
          <a:bodyPr lIns="0" tIns="0" rIns="0" bIns="0" wrap="none">
            <a:noAutofit/>
          </a:bodyPr>
          <a:p>
            <a:pPr indent="0">
              <a:lnSpc>
                <a:spcPts val="1128"/>
              </a:lnSpc>
            </a:pPr>
            <a:r>
              <a:rPr lang="en-US" b="1" sz="850">
                <a:latin typeface="Arial"/>
              </a:rPr>
              <a:t>round(df[df['day_of_the_week'] == 'Weekday']['delivery_time'].mean()),</a:t>
            </a:r>
          </a:p>
        </p:txBody>
      </p:sp>
      <p:sp>
        <p:nvSpPr>
          <p:cNvPr id="7" name=""/>
          <p:cNvSpPr/>
          <p:nvPr/>
        </p:nvSpPr>
        <p:spPr>
          <a:xfrm>
            <a:off x="234696" y="1292352"/>
            <a:ext cx="496824" cy="109728"/>
          </a:xfrm>
          <a:prstGeom prst="rect">
            <a:avLst/>
          </a:prstGeom>
        </p:spPr>
        <p:txBody>
          <a:bodyPr lIns="0" tIns="0" rIns="0" bIns="0" wrap="none">
            <a:noAutofit/>
          </a:bodyPr>
          <a:p>
            <a:pPr indent="0">
              <a:lnSpc>
                <a:spcPts val="1128"/>
              </a:lnSpc>
              <a:spcAft>
                <a:spcPts val="1470"/>
              </a:spcAft>
            </a:pPr>
            <a:r>
              <a:rPr lang="en-US" b="1" sz="850">
                <a:latin typeface="Arial"/>
              </a:rPr>
              <a:t>'minutes')</a:t>
            </a:r>
          </a:p>
        </p:txBody>
      </p:sp>
      <p:sp>
        <p:nvSpPr>
          <p:cNvPr id="8" name=""/>
          <p:cNvSpPr/>
          <p:nvPr/>
        </p:nvSpPr>
        <p:spPr>
          <a:xfrm>
            <a:off x="45720" y="1706880"/>
            <a:ext cx="7001256" cy="2926080"/>
          </a:xfrm>
          <a:prstGeom prst="rect">
            <a:avLst/>
          </a:prstGeom>
        </p:spPr>
        <p:txBody>
          <a:bodyPr lIns="0" tIns="0" rIns="0" bIns="0">
            <a:noAutofit/>
          </a:bodyPr>
          <a:p>
            <a:pPr indent="0">
              <a:lnSpc>
                <a:spcPts val="1128"/>
              </a:lnSpc>
              <a:spcBef>
                <a:spcPts val="1470"/>
              </a:spcBef>
            </a:pPr>
            <a:r>
              <a:rPr lang="en-US" i="1" sz="950">
                <a:latin typeface="Arial"/>
              </a:rPr>
              <a:t>## Write the code below to get the mean delivery time on weekends and print it </a:t>
            </a:r>
            <a:r>
              <a:rPr lang="en-US" b="1" sz="850">
                <a:latin typeface="Arial"/>
              </a:rPr>
              <a:t>print('The mean delivery time on weekdays is around',</a:t>
            </a:r>
          </a:p>
          <a:p>
            <a:pPr marL="215900" indent="0">
              <a:lnSpc>
                <a:spcPts val="1128"/>
              </a:lnSpc>
            </a:pPr>
            <a:r>
              <a:rPr lang="en-US" b="1" sz="850">
                <a:latin typeface="Arial"/>
              </a:rPr>
              <a:t>round(df[df['day_of_the_week'] == 'Weekend']['delivery_time'].mean()),</a:t>
            </a:r>
          </a:p>
          <a:p>
            <a:pPr marL="215900" indent="0">
              <a:lnSpc>
                <a:spcPts val="1128"/>
              </a:lnSpc>
            </a:pPr>
            <a:r>
              <a:rPr lang="en-US" b="1" sz="850">
                <a:latin typeface="Arial"/>
              </a:rPr>
              <a:t>'minutes')</a:t>
            </a:r>
          </a:p>
          <a:p>
            <a:pPr indent="0">
              <a:lnSpc>
                <a:spcPts val="960"/>
              </a:lnSpc>
              <a:spcAft>
                <a:spcPts val="840"/>
              </a:spcAft>
            </a:pPr>
            <a:r>
              <a:rPr lang="en-US" sz="750">
                <a:latin typeface="Arial"/>
              </a:rPr>
              <a:t>The mean delivery time on weekdays is around 28 minutes The mean delivery time on weekdays is around 22 minutes</a:t>
            </a:r>
          </a:p>
          <a:p>
            <a:pPr algn="just" indent="0">
              <a:spcAft>
                <a:spcPts val="840"/>
              </a:spcAft>
            </a:pPr>
            <a:r>
              <a:rPr lang="en-US" b="1" sz="850">
                <a:latin typeface="Arial"/>
              </a:rPr>
              <a:t>Observations:</a:t>
            </a:r>
          </a:p>
          <a:p>
            <a:pPr algn="just" indent="0">
              <a:lnSpc>
                <a:spcPts val="2832"/>
              </a:lnSpc>
            </a:pPr>
            <a:r>
              <a:rPr lang="en-US" b="1" sz="850">
                <a:latin typeface="Arial"/>
              </a:rPr>
              <a:t>Mean delivery time on weekdays » 28 minutes Mean delivery time on weekends » 22 minutes</a:t>
            </a:r>
          </a:p>
          <a:p>
            <a:pPr algn="just" indent="0">
              <a:lnSpc>
                <a:spcPts val="2832"/>
              </a:lnSpc>
            </a:pPr>
            <a:r>
              <a:rPr lang="en-US" b="1" sz="1100">
                <a:latin typeface="Arial"/>
              </a:rPr>
              <a:t>Conclusion and Recommendations</a:t>
            </a:r>
          </a:p>
          <a:p>
            <a:pPr indent="0">
              <a:lnSpc>
                <a:spcPts val="1368"/>
              </a:lnSpc>
              <a:spcAft>
                <a:spcPts val="840"/>
              </a:spcAft>
            </a:pPr>
            <a:r>
              <a:rPr lang="en-US" b="1" sz="1100">
                <a:latin typeface="Arial"/>
              </a:rPr>
              <a:t>Question 17: What are your conclusions from the analysis? What recommendations would you like to share to help improve the business? (You can use cuisine type and feedback ratings to drive your business recommendations.) [6 marks]</a:t>
            </a:r>
          </a:p>
          <a:p>
            <a:pPr algn="just" indent="0">
              <a:spcAft>
                <a:spcPts val="2940"/>
              </a:spcAft>
            </a:pPr>
            <a:r>
              <a:rPr lang="en-US" b="1" sz="1100">
                <a:latin typeface="Arial"/>
              </a:rPr>
              <a:t>Conclusions:</a:t>
            </a:r>
          </a:p>
        </p:txBody>
      </p:sp>
      <p:sp>
        <p:nvSpPr>
          <p:cNvPr id="9" name=""/>
          <p:cNvSpPr/>
          <p:nvPr/>
        </p:nvSpPr>
        <p:spPr>
          <a:xfrm>
            <a:off x="54864" y="5141976"/>
            <a:ext cx="1356360" cy="146304"/>
          </a:xfrm>
          <a:prstGeom prst="rect">
            <a:avLst/>
          </a:prstGeom>
        </p:spPr>
        <p:txBody>
          <a:bodyPr lIns="0" tIns="0" rIns="0" bIns="0" wrap="none">
            <a:noAutofit/>
          </a:bodyPr>
          <a:p>
            <a:pPr algn="just" indent="0">
              <a:spcBef>
                <a:spcPts val="2940"/>
              </a:spcBef>
            </a:pPr>
            <a:r>
              <a:rPr lang="en-US" b="1" sz="1100">
                <a:latin typeface="Arial"/>
              </a:rPr>
              <a:t>Recommendations:</a:t>
            </a:r>
          </a:p>
        </p:txBody>
      </p:sp>
    </p:spTree>
  </p:cSld>
  <p:clrMapOvr>
    <a:overrideClrMapping bg1="lt1" tx1="dk1" bg2="lt2" tx2="dk2" accent1="accent1" accent2="accent2" accent3="accent3" accent4="accent4" accent5="accent5" accent6="accent6" hlink="hlink" folHlink="folHlink"/>
  </p:clrMapOvr>
</p:sld>
</file>

<file path=ppt/theme/theme.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core.xml><?xml version="1.0" encoding="utf-8"?>
<cp:coreProperties xmlns:cp="http://schemas.openxmlformats.org/package/2006/metadata/core-properties" xmlns:dc="http://purl.org/dc/elements/1.1/">
  <dc:title>PYF_Project_Learner_Notebook_Full_Code_Completed_1756082076</dc:title>
  <dc:subject/>
  <dc:creator/>
  <cp:keywords/>
</cp:coreProperties>
</file>