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 id="214748367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Lst>
  <p:sldSz cy="5143500" cx="9144000"/>
  <p:notesSz cx="6858000" cy="9144000"/>
  <p:embeddedFontLst>
    <p:embeddedFont>
      <p:font typeface="Nunito SemiBold"/>
      <p:regular r:id="rId69"/>
      <p:bold r:id="rId70"/>
      <p:italic r:id="rId71"/>
      <p:boldItalic r:id="rId72"/>
    </p:embeddedFont>
    <p:embeddedFont>
      <p:font typeface="Nunito"/>
      <p:regular r:id="rId73"/>
      <p:bold r:id="rId74"/>
      <p:italic r:id="rId75"/>
      <p:boldItalic r:id="rId76"/>
    </p:embeddedFont>
    <p:embeddedFont>
      <p:font typeface="Nunito ExtraBold"/>
      <p:bold r:id="rId77"/>
      <p:boldItalic r:id="rId78"/>
    </p:embeddedFont>
    <p:embeddedFont>
      <p:font typeface="Roboto Mono"/>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83" roundtripDataSignature="AMtx7mhEFAihU/8ZJNcbwGH2Y69/+Knb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47F07C-A3B2-4FAB-BD3F-3B1CF7EA0804}">
  <a:tblStyle styleId="{DE47F07C-A3B2-4FAB-BD3F-3B1CF7EA0804}"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027568D1-9BE7-4ABE-AB64-776F8D02060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3" Type="http://customschemas.google.com/relationships/presentationmetadata" Target="metadata"/><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RobotoMono-bold.fntdata"/><Relationship Id="rId82" Type="http://schemas.openxmlformats.org/officeDocument/2006/relationships/font" Target="fonts/RobotoMono-boldItalic.fntdata"/><Relationship Id="rId81" Type="http://schemas.openxmlformats.org/officeDocument/2006/relationships/font" Target="fonts/RobotoMono-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Nunito-regular.fntdata"/><Relationship Id="rId72" Type="http://schemas.openxmlformats.org/officeDocument/2006/relationships/font" Target="fonts/NunitoSemiBold-boldItalic.fntdata"/><Relationship Id="rId31" Type="http://schemas.openxmlformats.org/officeDocument/2006/relationships/slide" Target="slides/slide23.xml"/><Relationship Id="rId75" Type="http://schemas.openxmlformats.org/officeDocument/2006/relationships/font" Target="fonts/Nunito-italic.fntdata"/><Relationship Id="rId30" Type="http://schemas.openxmlformats.org/officeDocument/2006/relationships/slide" Target="slides/slide22.xml"/><Relationship Id="rId74" Type="http://schemas.openxmlformats.org/officeDocument/2006/relationships/font" Target="fonts/Nunito-bold.fntdata"/><Relationship Id="rId33" Type="http://schemas.openxmlformats.org/officeDocument/2006/relationships/slide" Target="slides/slide25.xml"/><Relationship Id="rId77" Type="http://schemas.openxmlformats.org/officeDocument/2006/relationships/font" Target="fonts/NunitoExtraBold-bold.fntdata"/><Relationship Id="rId32" Type="http://schemas.openxmlformats.org/officeDocument/2006/relationships/slide" Target="slides/slide24.xml"/><Relationship Id="rId76" Type="http://schemas.openxmlformats.org/officeDocument/2006/relationships/font" Target="fonts/Nunito-boldItalic.fntdata"/><Relationship Id="rId35" Type="http://schemas.openxmlformats.org/officeDocument/2006/relationships/slide" Target="slides/slide27.xml"/><Relationship Id="rId79" Type="http://schemas.openxmlformats.org/officeDocument/2006/relationships/font" Target="fonts/RobotoMono-regular.fntdata"/><Relationship Id="rId34" Type="http://schemas.openxmlformats.org/officeDocument/2006/relationships/slide" Target="slides/slide26.xml"/><Relationship Id="rId78" Type="http://schemas.openxmlformats.org/officeDocument/2006/relationships/font" Target="fonts/NunitoExtraBold-boldItalic.fntdata"/><Relationship Id="rId71" Type="http://schemas.openxmlformats.org/officeDocument/2006/relationships/font" Target="fonts/NunitoSemiBold-italic.fntdata"/><Relationship Id="rId70" Type="http://schemas.openxmlformats.org/officeDocument/2006/relationships/font" Target="fonts/NunitoSemiBold-bold.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NunitoSemiBold-regular.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7b8bda5b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77b8bda5b4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7b8bda5b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77b8bda5b4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7b8bda5b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77b8bda5b4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7a51fe5aa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77a51fe5a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7a51fe5aa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77a51fe5aa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77a51fe5aa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77a51fe5aa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77a51fe5aa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77a51fe5aa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7a51fe5aa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77a51fe5aa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7a51fe5aa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77a51fe5aa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77a51fe5aa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77a51fe5aa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77a51fe5aa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77a51fe5aa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7a51fe5aa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77a51fe5aa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7a51fe5aa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77a51fe5aa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7a51fe5aa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77a51fe5aa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7a51fe5aa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377a51fe5aa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7a51fe5aa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77a51fe5aa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7a51fe5aa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77a51fe5aa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7a51fe5aa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77a51fe5aa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7a51fe5aa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77a51fe5aa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77a51fe5aa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377a51fe5aa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7a51fe5aa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77a51fe5aa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77a51fe5aa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377a51fe5aa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7a51fe5aa_0_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377a51fe5aa_0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77a51fe5aa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77a51fe5aa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7a51fe5aa_0_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77a51fe5aa_0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7b8bda5b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77b8bda5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7b8bda5b4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377b8bda5b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7b8bda5b4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77b8bda5b4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77a51fe5aa_0_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g377a51fe5aa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77a51fe5aa_0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77a51fe5aa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77b8bda5b4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77b8bda5b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77b8bda5b4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377b8bda5b4_2_2: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77b8bda5b4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77b8bda5b4_2_9: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77b8bda5b4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377b8bda5b4_2_15: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77b8bda5b4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77b8bda5b4_2_21: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77b8bda5b4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77b8bda5b4_2_29: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77b8bda5b4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77b8bda5b4_2_38: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77b8bda5b4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377b8bda5b4_2_45: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77b8bda5b4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77b8bda5b4_2_71: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77b8bda5b4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77b8bda5b4_2_78: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77b8bda5b4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77b8bda5b4_2_85: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77b8bda5b4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77b8bda5b4_2_93: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77b8bda5b4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377b8bda5b4_2_100: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77b8bda5b4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77b8bda5b4_2_110: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77b8bda5b4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77b8bda5b4_2_118: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77b8bda5b4_2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377b8bda5b4_2_133: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77b8bda5b4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377b8bda5b4_2_143: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77b8bda5b4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377b8bda5b4_2_151: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77b8bda5b4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77b8bda5b4_2_156: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77b8bda5b4_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377b8bda5b4_2_164:notes"/>
          <p:cNvSpPr/>
          <p:nvPr>
            <p:ph idx="2" type="sldImg"/>
          </p:nvPr>
        </p:nvSpPr>
        <p:spPr>
          <a:xfrm>
            <a:off x="-2321866" y="685800"/>
            <a:ext cx="1150240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562" name="Google Shape;562;p10: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2"/>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p12"/>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1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9" name="Google Shape;19;p13"/>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0" name="Google Shape;20;p1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1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1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17"/>
          <p:cNvGraphicFramePr/>
          <p:nvPr/>
        </p:nvGraphicFramePr>
        <p:xfrm>
          <a:off x="201942" y="833662"/>
          <a:ext cx="3000000" cy="3000000"/>
        </p:xfrm>
        <a:graphic>
          <a:graphicData uri="http://schemas.openxmlformats.org/drawingml/2006/table">
            <a:tbl>
              <a:tblPr bandRow="1" firstRow="1">
                <a:noFill/>
                <a:tableStyleId>{DE47F07C-A3B2-4FAB-BD3F-3B1CF7EA0804}</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1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1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9"/>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2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2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23"/>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23"/>
          <p:cNvPicPr preferRelativeResize="0"/>
          <p:nvPr/>
        </p:nvPicPr>
        <p:blipFill rotWithShape="1">
          <a:blip r:embed="rId2">
            <a:alphaModFix/>
          </a:blip>
          <a:srcRect b="19149" l="42816" r="37294" t="18358"/>
          <a:stretch/>
        </p:blipFill>
        <p:spPr>
          <a:xfrm>
            <a:off x="6052536" y="514443"/>
            <a:ext cx="2095112" cy="3703320"/>
          </a:xfrm>
          <a:prstGeom prst="rect">
            <a:avLst/>
          </a:prstGeom>
          <a:noFill/>
          <a:ln>
            <a:noFill/>
          </a:ln>
        </p:spPr>
      </p:pic>
      <p:sp>
        <p:nvSpPr>
          <p:cNvPr id="50" name="Google Shape;50;p23"/>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23"/>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23"/>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62" name="Shape 62"/>
        <p:cNvGrpSpPr/>
        <p:nvPr/>
      </p:nvGrpSpPr>
      <p:grpSpPr>
        <a:xfrm>
          <a:off x="0" y="0"/>
          <a:ext cx="0" cy="0"/>
          <a:chOff x="0" y="0"/>
          <a:chExt cx="0" cy="0"/>
        </a:xfrm>
      </p:grpSpPr>
      <p:sp>
        <p:nvSpPr>
          <p:cNvPr id="63" name="Google Shape;63;p15"/>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64" name="Google Shape;64;p15"/>
          <p:cNvPicPr preferRelativeResize="0"/>
          <p:nvPr/>
        </p:nvPicPr>
        <p:blipFill rotWithShape="1">
          <a:blip r:embed="rId2">
            <a:alphaModFix/>
          </a:blip>
          <a:srcRect b="19149" l="42816" r="37294" t="18358"/>
          <a:stretch/>
        </p:blipFill>
        <p:spPr>
          <a:xfrm>
            <a:off x="6052536" y="514443"/>
            <a:ext cx="2095112" cy="3703320"/>
          </a:xfrm>
          <a:prstGeom prst="rect">
            <a:avLst/>
          </a:prstGeom>
          <a:noFill/>
          <a:ln>
            <a:noFill/>
          </a:ln>
        </p:spPr>
      </p:pic>
      <p:sp>
        <p:nvSpPr>
          <p:cNvPr id="65" name="Google Shape;65;p15"/>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66" name="Google Shape;66;p15"/>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67" name="Google Shape;67;p15"/>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24"/>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70" name="Google Shape;70;p24"/>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2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73" name="Google Shape;73;p2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 name="Shape 74"/>
        <p:cNvGrpSpPr/>
        <p:nvPr/>
      </p:nvGrpSpPr>
      <p:grpSpPr>
        <a:xfrm>
          <a:off x="0" y="0"/>
          <a:ext cx="0" cy="0"/>
          <a:chOff x="0" y="0"/>
          <a:chExt cx="0" cy="0"/>
        </a:xfrm>
      </p:grpSpPr>
      <p:sp>
        <p:nvSpPr>
          <p:cNvPr id="75" name="Google Shape;75;p2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p26"/>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77" name="Google Shape;77;p2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78" name="Shape 78"/>
        <p:cNvGrpSpPr/>
        <p:nvPr/>
      </p:nvGrpSpPr>
      <p:grpSpPr>
        <a:xfrm>
          <a:off x="0" y="0"/>
          <a:ext cx="0" cy="0"/>
          <a:chOff x="0" y="0"/>
          <a:chExt cx="0" cy="0"/>
        </a:xfrm>
      </p:grpSpPr>
      <p:sp>
        <p:nvSpPr>
          <p:cNvPr id="79" name="Google Shape;79;p2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80" name="Google Shape;80;p27"/>
          <p:cNvGraphicFramePr/>
          <p:nvPr/>
        </p:nvGraphicFramePr>
        <p:xfrm>
          <a:off x="201942" y="833662"/>
          <a:ext cx="3000000" cy="3000000"/>
        </p:xfrm>
        <a:graphic>
          <a:graphicData uri="http://schemas.openxmlformats.org/drawingml/2006/table">
            <a:tbl>
              <a:tblPr bandRow="1" firstRow="1">
                <a:noFill/>
                <a:tableStyleId>{DE47F07C-A3B2-4FAB-BD3F-3B1CF7EA0804}</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81" name="Google Shape;81;p2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sp>
        <p:nvSpPr>
          <p:cNvPr id="83" name="Google Shape;83;p2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4" name="Google Shape;84;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5" name="Google Shape;85;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6" name="Google Shape;86;p2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29"/>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9" name="Google Shape;89;p2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 name="Shape 90"/>
        <p:cNvGrpSpPr/>
        <p:nvPr/>
      </p:nvGrpSpPr>
      <p:grpSpPr>
        <a:xfrm>
          <a:off x="0" y="0"/>
          <a:ext cx="0" cy="0"/>
          <a:chOff x="0" y="0"/>
          <a:chExt cx="0" cy="0"/>
        </a:xfrm>
      </p:grpSpPr>
      <p:sp>
        <p:nvSpPr>
          <p:cNvPr id="91" name="Google Shape;91;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2" name="Google Shape;92;p3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6" name="Google Shape;96;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7" name="Google Shape;97;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98" name="Google Shape;98;p3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3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102" name="Shape 10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4.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1.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1"/>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1"/>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1"/>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1"/>
          <p:cNvGrpSpPr/>
          <p:nvPr/>
        </p:nvGrpSpPr>
        <p:grpSpPr>
          <a:xfrm>
            <a:off x="6593" y="10"/>
            <a:ext cx="175500" cy="709221"/>
            <a:chOff x="6593" y="10"/>
            <a:chExt cx="175500" cy="709221"/>
          </a:xfrm>
        </p:grpSpPr>
        <p:sp>
          <p:nvSpPr>
            <p:cNvPr id="12" name="Google Shape;12;p11"/>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1"/>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55" name="Google Shape;55;p14"/>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56" name="Google Shape;56;p14"/>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57" name="Google Shape;57;p1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58" name="Google Shape;58;p14"/>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59" name="Google Shape;59;p14"/>
          <p:cNvGrpSpPr/>
          <p:nvPr/>
        </p:nvGrpSpPr>
        <p:grpSpPr>
          <a:xfrm>
            <a:off x="6593" y="10"/>
            <a:ext cx="175500" cy="709221"/>
            <a:chOff x="6593" y="10"/>
            <a:chExt cx="175500" cy="709221"/>
          </a:xfrm>
        </p:grpSpPr>
        <p:sp>
          <p:nvSpPr>
            <p:cNvPr id="60" name="Google Shape;60;p14"/>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4"/>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p14:dur="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5.xml"/><Relationship Id="rId3" Type="http://schemas.openxmlformats.org/officeDocument/2006/relationships/image" Target="../media/image2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6.xml"/><Relationship Id="rId3" Type="http://schemas.openxmlformats.org/officeDocument/2006/relationships/image" Target="../media/image33.jpg"/><Relationship Id="rId4" Type="http://schemas.openxmlformats.org/officeDocument/2006/relationships/image" Target="../media/image3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7.xml"/><Relationship Id="rId3" Type="http://schemas.openxmlformats.org/officeDocument/2006/relationships/image" Target="../media/image32.jpg"/><Relationship Id="rId4" Type="http://schemas.openxmlformats.org/officeDocument/2006/relationships/image" Target="../media/image4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 Id="rId3" Type="http://schemas.openxmlformats.org/officeDocument/2006/relationships/image" Target="../media/image37.jpg"/><Relationship Id="rId4" Type="http://schemas.openxmlformats.org/officeDocument/2006/relationships/image" Target="../media/image3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 Id="rId3" Type="http://schemas.openxmlformats.org/officeDocument/2006/relationships/image" Target="../media/image4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2.xml"/><Relationship Id="rId3" Type="http://schemas.openxmlformats.org/officeDocument/2006/relationships/image" Target="../media/image4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3.xml"/><Relationship Id="rId3" Type="http://schemas.openxmlformats.org/officeDocument/2006/relationships/image" Target="../media/image5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4.xml"/><Relationship Id="rId3" Type="http://schemas.openxmlformats.org/officeDocument/2006/relationships/image" Target="../media/image4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5.xml"/><Relationship Id="rId3" Type="http://schemas.openxmlformats.org/officeDocument/2006/relationships/image" Target="../media/image4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 Id="rId3" Type="http://schemas.openxmlformats.org/officeDocument/2006/relationships/image" Target="../media/image47.jpg"/><Relationship Id="rId4" Type="http://schemas.openxmlformats.org/officeDocument/2006/relationships/image" Target="../media/image48.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7.xml"/><Relationship Id="rId3" Type="http://schemas.openxmlformats.org/officeDocument/2006/relationships/image" Target="../media/image49.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ph type="ctrTitle"/>
          </p:nvPr>
        </p:nvSpPr>
        <p:spPr>
          <a:xfrm>
            <a:off x="1075950" y="1010325"/>
            <a:ext cx="6827700" cy="581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3600"/>
              <a:t>FoodHub Data Analysis</a:t>
            </a:r>
            <a:endParaRPr sz="3600"/>
          </a:p>
        </p:txBody>
      </p:sp>
      <p:sp>
        <p:nvSpPr>
          <p:cNvPr id="108" name="Google Shape;108;p1"/>
          <p:cNvSpPr txBox="1"/>
          <p:nvPr>
            <p:ph type="ctrTitle"/>
          </p:nvPr>
        </p:nvSpPr>
        <p:spPr>
          <a:xfrm>
            <a:off x="1153000" y="1801400"/>
            <a:ext cx="6827700" cy="735600"/>
          </a:xfrm>
          <a:prstGeom prst="rect">
            <a:avLst/>
          </a:prstGeom>
          <a:noFill/>
          <a:ln>
            <a:noFill/>
          </a:ln>
        </p:spPr>
        <p:txBody>
          <a:bodyPr anchorCtr="0" anchor="b" bIns="91425" lIns="91425" spcFirstLastPara="1" rIns="91425" wrap="square" tIns="91425">
            <a:noAutofit/>
          </a:bodyPr>
          <a:lstStyle/>
          <a:p>
            <a:pPr indent="0" lvl="0" marL="0" rtl="0" algn="l">
              <a:spcBef>
                <a:spcPts val="1300"/>
              </a:spcBef>
              <a:spcAft>
                <a:spcPts val="0"/>
              </a:spcAft>
              <a:buNone/>
            </a:pPr>
            <a:r>
              <a:t/>
            </a:r>
            <a:endParaRPr b="0" sz="900">
              <a:solidFill>
                <a:srgbClr val="000000"/>
              </a:solidFill>
              <a:latin typeface="Arial"/>
              <a:ea typeface="Arial"/>
              <a:cs typeface="Arial"/>
              <a:sym typeface="Arial"/>
            </a:endParaRPr>
          </a:p>
          <a:p>
            <a:pPr indent="0" lvl="0" marL="0" rtl="0" algn="l">
              <a:spcBef>
                <a:spcPts val="1300"/>
              </a:spcBef>
              <a:spcAft>
                <a:spcPts val="0"/>
              </a:spcAft>
              <a:buNone/>
            </a:pPr>
            <a:r>
              <a:rPr b="0" lang="en" sz="2200">
                <a:solidFill>
                  <a:schemeClr val="lt2"/>
                </a:solidFill>
                <a:highlight>
                  <a:srgbClr val="FFFFFF"/>
                </a:highlight>
                <a:latin typeface="Arial"/>
                <a:ea typeface="Arial"/>
                <a:cs typeface="Arial"/>
                <a:sym typeface="Arial"/>
              </a:rPr>
              <a:t>Project Python Foundations</a:t>
            </a:r>
            <a:endParaRPr b="0" sz="2200">
              <a:solidFill>
                <a:schemeClr val="lt2"/>
              </a:solidFill>
              <a:highlight>
                <a:srgbClr val="FFFFFF"/>
              </a:highlight>
              <a:latin typeface="Arial"/>
              <a:ea typeface="Arial"/>
              <a:cs typeface="Arial"/>
              <a:sym typeface="Arial"/>
            </a:endParaRPr>
          </a:p>
          <a:p>
            <a:pPr indent="0" lvl="0" marL="0" rtl="0" algn="l">
              <a:spcBef>
                <a:spcPts val="1300"/>
              </a:spcBef>
              <a:spcAft>
                <a:spcPts val="900"/>
              </a:spcAft>
              <a:buNone/>
            </a:pPr>
            <a:r>
              <a:rPr b="0" lang="en" sz="900">
                <a:solidFill>
                  <a:schemeClr val="lt2"/>
                </a:solidFill>
                <a:latin typeface="Arial"/>
                <a:ea typeface="Arial"/>
                <a:cs typeface="Arial"/>
                <a:sym typeface="Arial"/>
              </a:rPr>
              <a:t>POST GRADUATE PROGRAM IN AI &amp; MACHINE LEARNING: BUSINESS APPLICATIONS</a:t>
            </a:r>
            <a:endParaRPr b="0" sz="3000">
              <a:solidFill>
                <a:schemeClr val="lt2"/>
              </a:solidFill>
            </a:endParaRPr>
          </a:p>
        </p:txBody>
      </p:sp>
      <p:sp>
        <p:nvSpPr>
          <p:cNvPr id="109" name="Google Shape;109;p1"/>
          <p:cNvSpPr txBox="1"/>
          <p:nvPr>
            <p:ph type="ctrTitle"/>
          </p:nvPr>
        </p:nvSpPr>
        <p:spPr>
          <a:xfrm>
            <a:off x="1075950" y="2814400"/>
            <a:ext cx="6827700" cy="73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b="0" lang="en" sz="1600"/>
              <a:t>Saroj Ekka</a:t>
            </a:r>
            <a:endParaRPr b="0" sz="1600"/>
          </a:p>
          <a:p>
            <a:pPr indent="0" lvl="0" marL="0" rtl="0" algn="l">
              <a:lnSpc>
                <a:spcPct val="100000"/>
              </a:lnSpc>
              <a:spcBef>
                <a:spcPts val="0"/>
              </a:spcBef>
              <a:spcAft>
                <a:spcPts val="0"/>
              </a:spcAft>
              <a:buSzPts val="4800"/>
              <a:buNone/>
            </a:pPr>
            <a:r>
              <a:rPr b="0" lang="en" sz="1600"/>
              <a:t>Aug 24th 2025</a:t>
            </a:r>
            <a:endParaRPr b="0"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15" name="Google Shape;115;p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Executive Summary</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Data Overview</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EDA - Univariate Analysis</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EDA - Multivariate Analysis</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Appendix</a:t>
            </a:r>
            <a:endParaRPr sz="1400">
              <a:solidFill>
                <a:srgbClr val="000000"/>
              </a:solidFill>
            </a:endParaRPr>
          </a:p>
          <a:p>
            <a:pPr indent="0" lvl="0" marL="0" rtl="0" algn="l">
              <a:lnSpc>
                <a:spcPct val="115000"/>
              </a:lnSpc>
              <a:spcBef>
                <a:spcPts val="1000"/>
              </a:spcBef>
              <a:spcAft>
                <a:spcPts val="1000"/>
              </a:spcAft>
              <a:buSzPts val="1500"/>
              <a:buNone/>
            </a:pPr>
            <a:r>
              <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77b8bda5b4_0_33"/>
          <p:cNvSpPr txBox="1"/>
          <p:nvPr>
            <p:ph type="title"/>
          </p:nvPr>
        </p:nvSpPr>
        <p:spPr>
          <a:xfrm>
            <a:off x="202550" y="-29952"/>
            <a:ext cx="7338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21" name="Google Shape;121;g377b8bda5b4_0_33"/>
          <p:cNvSpPr txBox="1"/>
          <p:nvPr>
            <p:ph idx="1" type="body"/>
          </p:nvPr>
        </p:nvSpPr>
        <p:spPr>
          <a:xfrm>
            <a:off x="120350" y="942175"/>
            <a:ext cx="4767300" cy="3945600"/>
          </a:xfrm>
          <a:prstGeom prst="rect">
            <a:avLst/>
          </a:prstGeom>
          <a:noFill/>
          <a:ln>
            <a:noFill/>
          </a:ln>
        </p:spPr>
        <p:txBody>
          <a:bodyPr anchorCtr="0" anchor="t" bIns="91425" lIns="91425" spcFirstLastPara="1" rIns="91425" wrap="square" tIns="91425">
            <a:noAutofit/>
          </a:bodyPr>
          <a:lstStyle/>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Order Volume &amp; Restaurants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Dataset covers </a:t>
            </a:r>
            <a:r>
              <a:rPr b="1" lang="en" sz="1100">
                <a:solidFill>
                  <a:srgbClr val="000000"/>
                </a:solidFill>
                <a:latin typeface="Arial"/>
                <a:ea typeface="Arial"/>
                <a:cs typeface="Arial"/>
                <a:sym typeface="Arial"/>
              </a:rPr>
              <a:t>1,898 orders</a:t>
            </a:r>
            <a:r>
              <a:rPr lang="en" sz="1100">
                <a:solidFill>
                  <a:srgbClr val="000000"/>
                </a:solidFill>
                <a:latin typeface="Arial"/>
                <a:ea typeface="Arial"/>
                <a:cs typeface="Arial"/>
                <a:sym typeface="Arial"/>
              </a:rPr>
              <a:t> across </a:t>
            </a:r>
            <a:r>
              <a:rPr b="1" lang="en" sz="1100">
                <a:solidFill>
                  <a:srgbClr val="000000"/>
                </a:solidFill>
                <a:latin typeface="Arial"/>
                <a:ea typeface="Arial"/>
                <a:cs typeface="Arial"/>
                <a:sym typeface="Arial"/>
              </a:rPr>
              <a:t>178 restaurants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Average order cost is </a:t>
            </a:r>
            <a:r>
              <a:rPr b="1" lang="en" sz="1100">
                <a:solidFill>
                  <a:srgbClr val="000000"/>
                </a:solidFill>
                <a:latin typeface="Arial"/>
                <a:ea typeface="Arial"/>
                <a:cs typeface="Arial"/>
                <a:sym typeface="Arial"/>
              </a:rPr>
              <a:t>~$16.5</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Ratings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Many customers did not provide ratings (</a:t>
            </a:r>
            <a:r>
              <a:rPr b="1" lang="en" sz="1100">
                <a:solidFill>
                  <a:srgbClr val="000000"/>
                </a:solidFill>
                <a:latin typeface="Arial"/>
                <a:ea typeface="Arial"/>
                <a:cs typeface="Arial"/>
                <a:sym typeface="Arial"/>
              </a:rPr>
              <a:t>736 “Not given” ≈ 39%</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Among those who rated:</a:t>
            </a:r>
            <a:endParaRPr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5 stars → 588 orders</a:t>
            </a:r>
            <a:endParaRPr b="1"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4 stars → 386 orders</a:t>
            </a:r>
            <a:endParaRPr b="1"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3 stars → 188 orders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Ratings are skewed positively but feedback coverage is low.</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Operational Times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Average preparation time</a:t>
            </a:r>
            <a:r>
              <a:rPr lang="en" sz="1100">
                <a:solidFill>
                  <a:srgbClr val="000000"/>
                </a:solidFill>
                <a:latin typeface="Arial"/>
                <a:ea typeface="Arial"/>
                <a:cs typeface="Arial"/>
                <a:sym typeface="Arial"/>
              </a:rPr>
              <a:t> ≈ </a:t>
            </a:r>
            <a:r>
              <a:rPr b="1" lang="en" sz="1100">
                <a:solidFill>
                  <a:srgbClr val="000000"/>
                </a:solidFill>
                <a:latin typeface="Arial"/>
                <a:ea typeface="Arial"/>
                <a:cs typeface="Arial"/>
                <a:sym typeface="Arial"/>
              </a:rPr>
              <a:t>27 minutes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Average delivery time</a:t>
            </a:r>
            <a:r>
              <a:rPr lang="en" sz="1100">
                <a:solidFill>
                  <a:srgbClr val="000000"/>
                </a:solidFill>
                <a:latin typeface="Arial"/>
                <a:ea typeface="Arial"/>
                <a:cs typeface="Arial"/>
                <a:sym typeface="Arial"/>
              </a:rPr>
              <a:t> ≈ </a:t>
            </a:r>
            <a:r>
              <a:rPr b="1" lang="en" sz="1100">
                <a:solidFill>
                  <a:srgbClr val="000000"/>
                </a:solidFill>
                <a:latin typeface="Arial"/>
                <a:ea typeface="Arial"/>
                <a:cs typeface="Arial"/>
                <a:sym typeface="Arial"/>
              </a:rPr>
              <a:t>24 minutes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a:t>
            </a:r>
            <a:r>
              <a:rPr b="1" lang="en" sz="1100">
                <a:solidFill>
                  <a:srgbClr val="000000"/>
                </a:solidFill>
                <a:latin typeface="Arial"/>
                <a:ea typeface="Arial"/>
                <a:cs typeface="Arial"/>
                <a:sym typeface="Arial"/>
              </a:rPr>
              <a:t>10.5% of orders</a:t>
            </a:r>
            <a:r>
              <a:rPr lang="en" sz="1100">
                <a:solidFill>
                  <a:srgbClr val="000000"/>
                </a:solidFill>
                <a:latin typeface="Arial"/>
                <a:ea typeface="Arial"/>
                <a:cs typeface="Arial"/>
                <a:sym typeface="Arial"/>
              </a:rPr>
              <a:t> take longer than </a:t>
            </a:r>
            <a:r>
              <a:rPr b="1" lang="en" sz="1100">
                <a:solidFill>
                  <a:srgbClr val="000000"/>
                </a:solidFill>
                <a:latin typeface="Arial"/>
                <a:ea typeface="Arial"/>
                <a:cs typeface="Arial"/>
                <a:sym typeface="Arial"/>
              </a:rPr>
              <a:t>60 minutes total</a:t>
            </a:r>
            <a:r>
              <a:rPr lang="en" sz="1100">
                <a:solidFill>
                  <a:srgbClr val="000000"/>
                </a:solidFill>
                <a:latin typeface="Arial"/>
                <a:ea typeface="Arial"/>
                <a:cs typeface="Arial"/>
                <a:sym typeface="Arial"/>
              </a:rPr>
              <a:t> (prep + delivery).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t/>
            </a:r>
            <a:endParaRPr sz="1400">
              <a:solidFill>
                <a:srgbClr val="000000"/>
              </a:solidFill>
            </a:endParaRPr>
          </a:p>
          <a:p>
            <a:pPr indent="0" lvl="0" marL="0" rtl="0" algn="l">
              <a:lnSpc>
                <a:spcPct val="115000"/>
              </a:lnSpc>
              <a:spcBef>
                <a:spcPts val="1000"/>
              </a:spcBef>
              <a:spcAft>
                <a:spcPts val="0"/>
              </a:spcAft>
              <a:buSzPts val="1500"/>
              <a:buNone/>
            </a:pPr>
            <a:r>
              <a:t/>
            </a:r>
            <a:endParaRPr sz="1400">
              <a:solidFill>
                <a:srgbClr val="000000"/>
              </a:solidFill>
            </a:endParaRPr>
          </a:p>
          <a:p>
            <a:pPr indent="0" lvl="0" marL="0" rtl="0" algn="l">
              <a:lnSpc>
                <a:spcPct val="115000"/>
              </a:lnSpc>
              <a:spcBef>
                <a:spcPts val="1000"/>
              </a:spcBef>
              <a:spcAft>
                <a:spcPts val="1000"/>
              </a:spcAft>
              <a:buClr>
                <a:srgbClr val="000000"/>
              </a:buClr>
              <a:buSzPts val="1500"/>
              <a:buFont typeface="Arial"/>
              <a:buNone/>
            </a:pPr>
            <a:r>
              <a:rPr b="1" i="1" lang="en" sz="1200">
                <a:solidFill>
                  <a:srgbClr val="000000"/>
                </a:solidFill>
              </a:rPr>
              <a:t>Note</a:t>
            </a:r>
            <a:r>
              <a:rPr i="1" lang="en" sz="1200">
                <a:solidFill>
                  <a:srgbClr val="000000"/>
                </a:solidFill>
              </a:rPr>
              <a:t>: You can use more than one slide if needed </a:t>
            </a:r>
            <a:endParaRPr sz="1400">
              <a:solidFill>
                <a:srgbClr val="000000"/>
              </a:solidFill>
            </a:endParaRPr>
          </a:p>
        </p:txBody>
      </p:sp>
      <p:sp>
        <p:nvSpPr>
          <p:cNvPr id="122" name="Google Shape;122;g377b8bda5b4_0_33"/>
          <p:cNvSpPr txBox="1"/>
          <p:nvPr>
            <p:ph idx="1" type="body"/>
          </p:nvPr>
        </p:nvSpPr>
        <p:spPr>
          <a:xfrm>
            <a:off x="4758375" y="989150"/>
            <a:ext cx="4157100" cy="3706800"/>
          </a:xfrm>
          <a:prstGeom prst="rect">
            <a:avLst/>
          </a:prstGeom>
          <a:noFill/>
          <a:ln>
            <a:noFill/>
          </a:ln>
        </p:spPr>
        <p:txBody>
          <a:bodyPr anchorCtr="0" anchor="t" bIns="91425" lIns="91425" spcFirstLastPara="1" rIns="91425" wrap="square" tIns="91425">
            <a:noAutofit/>
          </a:bodyPr>
          <a:lstStyle/>
          <a:p>
            <a:pPr indent="-298450" lvl="0" marL="457200" rtl="0" algn="l">
              <a:spcBef>
                <a:spcPts val="1200"/>
              </a:spcBef>
              <a:spcAft>
                <a:spcPts val="0"/>
              </a:spcAft>
              <a:buClr>
                <a:srgbClr val="000000"/>
              </a:buClr>
              <a:buSzPts val="1100"/>
              <a:buFont typeface="Arial"/>
              <a:buAutoNum type="arabicPeriod" startAt="4"/>
            </a:pPr>
            <a:r>
              <a:rPr b="1" lang="en" sz="1100">
                <a:solidFill>
                  <a:srgbClr val="000000"/>
                </a:solidFill>
                <a:latin typeface="Arial"/>
                <a:ea typeface="Arial"/>
                <a:cs typeface="Arial"/>
                <a:sym typeface="Arial"/>
              </a:rPr>
              <a:t>Weekday vs Weekend</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Weekdays:</a:t>
            </a:r>
            <a:r>
              <a:rPr lang="en" sz="1100">
                <a:solidFill>
                  <a:srgbClr val="000000"/>
                </a:solidFill>
                <a:latin typeface="Arial"/>
                <a:ea typeface="Arial"/>
                <a:cs typeface="Arial"/>
                <a:sym typeface="Arial"/>
              </a:rPr>
              <a:t> Mean delivery time ≈ </a:t>
            </a:r>
            <a:r>
              <a:rPr b="1" lang="en" sz="1100">
                <a:solidFill>
                  <a:srgbClr val="000000"/>
                </a:solidFill>
                <a:latin typeface="Arial"/>
                <a:ea typeface="Arial"/>
                <a:cs typeface="Arial"/>
                <a:sym typeface="Arial"/>
              </a:rPr>
              <a:t>28 minutes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Weekends:</a:t>
            </a:r>
            <a:r>
              <a:rPr lang="en" sz="1100">
                <a:solidFill>
                  <a:srgbClr val="000000"/>
                </a:solidFill>
                <a:latin typeface="Arial"/>
                <a:ea typeface="Arial"/>
                <a:cs typeface="Arial"/>
                <a:sym typeface="Arial"/>
              </a:rPr>
              <a:t> Mean delivery time ≈ </a:t>
            </a:r>
            <a:r>
              <a:rPr b="1" lang="en" sz="1100">
                <a:solidFill>
                  <a:srgbClr val="000000"/>
                </a:solidFill>
                <a:latin typeface="Arial"/>
                <a:ea typeface="Arial"/>
                <a:cs typeface="Arial"/>
                <a:sym typeface="Arial"/>
              </a:rPr>
              <a:t>22 minutes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Faster deliveries on weekends.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startAt="4"/>
            </a:pPr>
            <a:r>
              <a:rPr b="1" lang="en" sz="1100">
                <a:solidFill>
                  <a:srgbClr val="000000"/>
                </a:solidFill>
                <a:latin typeface="Arial"/>
                <a:ea typeface="Arial"/>
                <a:cs typeface="Arial"/>
                <a:sym typeface="Arial"/>
              </a:rPr>
              <a:t>Revenue</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Net revenue (commission model) is </a:t>
            </a:r>
            <a:r>
              <a:rPr b="1" lang="en" sz="1100">
                <a:solidFill>
                  <a:srgbClr val="000000"/>
                </a:solidFill>
                <a:latin typeface="Arial"/>
                <a:ea typeface="Arial"/>
                <a:cs typeface="Arial"/>
                <a:sym typeface="Arial"/>
              </a:rPr>
              <a:t>~$6,166</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Orders above $20 contribute more significantly due to the 25% commission.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startAt="4"/>
            </a:pPr>
            <a:r>
              <a:rPr b="1" lang="en" sz="1100">
                <a:solidFill>
                  <a:srgbClr val="000000"/>
                </a:solidFill>
                <a:latin typeface="Arial"/>
                <a:ea typeface="Arial"/>
                <a:cs typeface="Arial"/>
                <a:sym typeface="Arial"/>
              </a:rPr>
              <a:t>Promotional Offers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a:t>
            </a:r>
            <a:r>
              <a:rPr b="1" lang="en" sz="1100">
                <a:solidFill>
                  <a:srgbClr val="000000"/>
                </a:solidFill>
                <a:latin typeface="Arial"/>
                <a:ea typeface="Arial"/>
                <a:cs typeface="Arial"/>
                <a:sym typeface="Arial"/>
              </a:rPr>
              <a:t>4 restaurants</a:t>
            </a:r>
            <a:r>
              <a:rPr lang="en" sz="1100">
                <a:solidFill>
                  <a:srgbClr val="000000"/>
                </a:solidFill>
                <a:latin typeface="Arial"/>
                <a:ea typeface="Arial"/>
                <a:cs typeface="Arial"/>
                <a:sym typeface="Arial"/>
              </a:rPr>
              <a:t> qualify for the “high engagement + high rating” promotion:</a:t>
            </a:r>
            <a:endParaRPr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Meatball Shop, Blue Ribbon Fried Chicken, Shake Shack, Blue Ribbon Sushi.</a:t>
            </a:r>
            <a:endParaRPr sz="1400">
              <a:solidFill>
                <a:srgbClr val="000000"/>
              </a:solidFill>
            </a:endParaRPr>
          </a:p>
        </p:txBody>
      </p:sp>
      <p:sp>
        <p:nvSpPr>
          <p:cNvPr id="123" name="Google Shape;123;g377b8bda5b4_0_33"/>
          <p:cNvSpPr txBox="1"/>
          <p:nvPr>
            <p:ph idx="1" type="body"/>
          </p:nvPr>
        </p:nvSpPr>
        <p:spPr>
          <a:xfrm>
            <a:off x="307975" y="495775"/>
            <a:ext cx="5925600" cy="44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a:solidFill>
                  <a:srgbClr val="000000"/>
                </a:solidFill>
                <a:latin typeface="Arial"/>
                <a:ea typeface="Arial"/>
                <a:cs typeface="Arial"/>
                <a:sym typeface="Arial"/>
              </a:rPr>
              <a:t>📊 Key Conclusions (based on FoodHub csv data)</a:t>
            </a:r>
            <a:endParaRPr sz="900">
              <a:solidFill>
                <a:srgbClr val="000000"/>
              </a:solidFill>
              <a:latin typeface="Arial"/>
              <a:ea typeface="Arial"/>
              <a:cs typeface="Arial"/>
              <a:sym typeface="Arial"/>
            </a:endParaRPr>
          </a:p>
          <a:p>
            <a:pPr indent="0" lvl="0" marL="457200" rtl="0" algn="l">
              <a:lnSpc>
                <a:spcPct val="115000"/>
              </a:lnSpc>
              <a:spcBef>
                <a:spcPts val="1000"/>
              </a:spcBef>
              <a:spcAft>
                <a:spcPts val="0"/>
              </a:spcAft>
              <a:buNone/>
            </a:pPr>
            <a:r>
              <a:t/>
            </a:r>
            <a:endParaRPr sz="1200">
              <a:solidFill>
                <a:srgbClr val="000000"/>
              </a:solidFill>
            </a:endParaRPr>
          </a:p>
          <a:p>
            <a:pPr indent="0" lvl="0" marL="0" rtl="0" algn="l">
              <a:lnSpc>
                <a:spcPct val="115000"/>
              </a:lnSpc>
              <a:spcBef>
                <a:spcPts val="1000"/>
              </a:spcBef>
              <a:spcAft>
                <a:spcPts val="0"/>
              </a:spcAft>
              <a:buSzPts val="1500"/>
              <a:buNone/>
            </a:pPr>
            <a:r>
              <a:t/>
            </a:r>
            <a:endParaRPr sz="1200">
              <a:solidFill>
                <a:srgbClr val="000000"/>
              </a:solidFill>
            </a:endParaRPr>
          </a:p>
          <a:p>
            <a:pPr indent="0" lvl="0" marL="0" rtl="0" algn="l">
              <a:lnSpc>
                <a:spcPct val="115000"/>
              </a:lnSpc>
              <a:spcBef>
                <a:spcPts val="1000"/>
              </a:spcBef>
              <a:spcAft>
                <a:spcPts val="1000"/>
              </a:spcAft>
              <a:buClr>
                <a:srgbClr val="000000"/>
              </a:buClr>
              <a:buSzPts val="1500"/>
              <a:buFont typeface="Arial"/>
              <a:buNone/>
            </a:pPr>
            <a:r>
              <a:t/>
            </a:r>
            <a:endParaRPr sz="12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77b8bda5b4_0_50"/>
          <p:cNvSpPr txBox="1"/>
          <p:nvPr>
            <p:ph type="title"/>
          </p:nvPr>
        </p:nvSpPr>
        <p:spPr>
          <a:xfrm>
            <a:off x="202550" y="42668"/>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29" name="Google Shape;129;g377b8bda5b4_0_50"/>
          <p:cNvSpPr txBox="1"/>
          <p:nvPr>
            <p:ph idx="1" type="body"/>
          </p:nvPr>
        </p:nvSpPr>
        <p:spPr>
          <a:xfrm>
            <a:off x="202550" y="638850"/>
            <a:ext cx="8629800" cy="37068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 Actionable Insights</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Ratings &amp; Feedback</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Nearly </a:t>
            </a:r>
            <a:r>
              <a:rPr b="1" lang="en" sz="1100">
                <a:solidFill>
                  <a:srgbClr val="000000"/>
                </a:solidFill>
                <a:latin typeface="Arial"/>
                <a:ea typeface="Arial"/>
                <a:cs typeface="Arial"/>
                <a:sym typeface="Arial"/>
              </a:rPr>
              <a:t>40% of customers did not provide ratings</a:t>
            </a:r>
            <a:r>
              <a:rPr lang="en" sz="1100">
                <a:solidFill>
                  <a:srgbClr val="000000"/>
                </a:solidFill>
                <a:latin typeface="Arial"/>
                <a:ea typeface="Arial"/>
                <a:cs typeface="Arial"/>
                <a:sym typeface="Arial"/>
              </a:rPr>
              <a:t>. Lack of feedback is limiting insights into quality.</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Restaurants with &gt;50 reviews and avg rating &gt;4 are strong brand ambassadors.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Delivery Efficiency</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Weekend deliveries are </a:t>
            </a:r>
            <a:r>
              <a:rPr b="1" lang="en" sz="1100">
                <a:solidFill>
                  <a:srgbClr val="000000"/>
                </a:solidFill>
                <a:latin typeface="Arial"/>
                <a:ea typeface="Arial"/>
                <a:cs typeface="Arial"/>
                <a:sym typeface="Arial"/>
              </a:rPr>
              <a:t>~20% faster</a:t>
            </a:r>
            <a:r>
              <a:rPr lang="en" sz="1100">
                <a:solidFill>
                  <a:srgbClr val="000000"/>
                </a:solidFill>
                <a:latin typeface="Arial"/>
                <a:ea typeface="Arial"/>
                <a:cs typeface="Arial"/>
                <a:sym typeface="Arial"/>
              </a:rPr>
              <a:t> than weekdays, likely due to traffic/staffing factors.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1 in 10 orders exceed 60 minutes, showing good operational performance.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Revenue Drivers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Majority of revenue is coming from orders </a:t>
            </a:r>
            <a:r>
              <a:rPr b="1" lang="en" sz="1100">
                <a:solidFill>
                  <a:srgbClr val="000000"/>
                </a:solidFill>
                <a:latin typeface="Arial"/>
                <a:ea typeface="Arial"/>
                <a:cs typeface="Arial"/>
                <a:sym typeface="Arial"/>
              </a:rPr>
              <a:t>&gt; $20</a:t>
            </a:r>
            <a:r>
              <a:rPr lang="en" sz="1100">
                <a:solidFill>
                  <a:srgbClr val="000000"/>
                </a:solidFill>
                <a:latin typeface="Arial"/>
                <a:ea typeface="Arial"/>
                <a:cs typeface="Arial"/>
                <a:sym typeface="Arial"/>
              </a:rPr>
              <a:t> due to higher commission.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Smaller orders ($5–20) are frequent but less profitable.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Restaurant Engagement</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a handful of restaurants are consistently high-rated and high-volume.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Long-tail restaurants may need quality improvements or visibility boosts.</a:t>
            </a:r>
            <a:endParaRPr b="1" sz="17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77b8bda5b4_0_44"/>
          <p:cNvSpPr txBox="1"/>
          <p:nvPr>
            <p:ph type="title"/>
          </p:nvPr>
        </p:nvSpPr>
        <p:spPr>
          <a:xfrm>
            <a:off x="202550" y="42668"/>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35" name="Google Shape;135;g377b8bda5b4_0_44"/>
          <p:cNvSpPr txBox="1"/>
          <p:nvPr>
            <p:ph idx="1" type="body"/>
          </p:nvPr>
        </p:nvSpPr>
        <p:spPr>
          <a:xfrm>
            <a:off x="202550" y="638850"/>
            <a:ext cx="8629800" cy="42981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 Recommendations</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Boost Customer Ratings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Encourage ratings with </a:t>
            </a:r>
            <a:r>
              <a:rPr b="1" lang="en" sz="1100">
                <a:solidFill>
                  <a:srgbClr val="000000"/>
                </a:solidFill>
                <a:latin typeface="Arial"/>
                <a:ea typeface="Arial"/>
                <a:cs typeface="Arial"/>
                <a:sym typeface="Arial"/>
              </a:rPr>
              <a:t>small discounts or reward points</a:t>
            </a:r>
            <a:r>
              <a:rPr lang="en" sz="1100">
                <a:solidFill>
                  <a:srgbClr val="000000"/>
                </a:solidFill>
                <a:latin typeface="Arial"/>
                <a:ea typeface="Arial"/>
                <a:cs typeface="Arial"/>
                <a:sym typeface="Arial"/>
              </a:rPr>
              <a:t> for feedback.</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reduces “Not given” cases and helps identify issues more clearly.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Improve Weekday Delivery</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Partner with delivery providers to handle weekday traffic better.</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Consider </a:t>
            </a:r>
            <a:r>
              <a:rPr b="1" lang="en" sz="1100">
                <a:solidFill>
                  <a:srgbClr val="000000"/>
                </a:solidFill>
                <a:latin typeface="Arial"/>
                <a:ea typeface="Arial"/>
                <a:cs typeface="Arial"/>
                <a:sym typeface="Arial"/>
              </a:rPr>
              <a:t>dynamic delivery fee discounts</a:t>
            </a:r>
            <a:r>
              <a:rPr lang="en" sz="1100">
                <a:solidFill>
                  <a:srgbClr val="000000"/>
                </a:solidFill>
                <a:latin typeface="Arial"/>
                <a:ea typeface="Arial"/>
                <a:cs typeface="Arial"/>
                <a:sym typeface="Arial"/>
              </a:rPr>
              <a:t> to spread orders more evenly across time slots.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Revenue Optimization</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Highlight </a:t>
            </a:r>
            <a:r>
              <a:rPr b="1" lang="en" sz="1100">
                <a:solidFill>
                  <a:srgbClr val="000000"/>
                </a:solidFill>
                <a:latin typeface="Arial"/>
                <a:ea typeface="Arial"/>
                <a:cs typeface="Arial"/>
                <a:sym typeface="Arial"/>
              </a:rPr>
              <a:t>premium combo offers</a:t>
            </a:r>
            <a:r>
              <a:rPr lang="en" sz="1100">
                <a:solidFill>
                  <a:srgbClr val="000000"/>
                </a:solidFill>
                <a:latin typeface="Arial"/>
                <a:ea typeface="Arial"/>
                <a:cs typeface="Arial"/>
                <a:sym typeface="Arial"/>
              </a:rPr>
              <a:t> above $20 in the app → drives higher commission revenue.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For smaller orders, push </a:t>
            </a:r>
            <a:r>
              <a:rPr b="1" lang="en" sz="1100">
                <a:solidFill>
                  <a:srgbClr val="000000"/>
                </a:solidFill>
                <a:latin typeface="Arial"/>
                <a:ea typeface="Arial"/>
                <a:cs typeface="Arial"/>
                <a:sym typeface="Arial"/>
              </a:rPr>
              <a:t>“add-on items”</a:t>
            </a:r>
            <a:r>
              <a:rPr lang="en" sz="1100">
                <a:solidFill>
                  <a:srgbClr val="000000"/>
                </a:solidFill>
                <a:latin typeface="Arial"/>
                <a:ea typeface="Arial"/>
                <a:cs typeface="Arial"/>
                <a:sym typeface="Arial"/>
              </a:rPr>
              <a:t> (desserts, drinks) to bump order value above $20.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Promotional Campaigns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Promote the </a:t>
            </a:r>
            <a:r>
              <a:rPr b="1" lang="en" sz="1100">
                <a:solidFill>
                  <a:srgbClr val="000000"/>
                </a:solidFill>
                <a:latin typeface="Arial"/>
                <a:ea typeface="Arial"/>
                <a:cs typeface="Arial"/>
                <a:sym typeface="Arial"/>
              </a:rPr>
              <a:t>top 4 high-rated restaurants</a:t>
            </a:r>
            <a:r>
              <a:rPr lang="en" sz="1100">
                <a:solidFill>
                  <a:srgbClr val="000000"/>
                </a:solidFill>
                <a:latin typeface="Arial"/>
                <a:ea typeface="Arial"/>
                <a:cs typeface="Arial"/>
                <a:sym typeface="Arial"/>
              </a:rPr>
              <a:t> in ads.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Create a </a:t>
            </a:r>
            <a:r>
              <a:rPr b="1" lang="en" sz="1100">
                <a:solidFill>
                  <a:srgbClr val="000000"/>
                </a:solidFill>
                <a:latin typeface="Arial"/>
                <a:ea typeface="Arial"/>
                <a:cs typeface="Arial"/>
                <a:sym typeface="Arial"/>
              </a:rPr>
              <a:t>“FoodHub Certified Best Rated” badge</a:t>
            </a:r>
            <a:r>
              <a:rPr lang="en" sz="1100">
                <a:solidFill>
                  <a:srgbClr val="000000"/>
                </a:solidFill>
                <a:latin typeface="Arial"/>
                <a:ea typeface="Arial"/>
                <a:cs typeface="Arial"/>
                <a:sym typeface="Arial"/>
              </a:rPr>
              <a:t> to attract more customers.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Support for Underperforming Restaurants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Provide insights/training to restaurants with </a:t>
            </a:r>
            <a:r>
              <a:rPr b="1" lang="en" sz="1100">
                <a:solidFill>
                  <a:srgbClr val="000000"/>
                </a:solidFill>
                <a:latin typeface="Arial"/>
                <a:ea typeface="Arial"/>
                <a:cs typeface="Arial"/>
                <a:sym typeface="Arial"/>
              </a:rPr>
              <a:t>avg ratings ≤3.5</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Offer them app-based promotions to increase order volume and engagement.</a:t>
            </a:r>
            <a:endParaRPr b="1" sz="17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type="title"/>
          </p:nvPr>
        </p:nvSpPr>
        <p:spPr>
          <a:xfrm>
            <a:off x="202550" y="-1"/>
            <a:ext cx="8520600" cy="7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Executive Summary - Q17 </a:t>
            </a:r>
            <a:endParaRPr>
              <a:solidFill>
                <a:srgbClr val="000000"/>
              </a:solidFill>
            </a:endParaRPr>
          </a:p>
          <a:p>
            <a:pPr indent="0" lvl="0" marL="0" rtl="0" algn="l">
              <a:lnSpc>
                <a:spcPct val="100000"/>
              </a:lnSpc>
              <a:spcBef>
                <a:spcPts val="0"/>
              </a:spcBef>
              <a:spcAft>
                <a:spcPts val="0"/>
              </a:spcAft>
              <a:buSzPts val="2200"/>
              <a:buNone/>
            </a:pPr>
            <a:r>
              <a:rPr b="0" lang="en" sz="1500">
                <a:solidFill>
                  <a:srgbClr val="000000"/>
                </a:solidFill>
              </a:rPr>
              <a:t>(Conclusion based on </a:t>
            </a:r>
            <a:r>
              <a:rPr lang="en" sz="1500">
                <a:solidFill>
                  <a:srgbClr val="000000"/>
                </a:solidFill>
                <a:highlight>
                  <a:srgbClr val="FFFFFF"/>
                </a:highlight>
                <a:latin typeface="Arial"/>
                <a:ea typeface="Arial"/>
                <a:cs typeface="Arial"/>
                <a:sym typeface="Arial"/>
              </a:rPr>
              <a:t>cuisine type and feedback ratings</a:t>
            </a:r>
            <a:r>
              <a:rPr b="0" lang="en" sz="1500">
                <a:solidFill>
                  <a:srgbClr val="000000"/>
                </a:solidFill>
                <a:highlight>
                  <a:srgbClr val="FFFFFF"/>
                </a:highlight>
                <a:latin typeface="Arial"/>
                <a:ea typeface="Arial"/>
                <a:cs typeface="Arial"/>
                <a:sym typeface="Arial"/>
              </a:rPr>
              <a:t>)</a:t>
            </a:r>
            <a:endParaRPr b="0" sz="1500">
              <a:solidFill>
                <a:srgbClr val="000000"/>
              </a:solidFill>
              <a:highlight>
                <a:srgbClr val="FFFFFF"/>
              </a:highlight>
              <a:latin typeface="Arial"/>
              <a:ea typeface="Arial"/>
              <a:cs typeface="Arial"/>
              <a:sym typeface="Arial"/>
            </a:endParaRPr>
          </a:p>
          <a:p>
            <a:pPr indent="0" lvl="0" marL="0" rtl="0" algn="l">
              <a:lnSpc>
                <a:spcPct val="100000"/>
              </a:lnSpc>
              <a:spcBef>
                <a:spcPts val="0"/>
              </a:spcBef>
              <a:spcAft>
                <a:spcPts val="0"/>
              </a:spcAft>
              <a:buSzPts val="2200"/>
              <a:buNone/>
            </a:pPr>
            <a:r>
              <a:t/>
            </a:r>
            <a:endParaRPr>
              <a:solidFill>
                <a:srgbClr val="000000"/>
              </a:solidFill>
            </a:endParaRPr>
          </a:p>
        </p:txBody>
      </p:sp>
      <p:sp>
        <p:nvSpPr>
          <p:cNvPr id="141" name="Google Shape;141;p3"/>
          <p:cNvSpPr txBox="1"/>
          <p:nvPr>
            <p:ph idx="1" type="body"/>
          </p:nvPr>
        </p:nvSpPr>
        <p:spPr>
          <a:xfrm>
            <a:off x="202550" y="932550"/>
            <a:ext cx="3851100" cy="41310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latin typeface="Arial"/>
                <a:ea typeface="Arial"/>
                <a:cs typeface="Arial"/>
                <a:sym typeface="Arial"/>
              </a:rPr>
              <a:t>📊 Conclusions</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Spanish and Thai cuisines</a:t>
            </a:r>
            <a:r>
              <a:rPr lang="en" sz="1100">
                <a:solidFill>
                  <a:srgbClr val="000000"/>
                </a:solidFill>
                <a:latin typeface="Arial"/>
                <a:ea typeface="Arial"/>
                <a:cs typeface="Arial"/>
                <a:sym typeface="Arial"/>
              </a:rPr>
              <a:t> have the </a:t>
            </a:r>
            <a:r>
              <a:rPr b="1" lang="en" sz="1100">
                <a:solidFill>
                  <a:srgbClr val="000000"/>
                </a:solidFill>
                <a:latin typeface="Arial"/>
                <a:ea typeface="Arial"/>
                <a:cs typeface="Arial"/>
                <a:sym typeface="Arial"/>
              </a:rPr>
              <a:t>highest average ratings</a:t>
            </a:r>
            <a:r>
              <a:rPr lang="en" sz="1100">
                <a:solidFill>
                  <a:srgbClr val="000000"/>
                </a:solidFill>
                <a:latin typeface="Arial"/>
                <a:ea typeface="Arial"/>
                <a:cs typeface="Arial"/>
                <a:sym typeface="Arial"/>
              </a:rPr>
              <a:t> (&gt;4.6), but with </a:t>
            </a:r>
            <a:r>
              <a:rPr b="1" lang="en" sz="1100">
                <a:solidFill>
                  <a:srgbClr val="000000"/>
                </a:solidFill>
                <a:latin typeface="Arial"/>
                <a:ea typeface="Arial"/>
                <a:cs typeface="Arial"/>
                <a:sym typeface="Arial"/>
              </a:rPr>
              <a:t>very low order counts</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 underexposed but well-loved.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Indian, Mexican, Japanese, Italian, and Chinese cuisines</a:t>
            </a:r>
            <a:r>
              <a:rPr lang="en" sz="1100">
                <a:solidFill>
                  <a:srgbClr val="000000"/>
                </a:solidFill>
                <a:latin typeface="Arial"/>
                <a:ea typeface="Arial"/>
                <a:cs typeface="Arial"/>
                <a:sym typeface="Arial"/>
              </a:rPr>
              <a:t> have both </a:t>
            </a:r>
            <a:r>
              <a:rPr b="1" lang="en" sz="1100">
                <a:solidFill>
                  <a:srgbClr val="000000"/>
                </a:solidFill>
                <a:latin typeface="Arial"/>
                <a:ea typeface="Arial"/>
                <a:cs typeface="Arial"/>
                <a:sym typeface="Arial"/>
              </a:rPr>
              <a:t>high ratings (~4.3–4.5)</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strong order counts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showing they are the </a:t>
            </a:r>
            <a:r>
              <a:rPr b="1" lang="en" sz="1100">
                <a:solidFill>
                  <a:srgbClr val="000000"/>
                </a:solidFill>
                <a:latin typeface="Arial"/>
                <a:ea typeface="Arial"/>
                <a:cs typeface="Arial"/>
                <a:sym typeface="Arial"/>
              </a:rPr>
              <a:t>core demand drivers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American cuisine</a:t>
            </a:r>
            <a:r>
              <a:rPr lang="en" sz="1100">
                <a:solidFill>
                  <a:srgbClr val="000000"/>
                </a:solidFill>
                <a:latin typeface="Arial"/>
                <a:ea typeface="Arial"/>
                <a:cs typeface="Arial"/>
                <a:sym typeface="Arial"/>
              </a:rPr>
              <a:t> has the </a:t>
            </a:r>
            <a:r>
              <a:rPr b="1" lang="en" sz="1100">
                <a:solidFill>
                  <a:srgbClr val="000000"/>
                </a:solidFill>
                <a:latin typeface="Arial"/>
                <a:ea typeface="Arial"/>
                <a:cs typeface="Arial"/>
                <a:sym typeface="Arial"/>
              </a:rPr>
              <a:t>largest order count (584 orders)</a:t>
            </a:r>
            <a:r>
              <a:rPr lang="en" sz="1100">
                <a:solidFill>
                  <a:srgbClr val="000000"/>
                </a:solidFill>
                <a:latin typeface="Arial"/>
                <a:ea typeface="Arial"/>
                <a:cs typeface="Arial"/>
                <a:sym typeface="Arial"/>
              </a:rPr>
              <a:t> but only an average rating of </a:t>
            </a:r>
            <a:r>
              <a:rPr b="1" lang="en" sz="1100">
                <a:solidFill>
                  <a:srgbClr val="000000"/>
                </a:solidFill>
                <a:latin typeface="Arial"/>
                <a:ea typeface="Arial"/>
                <a:cs typeface="Arial"/>
                <a:sym typeface="Arial"/>
              </a:rPr>
              <a:t>~4.3</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indicating room for quality improvement.</a:t>
            </a:r>
            <a:br>
              <a:rPr lang="en" sz="1100">
                <a:solidFill>
                  <a:srgbClr val="000000"/>
                </a:solidFill>
                <a:latin typeface="Arial"/>
                <a:ea typeface="Arial"/>
                <a:cs typeface="Arial"/>
                <a:sym typeface="Arial"/>
              </a:rPr>
            </a:b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
        <p:nvSpPr>
          <p:cNvPr id="142" name="Google Shape;142;p3"/>
          <p:cNvSpPr txBox="1"/>
          <p:nvPr>
            <p:ph idx="1" type="body"/>
          </p:nvPr>
        </p:nvSpPr>
        <p:spPr>
          <a:xfrm>
            <a:off x="4429850" y="932550"/>
            <a:ext cx="4234500" cy="44106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 Recommendations</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Promote Niche High-rated Cuisines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Increase visibility of </a:t>
            </a:r>
            <a:r>
              <a:rPr b="1" lang="en" sz="1100">
                <a:solidFill>
                  <a:srgbClr val="000000"/>
                </a:solidFill>
                <a:latin typeface="Arial"/>
                <a:ea typeface="Arial"/>
                <a:cs typeface="Arial"/>
                <a:sym typeface="Arial"/>
              </a:rPr>
              <a:t>Spanish and Thai restaurants</a:t>
            </a:r>
            <a:r>
              <a:rPr lang="en" sz="1100">
                <a:solidFill>
                  <a:srgbClr val="000000"/>
                </a:solidFill>
                <a:latin typeface="Arial"/>
                <a:ea typeface="Arial"/>
                <a:cs typeface="Arial"/>
                <a:sym typeface="Arial"/>
              </a:rPr>
              <a:t> through promotions and app highlights → convert customer satisfaction into higher order volume.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Strengthen Core Cuisines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Focus on </a:t>
            </a:r>
            <a:r>
              <a:rPr b="1" lang="en" sz="1100">
                <a:solidFill>
                  <a:srgbClr val="000000"/>
                </a:solidFill>
                <a:latin typeface="Arial"/>
                <a:ea typeface="Arial"/>
                <a:cs typeface="Arial"/>
                <a:sym typeface="Arial"/>
              </a:rPr>
              <a:t>Indian, Mexican, Japanese, Italian, and Chinese</a:t>
            </a:r>
            <a:r>
              <a:rPr lang="en" sz="1100">
                <a:solidFill>
                  <a:srgbClr val="000000"/>
                </a:solidFill>
                <a:latin typeface="Arial"/>
                <a:ea typeface="Arial"/>
                <a:cs typeface="Arial"/>
                <a:sym typeface="Arial"/>
              </a:rPr>
              <a:t> cuisines with combo deals and targeted ads → maximize revenue from already popular, high-rated cuisines.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Improve American Cuisine Quality</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Since </a:t>
            </a:r>
            <a:r>
              <a:rPr b="1" lang="en" sz="1100">
                <a:solidFill>
                  <a:srgbClr val="000000"/>
                </a:solidFill>
                <a:latin typeface="Arial"/>
                <a:ea typeface="Arial"/>
                <a:cs typeface="Arial"/>
                <a:sym typeface="Arial"/>
              </a:rPr>
              <a:t>American cuisine has the largest volume but lower relative rating</a:t>
            </a:r>
            <a:r>
              <a:rPr lang="en" sz="1100">
                <a:solidFill>
                  <a:srgbClr val="000000"/>
                </a:solidFill>
                <a:latin typeface="Arial"/>
                <a:ea typeface="Arial"/>
                <a:cs typeface="Arial"/>
                <a:sym typeface="Arial"/>
              </a:rPr>
              <a:t>, work with these restaurants on </a:t>
            </a:r>
            <a:r>
              <a:rPr b="1" lang="en" sz="1100">
                <a:solidFill>
                  <a:srgbClr val="000000"/>
                </a:solidFill>
                <a:latin typeface="Arial"/>
                <a:ea typeface="Arial"/>
                <a:cs typeface="Arial"/>
                <a:sym typeface="Arial"/>
              </a:rPr>
              <a:t>quality upgrades</a:t>
            </a:r>
            <a:r>
              <a:rPr lang="en" sz="1100">
                <a:solidFill>
                  <a:srgbClr val="000000"/>
                </a:solidFill>
                <a:latin typeface="Arial"/>
                <a:ea typeface="Arial"/>
                <a:cs typeface="Arial"/>
                <a:sym typeface="Arial"/>
              </a:rPr>
              <a:t> (taste, service consistency). Even a small rating improvement will significantly impact overall customer satisfaction.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ph type="title"/>
          </p:nvPr>
        </p:nvSpPr>
        <p:spPr>
          <a:xfrm>
            <a:off x="108625"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48" name="Google Shape;148;p4"/>
          <p:cNvSpPr txBox="1"/>
          <p:nvPr>
            <p:ph idx="1" type="body"/>
          </p:nvPr>
        </p:nvSpPr>
        <p:spPr>
          <a:xfrm>
            <a:off x="202550" y="572700"/>
            <a:ext cx="8629800" cy="43053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Overview</a:t>
            </a:r>
            <a:endParaRPr b="1" sz="1700">
              <a:solidFill>
                <a:srgbClr val="000000"/>
              </a:solidFill>
              <a:latin typeface="Arial"/>
              <a:ea typeface="Arial"/>
              <a:cs typeface="Arial"/>
              <a:sym typeface="Arial"/>
            </a:endParaRPr>
          </a:p>
          <a:p>
            <a:pPr indent="0" lvl="0" marL="0" rtl="0" algn="l">
              <a:spcBef>
                <a:spcPts val="1800"/>
              </a:spcBef>
              <a:spcAft>
                <a:spcPts val="0"/>
              </a:spcAft>
              <a:buNone/>
            </a:pPr>
            <a:r>
              <a:rPr lang="en" sz="1100">
                <a:solidFill>
                  <a:srgbClr val="000000"/>
                </a:solidFill>
                <a:latin typeface="Arial"/>
                <a:ea typeface="Arial"/>
                <a:cs typeface="Arial"/>
                <a:sym typeface="Arial"/>
              </a:rPr>
              <a:t>FoodHub, an online food aggregator, wants to </a:t>
            </a:r>
            <a:r>
              <a:rPr b="1" lang="en" sz="1100">
                <a:solidFill>
                  <a:srgbClr val="000000"/>
                </a:solidFill>
                <a:latin typeface="Arial"/>
                <a:ea typeface="Arial"/>
                <a:cs typeface="Arial"/>
                <a:sym typeface="Arial"/>
              </a:rPr>
              <a:t>analyze customer orders and restaurant performance</a:t>
            </a:r>
            <a:r>
              <a:rPr lang="en" sz="1100">
                <a:solidFill>
                  <a:srgbClr val="000000"/>
                </a:solidFill>
                <a:latin typeface="Arial"/>
                <a:ea typeface="Arial"/>
                <a:cs typeface="Arial"/>
                <a:sym typeface="Arial"/>
              </a:rPr>
              <a:t> to gain insights that can improve customer experience and optimize business decisions.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Key challenges include: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Identifying </a:t>
            </a:r>
            <a:r>
              <a:rPr b="1" lang="en" sz="1100">
                <a:solidFill>
                  <a:srgbClr val="000000"/>
                </a:solidFill>
                <a:latin typeface="Arial"/>
                <a:ea typeface="Arial"/>
                <a:cs typeface="Arial"/>
                <a:sym typeface="Arial"/>
              </a:rPr>
              <a:t>which restaurants and cuisines are most in demand</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Understanding the </a:t>
            </a:r>
            <a:r>
              <a:rPr b="1" lang="en" sz="1100">
                <a:solidFill>
                  <a:srgbClr val="000000"/>
                </a:solidFill>
                <a:latin typeface="Arial"/>
                <a:ea typeface="Arial"/>
                <a:cs typeface="Arial"/>
                <a:sym typeface="Arial"/>
              </a:rPr>
              <a:t>patterns of customer orders</a:t>
            </a:r>
            <a:r>
              <a:rPr lang="en" sz="1100">
                <a:solidFill>
                  <a:srgbClr val="000000"/>
                </a:solidFill>
                <a:latin typeface="Arial"/>
                <a:ea typeface="Arial"/>
                <a:cs typeface="Arial"/>
                <a:sym typeface="Arial"/>
              </a:rPr>
              <a:t> (weekday vs weekend).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Analyzing </a:t>
            </a:r>
            <a:r>
              <a:rPr b="1" lang="en" sz="1100">
                <a:solidFill>
                  <a:srgbClr val="000000"/>
                </a:solidFill>
                <a:latin typeface="Arial"/>
                <a:ea typeface="Arial"/>
                <a:cs typeface="Arial"/>
                <a:sym typeface="Arial"/>
              </a:rPr>
              <a:t>food preparation time and delivery time</a:t>
            </a:r>
            <a:r>
              <a:rPr lang="en" sz="1100">
                <a:solidFill>
                  <a:srgbClr val="000000"/>
                </a:solidFill>
                <a:latin typeface="Arial"/>
                <a:ea typeface="Arial"/>
                <a:cs typeface="Arial"/>
                <a:sym typeface="Arial"/>
              </a:rPr>
              <a:t> to measure efficiency.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Studying </a:t>
            </a:r>
            <a:r>
              <a:rPr b="1" lang="en" sz="1100">
                <a:solidFill>
                  <a:srgbClr val="000000"/>
                </a:solidFill>
                <a:latin typeface="Arial"/>
                <a:ea typeface="Arial"/>
                <a:cs typeface="Arial"/>
                <a:sym typeface="Arial"/>
              </a:rPr>
              <a:t>customer satisfaction through ratings</a:t>
            </a:r>
            <a:r>
              <a:rPr lang="en" sz="1100">
                <a:solidFill>
                  <a:srgbClr val="000000"/>
                </a:solidFill>
                <a:latin typeface="Arial"/>
                <a:ea typeface="Arial"/>
                <a:cs typeface="Arial"/>
                <a:sym typeface="Arial"/>
              </a:rPr>
              <a:t> and its relationship with order cost, preparation, and delivery times.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Helping FoodHub </a:t>
            </a:r>
            <a:r>
              <a:rPr b="1" lang="en" sz="1100">
                <a:solidFill>
                  <a:srgbClr val="000000"/>
                </a:solidFill>
                <a:latin typeface="Arial"/>
                <a:ea typeface="Arial"/>
                <a:cs typeface="Arial"/>
                <a:sym typeface="Arial"/>
              </a:rPr>
              <a:t>strategically improve partnerships</a:t>
            </a:r>
            <a:r>
              <a:rPr lang="en" sz="1100">
                <a:solidFill>
                  <a:srgbClr val="000000"/>
                </a:solidFill>
                <a:latin typeface="Arial"/>
                <a:ea typeface="Arial"/>
                <a:cs typeface="Arial"/>
                <a:sym typeface="Arial"/>
              </a:rPr>
              <a:t> with restaurants and allocate delivery resources better.</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a:t>
            </a:r>
            <a:r>
              <a:rPr b="1" lang="en" sz="1100">
                <a:solidFill>
                  <a:srgbClr val="000000"/>
                </a:solidFill>
                <a:latin typeface="Arial"/>
                <a:ea typeface="Arial"/>
                <a:cs typeface="Arial"/>
                <a:sym typeface="Arial"/>
              </a:rPr>
              <a:t>business goal</a:t>
            </a:r>
            <a:r>
              <a:rPr lang="en" sz="1100">
                <a:solidFill>
                  <a:srgbClr val="000000"/>
                </a:solidFill>
                <a:latin typeface="Arial"/>
                <a:ea typeface="Arial"/>
                <a:cs typeface="Arial"/>
                <a:sym typeface="Arial"/>
              </a:rPr>
              <a:t> is to analyze the data to get a fair idea about the demand of different restaurants which will help them in enhancing their customer experience. In short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Enhance </a:t>
            </a:r>
            <a:r>
              <a:rPr b="1" lang="en" sz="1100">
                <a:solidFill>
                  <a:srgbClr val="000000"/>
                </a:solidFill>
                <a:latin typeface="Arial"/>
                <a:ea typeface="Arial"/>
                <a:cs typeface="Arial"/>
                <a:sym typeface="Arial"/>
              </a:rPr>
              <a:t>customer satisfaction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Improve </a:t>
            </a:r>
            <a:r>
              <a:rPr b="1" lang="en" sz="1100">
                <a:solidFill>
                  <a:srgbClr val="000000"/>
                </a:solidFill>
                <a:latin typeface="Arial"/>
                <a:ea typeface="Arial"/>
                <a:cs typeface="Arial"/>
                <a:sym typeface="Arial"/>
              </a:rPr>
              <a:t>delivery efficiency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Support </a:t>
            </a:r>
            <a:r>
              <a:rPr b="1" lang="en" sz="1100">
                <a:solidFill>
                  <a:srgbClr val="000000"/>
                </a:solidFill>
                <a:latin typeface="Arial"/>
                <a:ea typeface="Arial"/>
                <a:cs typeface="Arial"/>
                <a:sym typeface="Arial"/>
              </a:rPr>
              <a:t>restaurant selection &amp; promotion strategies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Ultimately, </a:t>
            </a:r>
            <a:r>
              <a:rPr b="1" lang="en" sz="1100">
                <a:solidFill>
                  <a:srgbClr val="000000"/>
                </a:solidFill>
                <a:latin typeface="Arial"/>
                <a:ea typeface="Arial"/>
                <a:cs typeface="Arial"/>
                <a:sym typeface="Arial"/>
              </a:rPr>
              <a:t>increase revenue</a:t>
            </a:r>
            <a:r>
              <a:rPr lang="en" sz="1100">
                <a:solidFill>
                  <a:srgbClr val="000000"/>
                </a:solidFill>
                <a:latin typeface="Arial"/>
                <a:ea typeface="Arial"/>
                <a:cs typeface="Arial"/>
                <a:sym typeface="Arial"/>
              </a:rPr>
              <a:t> through better service and operational efficiency.</a:t>
            </a:r>
            <a:endParaRPr sz="1400">
              <a:solidFill>
                <a:srgbClr val="000000"/>
              </a:solidFill>
            </a:endParaRPr>
          </a:p>
          <a:p>
            <a:pPr indent="0" lvl="0" marL="0" rtl="0" algn="l">
              <a:lnSpc>
                <a:spcPct val="115000"/>
              </a:lnSpc>
              <a:spcBef>
                <a:spcPts val="1200"/>
              </a:spcBef>
              <a:spcAft>
                <a:spcPts val="0"/>
              </a:spcAft>
              <a:buSzPts val="1500"/>
              <a:buNone/>
            </a:pPr>
            <a:r>
              <a:t/>
            </a:r>
            <a:endParaRPr sz="1400">
              <a:solidFill>
                <a:srgbClr val="000000"/>
              </a:solidFill>
            </a:endParaRPr>
          </a:p>
          <a:p>
            <a:pPr indent="0" lvl="0" marL="0" rtl="0" algn="l">
              <a:lnSpc>
                <a:spcPct val="115000"/>
              </a:lnSpc>
              <a:spcBef>
                <a:spcPts val="1000"/>
              </a:spcBef>
              <a:spcAft>
                <a:spcPts val="1000"/>
              </a:spcAft>
              <a:buClr>
                <a:srgbClr val="000000"/>
              </a:buClr>
              <a:buSzPts val="1500"/>
              <a:buFont typeface="Arial"/>
              <a:buNone/>
            </a:pPr>
            <a:r>
              <a:rPr b="1" i="1" lang="en" sz="1200">
                <a:solidFill>
                  <a:srgbClr val="000000"/>
                </a:solidFill>
              </a:rPr>
              <a:t>Note</a:t>
            </a:r>
            <a:r>
              <a:rPr i="1" lang="en" sz="1200">
                <a:solidFill>
                  <a:srgbClr val="000000"/>
                </a:solidFill>
              </a:rPr>
              <a:t>: You can use more than one slide if needed </a:t>
            </a:r>
            <a:endParaRPr sz="14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7a51fe5aa_0_5"/>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54" name="Google Shape;154;g377a51fe5aa_0_5"/>
          <p:cNvSpPr txBox="1"/>
          <p:nvPr>
            <p:ph idx="1" type="body"/>
          </p:nvPr>
        </p:nvSpPr>
        <p:spPr>
          <a:xfrm>
            <a:off x="202550" y="462700"/>
            <a:ext cx="8629800" cy="8100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Solution Approach / Methodology</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problem can be solved through </a:t>
            </a:r>
            <a:r>
              <a:rPr b="1" lang="en" sz="1100">
                <a:solidFill>
                  <a:srgbClr val="000000"/>
                </a:solidFill>
                <a:latin typeface="Arial"/>
                <a:ea typeface="Arial"/>
                <a:cs typeface="Arial"/>
                <a:sym typeface="Arial"/>
              </a:rPr>
              <a:t>Exploratory Data Analysis (EDA), statistical insights, and visualization techniques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t/>
            </a:r>
            <a:endParaRPr sz="1400">
              <a:solidFill>
                <a:srgbClr val="000000"/>
              </a:solidFill>
            </a:endParaRPr>
          </a:p>
          <a:p>
            <a:pPr indent="0" lvl="0" marL="0" rtl="0" algn="l">
              <a:lnSpc>
                <a:spcPct val="115000"/>
              </a:lnSpc>
              <a:spcBef>
                <a:spcPts val="1000"/>
              </a:spcBef>
              <a:spcAft>
                <a:spcPts val="0"/>
              </a:spcAft>
              <a:buSzPts val="1500"/>
              <a:buNone/>
            </a:pPr>
            <a:r>
              <a:t/>
            </a:r>
            <a:endParaRPr sz="1400">
              <a:solidFill>
                <a:srgbClr val="000000"/>
              </a:solidFill>
            </a:endParaRPr>
          </a:p>
          <a:p>
            <a:pPr indent="0" lvl="0" marL="0" rtl="0" algn="l">
              <a:lnSpc>
                <a:spcPct val="115000"/>
              </a:lnSpc>
              <a:spcBef>
                <a:spcPts val="1000"/>
              </a:spcBef>
              <a:spcAft>
                <a:spcPts val="1000"/>
              </a:spcAft>
              <a:buClr>
                <a:srgbClr val="000000"/>
              </a:buClr>
              <a:buSzPts val="1500"/>
              <a:buFont typeface="Arial"/>
              <a:buNone/>
            </a:pPr>
            <a:r>
              <a:t/>
            </a:r>
            <a:endParaRPr sz="1400">
              <a:solidFill>
                <a:srgbClr val="000000"/>
              </a:solidFill>
            </a:endParaRPr>
          </a:p>
        </p:txBody>
      </p:sp>
      <p:sp>
        <p:nvSpPr>
          <p:cNvPr id="155" name="Google Shape;155;g377a51fe5aa_0_5"/>
          <p:cNvSpPr txBox="1"/>
          <p:nvPr>
            <p:ph idx="1" type="body"/>
          </p:nvPr>
        </p:nvSpPr>
        <p:spPr>
          <a:xfrm>
            <a:off x="140325" y="1272700"/>
            <a:ext cx="5275500" cy="37815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100">
                <a:solidFill>
                  <a:srgbClr val="000000"/>
                </a:solidFill>
                <a:latin typeface="Arial"/>
                <a:ea typeface="Arial"/>
                <a:cs typeface="Arial"/>
                <a:sym typeface="Arial"/>
              </a:rPr>
              <a:t>Step 1: Data Understanding &amp; Cleaning</a:t>
            </a:r>
            <a:endParaRPr b="1" sz="11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 sz="900">
                <a:solidFill>
                  <a:srgbClr val="000000"/>
                </a:solidFill>
                <a:latin typeface="Arial"/>
                <a:ea typeface="Arial"/>
                <a:cs typeface="Arial"/>
                <a:sym typeface="Arial"/>
              </a:rPr>
              <a:t>Load and explore dataset structure.</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Handle missing values (e.g., ratings not provided).</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Remove duplicates and validate data consistency.</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Convert categorical variables (weekday/weekend, cuisine type, etc.) if needed.</a:t>
            </a:r>
            <a:endParaRPr sz="900">
              <a:solidFill>
                <a:srgbClr val="000000"/>
              </a:solidFill>
              <a:latin typeface="Arial"/>
              <a:ea typeface="Arial"/>
              <a:cs typeface="Arial"/>
              <a:sym typeface="Arial"/>
            </a:endParaRPr>
          </a:p>
          <a:p>
            <a:pPr indent="0" lvl="0" marL="0" rtl="0" algn="l">
              <a:spcBef>
                <a:spcPts val="1400"/>
              </a:spcBef>
              <a:spcAft>
                <a:spcPts val="0"/>
              </a:spcAft>
              <a:buNone/>
            </a:pPr>
            <a:r>
              <a:rPr b="1" lang="en" sz="1100">
                <a:solidFill>
                  <a:srgbClr val="000000"/>
                </a:solidFill>
                <a:latin typeface="Arial"/>
                <a:ea typeface="Arial"/>
                <a:cs typeface="Arial"/>
                <a:sym typeface="Arial"/>
              </a:rPr>
              <a:t>Step 2: Univariate Analysis</a:t>
            </a:r>
            <a:endParaRPr b="1" sz="11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 sz="900">
                <a:solidFill>
                  <a:srgbClr val="000000"/>
                </a:solidFill>
                <a:latin typeface="Arial"/>
                <a:ea typeface="Arial"/>
                <a:cs typeface="Arial"/>
                <a:sym typeface="Arial"/>
              </a:rPr>
              <a:t>Distribution of </a:t>
            </a:r>
            <a:r>
              <a:rPr b="1" lang="en" sz="900">
                <a:solidFill>
                  <a:srgbClr val="000000"/>
                </a:solidFill>
                <a:latin typeface="Arial"/>
                <a:ea typeface="Arial"/>
                <a:cs typeface="Arial"/>
                <a:sym typeface="Arial"/>
              </a:rPr>
              <a:t>order cost</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Most popular </a:t>
            </a:r>
            <a:r>
              <a:rPr b="1" lang="en" sz="900">
                <a:solidFill>
                  <a:srgbClr val="000000"/>
                </a:solidFill>
                <a:latin typeface="Arial"/>
                <a:ea typeface="Arial"/>
                <a:cs typeface="Arial"/>
                <a:sym typeface="Arial"/>
              </a:rPr>
              <a:t>restaurants</a:t>
            </a:r>
            <a:r>
              <a:rPr lang="en" sz="900">
                <a:solidFill>
                  <a:srgbClr val="000000"/>
                </a:solidFill>
                <a:latin typeface="Arial"/>
                <a:ea typeface="Arial"/>
                <a:cs typeface="Arial"/>
                <a:sym typeface="Arial"/>
              </a:rPr>
              <a:t> and </a:t>
            </a:r>
            <a:r>
              <a:rPr b="1" lang="en" sz="900">
                <a:solidFill>
                  <a:srgbClr val="000000"/>
                </a:solidFill>
                <a:latin typeface="Arial"/>
                <a:ea typeface="Arial"/>
                <a:cs typeface="Arial"/>
                <a:sym typeface="Arial"/>
              </a:rPr>
              <a:t>cuisines</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Distribution of </a:t>
            </a:r>
            <a:r>
              <a:rPr b="1" lang="en" sz="900">
                <a:solidFill>
                  <a:srgbClr val="000000"/>
                </a:solidFill>
                <a:latin typeface="Arial"/>
                <a:ea typeface="Arial"/>
                <a:cs typeface="Arial"/>
                <a:sym typeface="Arial"/>
              </a:rPr>
              <a:t>ratings</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Typical </a:t>
            </a:r>
            <a:r>
              <a:rPr b="1" lang="en" sz="900">
                <a:solidFill>
                  <a:srgbClr val="000000"/>
                </a:solidFill>
                <a:latin typeface="Arial"/>
                <a:ea typeface="Arial"/>
                <a:cs typeface="Arial"/>
                <a:sym typeface="Arial"/>
              </a:rPr>
              <a:t>food preparation time</a:t>
            </a:r>
            <a:r>
              <a:rPr lang="en" sz="900">
                <a:solidFill>
                  <a:srgbClr val="000000"/>
                </a:solidFill>
                <a:latin typeface="Arial"/>
                <a:ea typeface="Arial"/>
                <a:cs typeface="Arial"/>
                <a:sym typeface="Arial"/>
              </a:rPr>
              <a:t> and </a:t>
            </a:r>
            <a:r>
              <a:rPr b="1" lang="en" sz="900">
                <a:solidFill>
                  <a:srgbClr val="000000"/>
                </a:solidFill>
                <a:latin typeface="Arial"/>
                <a:ea typeface="Arial"/>
                <a:cs typeface="Arial"/>
                <a:sym typeface="Arial"/>
              </a:rPr>
              <a:t>delivery time</a:t>
            </a:r>
            <a:r>
              <a:rPr lang="en" sz="900">
                <a:solidFill>
                  <a:srgbClr val="000000"/>
                </a:solidFill>
                <a:latin typeface="Arial"/>
                <a:ea typeface="Arial"/>
                <a:cs typeface="Arial"/>
                <a:sym typeface="Arial"/>
              </a:rPr>
              <a:t>.</a:t>
            </a:r>
            <a:endParaRPr sz="1200">
              <a:solidFill>
                <a:srgbClr val="000000"/>
              </a:solidFill>
            </a:endParaRPr>
          </a:p>
          <a:p>
            <a:pPr indent="0" lvl="0" marL="0" rtl="0" algn="l">
              <a:spcBef>
                <a:spcPts val="1400"/>
              </a:spcBef>
              <a:spcAft>
                <a:spcPts val="0"/>
              </a:spcAft>
              <a:buNone/>
            </a:pPr>
            <a:r>
              <a:rPr b="1" lang="en" sz="1100">
                <a:solidFill>
                  <a:srgbClr val="000000"/>
                </a:solidFill>
                <a:latin typeface="Arial"/>
                <a:ea typeface="Arial"/>
                <a:cs typeface="Arial"/>
                <a:sym typeface="Arial"/>
              </a:rPr>
              <a:t>Step 3: Bivariate / Multivariate Analysis</a:t>
            </a:r>
            <a:endParaRPr b="1" sz="11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 sz="900">
                <a:solidFill>
                  <a:srgbClr val="000000"/>
                </a:solidFill>
                <a:latin typeface="Arial"/>
                <a:ea typeface="Arial"/>
                <a:cs typeface="Arial"/>
                <a:sym typeface="Arial"/>
              </a:rPr>
              <a:t>Relationship between </a:t>
            </a:r>
            <a:r>
              <a:rPr b="1" lang="en" sz="900">
                <a:solidFill>
                  <a:srgbClr val="000000"/>
                </a:solidFill>
                <a:latin typeface="Arial"/>
                <a:ea typeface="Arial"/>
                <a:cs typeface="Arial"/>
                <a:sym typeface="Arial"/>
              </a:rPr>
              <a:t>order cost and rating</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Effect of </a:t>
            </a:r>
            <a:r>
              <a:rPr b="1" lang="en" sz="900">
                <a:solidFill>
                  <a:srgbClr val="000000"/>
                </a:solidFill>
                <a:latin typeface="Arial"/>
                <a:ea typeface="Arial"/>
                <a:cs typeface="Arial"/>
                <a:sym typeface="Arial"/>
              </a:rPr>
              <a:t>food preparation time and delivery time</a:t>
            </a:r>
            <a:r>
              <a:rPr lang="en" sz="900">
                <a:solidFill>
                  <a:srgbClr val="000000"/>
                </a:solidFill>
                <a:latin typeface="Arial"/>
                <a:ea typeface="Arial"/>
                <a:cs typeface="Arial"/>
                <a:sym typeface="Arial"/>
              </a:rPr>
              <a:t> on </a:t>
            </a:r>
            <a:r>
              <a:rPr b="1" lang="en" sz="900">
                <a:solidFill>
                  <a:srgbClr val="000000"/>
                </a:solidFill>
                <a:latin typeface="Arial"/>
                <a:ea typeface="Arial"/>
                <a:cs typeface="Arial"/>
                <a:sym typeface="Arial"/>
              </a:rPr>
              <a:t>customer rating</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Order demand </a:t>
            </a:r>
            <a:r>
              <a:rPr b="1" lang="en" sz="900">
                <a:solidFill>
                  <a:srgbClr val="000000"/>
                </a:solidFill>
                <a:latin typeface="Arial"/>
                <a:ea typeface="Arial"/>
                <a:cs typeface="Arial"/>
                <a:sym typeface="Arial"/>
              </a:rPr>
              <a:t>weekday vs weekend</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Correlation between </a:t>
            </a:r>
            <a:r>
              <a:rPr b="1" lang="en" sz="900">
                <a:solidFill>
                  <a:srgbClr val="000000"/>
                </a:solidFill>
                <a:latin typeface="Arial"/>
                <a:ea typeface="Arial"/>
                <a:cs typeface="Arial"/>
                <a:sym typeface="Arial"/>
              </a:rPr>
              <a:t>restaurant popularity and average rating</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Comparison of </a:t>
            </a:r>
            <a:r>
              <a:rPr b="1" lang="en" sz="900">
                <a:solidFill>
                  <a:srgbClr val="000000"/>
                </a:solidFill>
                <a:latin typeface="Arial"/>
                <a:ea typeface="Arial"/>
                <a:cs typeface="Arial"/>
                <a:sym typeface="Arial"/>
              </a:rPr>
              <a:t>different cuisines</a:t>
            </a:r>
            <a:r>
              <a:rPr lang="en" sz="900">
                <a:solidFill>
                  <a:srgbClr val="000000"/>
                </a:solidFill>
                <a:latin typeface="Arial"/>
                <a:ea typeface="Arial"/>
                <a:cs typeface="Arial"/>
                <a:sym typeface="Arial"/>
              </a:rPr>
              <a:t> in terms of cost, preparation time, and ratings.</a:t>
            </a:r>
            <a:endParaRPr sz="1200">
              <a:solidFill>
                <a:srgbClr val="000000"/>
              </a:solidFill>
            </a:endParaRPr>
          </a:p>
        </p:txBody>
      </p:sp>
      <p:sp>
        <p:nvSpPr>
          <p:cNvPr id="156" name="Google Shape;156;g377a51fe5aa_0_5"/>
          <p:cNvSpPr txBox="1"/>
          <p:nvPr>
            <p:ph idx="1" type="body"/>
          </p:nvPr>
        </p:nvSpPr>
        <p:spPr>
          <a:xfrm>
            <a:off x="5204575" y="1272700"/>
            <a:ext cx="3939300" cy="38517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100">
                <a:solidFill>
                  <a:srgbClr val="000000"/>
                </a:solidFill>
                <a:latin typeface="Arial"/>
                <a:ea typeface="Arial"/>
                <a:cs typeface="Arial"/>
                <a:sym typeface="Arial"/>
              </a:rPr>
              <a:t>Step 4: Key Insights Extraction</a:t>
            </a:r>
            <a:endParaRPr b="1" sz="11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 sz="900">
                <a:solidFill>
                  <a:srgbClr val="000000"/>
                </a:solidFill>
                <a:latin typeface="Arial"/>
                <a:ea typeface="Arial"/>
                <a:cs typeface="Arial"/>
                <a:sym typeface="Arial"/>
              </a:rPr>
              <a:t>Identify </a:t>
            </a:r>
            <a:r>
              <a:rPr b="1" lang="en" sz="900">
                <a:solidFill>
                  <a:srgbClr val="000000"/>
                </a:solidFill>
                <a:latin typeface="Arial"/>
                <a:ea typeface="Arial"/>
                <a:cs typeface="Arial"/>
                <a:sym typeface="Arial"/>
              </a:rPr>
              <a:t>top-performing restaurants</a:t>
            </a:r>
            <a:r>
              <a:rPr lang="en" sz="900">
                <a:solidFill>
                  <a:srgbClr val="000000"/>
                </a:solidFill>
                <a:latin typeface="Arial"/>
                <a:ea typeface="Arial"/>
                <a:cs typeface="Arial"/>
                <a:sym typeface="Arial"/>
              </a:rPr>
              <a:t> (high demand + high ratings + low prep/delivery time).</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Find </a:t>
            </a:r>
            <a:r>
              <a:rPr b="1" lang="en" sz="900">
                <a:solidFill>
                  <a:srgbClr val="000000"/>
                </a:solidFill>
                <a:latin typeface="Arial"/>
                <a:ea typeface="Arial"/>
                <a:cs typeface="Arial"/>
                <a:sym typeface="Arial"/>
              </a:rPr>
              <a:t>bottlenecks</a:t>
            </a:r>
            <a:r>
              <a:rPr lang="en" sz="900">
                <a:solidFill>
                  <a:srgbClr val="000000"/>
                </a:solidFill>
                <a:latin typeface="Arial"/>
                <a:ea typeface="Arial"/>
                <a:cs typeface="Arial"/>
                <a:sym typeface="Arial"/>
              </a:rPr>
              <a:t> (restaurants with high preparation/delivery times leading to lower ratings).</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Determine </a:t>
            </a:r>
            <a:r>
              <a:rPr b="1" lang="en" sz="900">
                <a:solidFill>
                  <a:srgbClr val="000000"/>
                </a:solidFill>
                <a:latin typeface="Arial"/>
                <a:ea typeface="Arial"/>
                <a:cs typeface="Arial"/>
                <a:sym typeface="Arial"/>
              </a:rPr>
              <a:t>cuisine preferences</a:t>
            </a:r>
            <a:r>
              <a:rPr lang="en" sz="900">
                <a:solidFill>
                  <a:srgbClr val="000000"/>
                </a:solidFill>
                <a:latin typeface="Arial"/>
                <a:ea typeface="Arial"/>
                <a:cs typeface="Arial"/>
                <a:sym typeface="Arial"/>
              </a:rPr>
              <a:t> across customers.</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Recommend strategies for </a:t>
            </a:r>
            <a:r>
              <a:rPr b="1" lang="en" sz="900">
                <a:solidFill>
                  <a:srgbClr val="000000"/>
                </a:solidFill>
                <a:latin typeface="Arial"/>
                <a:ea typeface="Arial"/>
                <a:cs typeface="Arial"/>
                <a:sym typeface="Arial"/>
              </a:rPr>
              <a:t>better delivery resource allocation</a:t>
            </a:r>
            <a:r>
              <a:rPr lang="en" sz="900">
                <a:solidFill>
                  <a:srgbClr val="000000"/>
                </a:solidFill>
                <a:latin typeface="Arial"/>
                <a:ea typeface="Arial"/>
                <a:cs typeface="Arial"/>
                <a:sym typeface="Arial"/>
              </a:rPr>
              <a:t> (weekend spikes, peak-hour orders).</a:t>
            </a:r>
            <a:endParaRPr sz="900">
              <a:solidFill>
                <a:srgbClr val="000000"/>
              </a:solidFill>
              <a:latin typeface="Arial"/>
              <a:ea typeface="Arial"/>
              <a:cs typeface="Arial"/>
              <a:sym typeface="Arial"/>
            </a:endParaRPr>
          </a:p>
          <a:p>
            <a:pPr indent="0" lvl="0" marL="0" rtl="0" algn="l">
              <a:spcBef>
                <a:spcPts val="1400"/>
              </a:spcBef>
              <a:spcAft>
                <a:spcPts val="0"/>
              </a:spcAft>
              <a:buNone/>
            </a:pPr>
            <a:r>
              <a:rPr b="1" lang="en" sz="1100">
                <a:solidFill>
                  <a:srgbClr val="000000"/>
                </a:solidFill>
                <a:latin typeface="Arial"/>
                <a:ea typeface="Arial"/>
                <a:cs typeface="Arial"/>
                <a:sym typeface="Arial"/>
              </a:rPr>
              <a:t>Step 5: Business Recommendations</a:t>
            </a:r>
            <a:endParaRPr b="1" sz="11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 sz="900">
                <a:solidFill>
                  <a:srgbClr val="000000"/>
                </a:solidFill>
                <a:latin typeface="Arial"/>
                <a:ea typeface="Arial"/>
                <a:cs typeface="Arial"/>
                <a:sym typeface="Arial"/>
              </a:rPr>
              <a:t>Promote restaurants with </a:t>
            </a:r>
            <a:r>
              <a:rPr b="1" lang="en" sz="900">
                <a:solidFill>
                  <a:srgbClr val="000000"/>
                </a:solidFill>
                <a:latin typeface="Arial"/>
                <a:ea typeface="Arial"/>
                <a:cs typeface="Arial"/>
                <a:sym typeface="Arial"/>
              </a:rPr>
              <a:t>high customer satisfaction</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Support restaurants with </a:t>
            </a:r>
            <a:r>
              <a:rPr b="1" lang="en" sz="900">
                <a:solidFill>
                  <a:srgbClr val="000000"/>
                </a:solidFill>
                <a:latin typeface="Arial"/>
                <a:ea typeface="Arial"/>
                <a:cs typeface="Arial"/>
                <a:sym typeface="Arial"/>
              </a:rPr>
              <a:t>high prep times</a:t>
            </a:r>
            <a:r>
              <a:rPr lang="en" sz="900">
                <a:solidFill>
                  <a:srgbClr val="000000"/>
                </a:solidFill>
                <a:latin typeface="Arial"/>
                <a:ea typeface="Arial"/>
                <a:cs typeface="Arial"/>
                <a:sym typeface="Arial"/>
              </a:rPr>
              <a:t> by suggesting process improvements</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Optimize delivery logistics to </a:t>
            </a:r>
            <a:r>
              <a:rPr b="1" lang="en" sz="900">
                <a:solidFill>
                  <a:srgbClr val="000000"/>
                </a:solidFill>
                <a:latin typeface="Arial"/>
                <a:ea typeface="Arial"/>
                <a:cs typeface="Arial"/>
                <a:sym typeface="Arial"/>
              </a:rPr>
              <a:t>reduce delivery times</a:t>
            </a:r>
            <a:r>
              <a:rPr lang="en"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 sz="900">
                <a:solidFill>
                  <a:srgbClr val="000000"/>
                </a:solidFill>
                <a:latin typeface="Arial"/>
                <a:ea typeface="Arial"/>
                <a:cs typeface="Arial"/>
                <a:sym typeface="Arial"/>
              </a:rPr>
              <a:t>Launch </a:t>
            </a:r>
            <a:r>
              <a:rPr b="1" lang="en" sz="900">
                <a:solidFill>
                  <a:srgbClr val="000000"/>
                </a:solidFill>
                <a:latin typeface="Arial"/>
                <a:ea typeface="Arial"/>
                <a:cs typeface="Arial"/>
                <a:sym typeface="Arial"/>
              </a:rPr>
              <a:t>marketing campaigns</a:t>
            </a:r>
            <a:r>
              <a:rPr lang="en" sz="900">
                <a:solidFill>
                  <a:srgbClr val="000000"/>
                </a:solidFill>
                <a:latin typeface="Arial"/>
                <a:ea typeface="Arial"/>
                <a:cs typeface="Arial"/>
                <a:sym typeface="Arial"/>
              </a:rPr>
              <a:t> based on cuisine and order patterns.</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1200"/>
              </a:spcAft>
              <a:buNone/>
            </a:pPr>
            <a:r>
              <a:t/>
            </a:r>
            <a:endParaRPr sz="9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txBox="1"/>
          <p:nvPr>
            <p:ph type="title"/>
          </p:nvPr>
        </p:nvSpPr>
        <p:spPr>
          <a:xfrm>
            <a:off x="202550" y="6615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Data Overview - FoodHub Dataset</a:t>
            </a:r>
            <a:endParaRPr>
              <a:solidFill>
                <a:srgbClr val="000000"/>
              </a:solidFill>
            </a:endParaRPr>
          </a:p>
        </p:txBody>
      </p:sp>
      <p:sp>
        <p:nvSpPr>
          <p:cNvPr id="162" name="Google Shape;162;p5"/>
          <p:cNvSpPr txBox="1"/>
          <p:nvPr>
            <p:ph idx="1" type="body"/>
          </p:nvPr>
        </p:nvSpPr>
        <p:spPr>
          <a:xfrm>
            <a:off x="202550" y="861975"/>
            <a:ext cx="5448300" cy="37068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Dataset Summary</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Total Records:</a:t>
            </a:r>
            <a:r>
              <a:rPr lang="en" sz="1100">
                <a:solidFill>
                  <a:srgbClr val="000000"/>
                </a:solidFill>
                <a:latin typeface="Arial"/>
                <a:ea typeface="Arial"/>
                <a:cs typeface="Arial"/>
                <a:sym typeface="Arial"/>
              </a:rPr>
              <a:t> </a:t>
            </a:r>
            <a:r>
              <a:rPr i="1" lang="en" sz="1100">
                <a:solidFill>
                  <a:srgbClr val="000000"/>
                </a:solidFill>
                <a:latin typeface="Arial"/>
                <a:ea typeface="Arial"/>
                <a:cs typeface="Arial"/>
                <a:sym typeface="Arial"/>
              </a:rPr>
              <a:t>1898</a:t>
            </a:r>
            <a:endParaRPr i="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Total Datafields:</a:t>
            </a:r>
            <a:r>
              <a:rPr lang="en" sz="1100">
                <a:solidFill>
                  <a:srgbClr val="000000"/>
                </a:solidFill>
                <a:latin typeface="Arial"/>
                <a:ea typeface="Arial"/>
                <a:cs typeface="Arial"/>
                <a:sym typeface="Arial"/>
              </a:rPr>
              <a:t> 9</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Fields </a:t>
            </a:r>
            <a:r>
              <a:rPr b="1" lang="en" sz="1300">
                <a:solidFill>
                  <a:srgbClr val="000000"/>
                </a:solidFill>
                <a:latin typeface="Arial"/>
                <a:ea typeface="Arial"/>
                <a:cs typeface="Arial"/>
                <a:sym typeface="Arial"/>
              </a:rPr>
              <a:t>Description</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order_id</a:t>
            </a:r>
            <a:r>
              <a:rPr lang="en" sz="1100">
                <a:solidFill>
                  <a:srgbClr val="000000"/>
                </a:solidFill>
                <a:latin typeface="Arial"/>
                <a:ea typeface="Arial"/>
                <a:cs typeface="Arial"/>
                <a:sym typeface="Arial"/>
              </a:rPr>
              <a:t> → Unique identifier for each order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customer_id</a:t>
            </a:r>
            <a:r>
              <a:rPr lang="en" sz="1100">
                <a:solidFill>
                  <a:srgbClr val="000000"/>
                </a:solidFill>
                <a:latin typeface="Arial"/>
                <a:ea typeface="Arial"/>
                <a:cs typeface="Arial"/>
                <a:sym typeface="Arial"/>
              </a:rPr>
              <a:t> → Unique identifier for each customer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restaurant_name</a:t>
            </a:r>
            <a:r>
              <a:rPr lang="en" sz="1100">
                <a:solidFill>
                  <a:srgbClr val="000000"/>
                </a:solidFill>
                <a:latin typeface="Arial"/>
                <a:ea typeface="Arial"/>
                <a:cs typeface="Arial"/>
                <a:sym typeface="Arial"/>
              </a:rPr>
              <a:t> → Name of the restaurant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cuisine_type</a:t>
            </a:r>
            <a:r>
              <a:rPr lang="en" sz="1100">
                <a:solidFill>
                  <a:srgbClr val="000000"/>
                </a:solidFill>
                <a:latin typeface="Arial"/>
                <a:ea typeface="Arial"/>
                <a:cs typeface="Arial"/>
                <a:sym typeface="Arial"/>
              </a:rPr>
              <a:t> → Cuisine ordered (e.g., Italian, Chinese, Indian)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cost_of_the_order</a:t>
            </a:r>
            <a:r>
              <a:rPr lang="en" sz="1100">
                <a:solidFill>
                  <a:srgbClr val="000000"/>
                </a:solidFill>
                <a:latin typeface="Arial"/>
                <a:ea typeface="Arial"/>
                <a:cs typeface="Arial"/>
                <a:sym typeface="Arial"/>
              </a:rPr>
              <a:t> → Cost (in $) of the order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day_of_the_week</a:t>
            </a:r>
            <a:r>
              <a:rPr lang="en" sz="1100">
                <a:solidFill>
                  <a:srgbClr val="000000"/>
                </a:solidFill>
                <a:latin typeface="Arial"/>
                <a:ea typeface="Arial"/>
                <a:cs typeface="Arial"/>
                <a:sym typeface="Arial"/>
              </a:rPr>
              <a:t> → Weekday or Weekend order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rating</a:t>
            </a:r>
            <a:r>
              <a:rPr lang="en" sz="1100">
                <a:solidFill>
                  <a:srgbClr val="000000"/>
                </a:solidFill>
                <a:latin typeface="Arial"/>
                <a:ea typeface="Arial"/>
                <a:cs typeface="Arial"/>
                <a:sym typeface="Arial"/>
              </a:rPr>
              <a:t> → Rating given by the customer (1–5, may have missing values)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food_preparation_time</a:t>
            </a:r>
            <a:r>
              <a:rPr lang="en" sz="1100">
                <a:solidFill>
                  <a:srgbClr val="000000"/>
                </a:solidFill>
                <a:latin typeface="Arial"/>
                <a:ea typeface="Arial"/>
                <a:cs typeface="Arial"/>
                <a:sym typeface="Arial"/>
              </a:rPr>
              <a:t> → Time (minutes) taken by restaurant to prepare food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delivery_time</a:t>
            </a:r>
            <a:r>
              <a:rPr lang="en" sz="1100">
                <a:solidFill>
                  <a:srgbClr val="000000"/>
                </a:solidFill>
                <a:latin typeface="Arial"/>
                <a:ea typeface="Arial"/>
                <a:cs typeface="Arial"/>
                <a:sym typeface="Arial"/>
              </a:rPr>
              <a:t> → Time (minutes) taken by delivery person to deliver order</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
        <p:nvSpPr>
          <p:cNvPr id="163" name="Google Shape;163;p5"/>
          <p:cNvSpPr txBox="1"/>
          <p:nvPr>
            <p:ph idx="1" type="body"/>
          </p:nvPr>
        </p:nvSpPr>
        <p:spPr>
          <a:xfrm>
            <a:off x="5400250" y="861975"/>
            <a:ext cx="3656100" cy="37068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Key Points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Covers </a:t>
            </a:r>
            <a:r>
              <a:rPr b="1" lang="en" sz="1100">
                <a:solidFill>
                  <a:srgbClr val="000000"/>
                </a:solidFill>
                <a:latin typeface="Arial"/>
                <a:ea typeface="Arial"/>
                <a:cs typeface="Arial"/>
                <a:sym typeface="Arial"/>
              </a:rPr>
              <a:t>order lifecycle</a:t>
            </a:r>
            <a:r>
              <a:rPr lang="en" sz="1100">
                <a:solidFill>
                  <a:srgbClr val="000000"/>
                </a:solidFill>
                <a:latin typeface="Arial"/>
                <a:ea typeface="Arial"/>
                <a:cs typeface="Arial"/>
                <a:sym typeface="Arial"/>
              </a:rPr>
              <a:t> from placement → preparation → delivery → customer feedback</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Mix of </a:t>
            </a:r>
            <a:r>
              <a:rPr b="1" lang="en" sz="1100">
                <a:solidFill>
                  <a:srgbClr val="000000"/>
                </a:solidFill>
                <a:latin typeface="Arial"/>
                <a:ea typeface="Arial"/>
                <a:cs typeface="Arial"/>
                <a:sym typeface="Arial"/>
              </a:rPr>
              <a:t>categorical, numerical, and ID variables</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Useful for analyzing:</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a:t>
            </a:r>
            <a:r>
              <a:rPr b="1" lang="en" sz="1100">
                <a:solidFill>
                  <a:srgbClr val="000000"/>
                </a:solidFill>
                <a:latin typeface="Arial"/>
                <a:ea typeface="Arial"/>
                <a:cs typeface="Arial"/>
                <a:sym typeface="Arial"/>
              </a:rPr>
              <a:t>Customer demand patterns</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a:t>
            </a:r>
            <a:r>
              <a:rPr b="1" lang="en" sz="1100">
                <a:solidFill>
                  <a:srgbClr val="000000"/>
                </a:solidFill>
                <a:latin typeface="Arial"/>
                <a:ea typeface="Arial"/>
                <a:cs typeface="Arial"/>
                <a:sym typeface="Arial"/>
              </a:rPr>
              <a:t>Restaurant efficiency</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a:t>
            </a:r>
            <a:r>
              <a:rPr b="1" lang="en" sz="1100">
                <a:solidFill>
                  <a:srgbClr val="000000"/>
                </a:solidFill>
                <a:latin typeface="Arial"/>
                <a:ea typeface="Arial"/>
                <a:cs typeface="Arial"/>
                <a:sym typeface="Arial"/>
              </a:rPr>
              <a:t>Delivery performance</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a:t>
            </a:r>
            <a:r>
              <a:rPr b="1" lang="en" sz="1100">
                <a:solidFill>
                  <a:srgbClr val="000000"/>
                </a:solidFill>
                <a:latin typeface="Arial"/>
                <a:ea typeface="Arial"/>
                <a:cs typeface="Arial"/>
                <a:sym typeface="Arial"/>
              </a:rPr>
              <a:t>Customer satisfaction</a:t>
            </a:r>
            <a:endParaRPr b="1"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77a51fe5aa_0_21"/>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Data Questions 1 - 2</a:t>
            </a:r>
            <a:endParaRPr>
              <a:solidFill>
                <a:srgbClr val="000000"/>
              </a:solidFill>
            </a:endParaRPr>
          </a:p>
        </p:txBody>
      </p:sp>
      <p:pic>
        <p:nvPicPr>
          <p:cNvPr id="169" name="Google Shape;169;g377a51fe5aa_0_21"/>
          <p:cNvPicPr preferRelativeResize="0"/>
          <p:nvPr/>
        </p:nvPicPr>
        <p:blipFill>
          <a:blip r:embed="rId3">
            <a:alphaModFix/>
          </a:blip>
          <a:stretch>
            <a:fillRect/>
          </a:stretch>
        </p:blipFill>
        <p:spPr>
          <a:xfrm>
            <a:off x="86400" y="798250"/>
            <a:ext cx="8971201" cy="1191050"/>
          </a:xfrm>
          <a:prstGeom prst="rect">
            <a:avLst/>
          </a:prstGeom>
          <a:noFill/>
          <a:ln>
            <a:noFill/>
          </a:ln>
        </p:spPr>
      </p:pic>
      <p:pic>
        <p:nvPicPr>
          <p:cNvPr id="170" name="Google Shape;170;g377a51fe5aa_0_21"/>
          <p:cNvPicPr preferRelativeResize="0"/>
          <p:nvPr/>
        </p:nvPicPr>
        <p:blipFill>
          <a:blip r:embed="rId4">
            <a:alphaModFix/>
          </a:blip>
          <a:stretch>
            <a:fillRect/>
          </a:stretch>
        </p:blipFill>
        <p:spPr>
          <a:xfrm>
            <a:off x="86400" y="1989300"/>
            <a:ext cx="8971199" cy="2996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77a51fe5aa_0_29"/>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lang="en">
                <a:solidFill>
                  <a:srgbClr val="000000"/>
                </a:solidFill>
              </a:rPr>
              <a:t>Data Questions 3</a:t>
            </a:r>
            <a:endParaRPr>
              <a:solidFill>
                <a:srgbClr val="000000"/>
              </a:solidFill>
            </a:endParaRPr>
          </a:p>
        </p:txBody>
      </p:sp>
      <p:pic>
        <p:nvPicPr>
          <p:cNvPr id="176" name="Google Shape;176;g377a51fe5aa_0_29"/>
          <p:cNvPicPr preferRelativeResize="0"/>
          <p:nvPr/>
        </p:nvPicPr>
        <p:blipFill rotWithShape="1">
          <a:blip r:embed="rId3">
            <a:alphaModFix/>
          </a:blip>
          <a:srcRect b="0" l="0" r="16576" t="0"/>
          <a:stretch/>
        </p:blipFill>
        <p:spPr>
          <a:xfrm>
            <a:off x="152400" y="725104"/>
            <a:ext cx="7359318" cy="42659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77a51fe5aa_0_36"/>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lang="en">
                <a:solidFill>
                  <a:srgbClr val="000000"/>
                </a:solidFill>
              </a:rPr>
              <a:t>Data Questions 4</a:t>
            </a:r>
            <a:endParaRPr>
              <a:solidFill>
                <a:srgbClr val="000000"/>
              </a:solidFill>
            </a:endParaRPr>
          </a:p>
        </p:txBody>
      </p:sp>
      <p:pic>
        <p:nvPicPr>
          <p:cNvPr id="182" name="Google Shape;182;g377a51fe5aa_0_36"/>
          <p:cNvPicPr preferRelativeResize="0"/>
          <p:nvPr/>
        </p:nvPicPr>
        <p:blipFill>
          <a:blip r:embed="rId3">
            <a:alphaModFix/>
          </a:blip>
          <a:stretch>
            <a:fillRect/>
          </a:stretch>
        </p:blipFill>
        <p:spPr>
          <a:xfrm>
            <a:off x="343475" y="468550"/>
            <a:ext cx="7585501" cy="4674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77a51fe5aa_0_42"/>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lang="en">
                <a:solidFill>
                  <a:srgbClr val="000000"/>
                </a:solidFill>
              </a:rPr>
              <a:t>Data Questions 5</a:t>
            </a:r>
            <a:endParaRPr>
              <a:solidFill>
                <a:srgbClr val="000000"/>
              </a:solidFill>
            </a:endParaRPr>
          </a:p>
        </p:txBody>
      </p:sp>
      <p:pic>
        <p:nvPicPr>
          <p:cNvPr id="188" name="Google Shape;188;g377a51fe5aa_0_42"/>
          <p:cNvPicPr preferRelativeResize="0"/>
          <p:nvPr/>
        </p:nvPicPr>
        <p:blipFill>
          <a:blip r:embed="rId3">
            <a:alphaModFix/>
          </a:blip>
          <a:stretch>
            <a:fillRect/>
          </a:stretch>
        </p:blipFill>
        <p:spPr>
          <a:xfrm>
            <a:off x="202550" y="490229"/>
            <a:ext cx="7115857" cy="42659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94" name="Google Shape;194;p6"/>
          <p:cNvSpPr txBox="1"/>
          <p:nvPr>
            <p:ph idx="1" type="body"/>
          </p:nvPr>
        </p:nvSpPr>
        <p:spPr>
          <a:xfrm>
            <a:off x="202550" y="861975"/>
            <a:ext cx="8629800" cy="32412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latin typeface="Arial"/>
                <a:ea typeface="Arial"/>
                <a:cs typeface="Arial"/>
                <a:sym typeface="Arial"/>
              </a:rPr>
              <a:t>Summary</a:t>
            </a:r>
            <a:endParaRPr b="1"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Categorical columns </a:t>
            </a:r>
            <a:endParaRPr b="1"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IDs, restaurant_name, cuisine_type, day_of_the_week</a:t>
            </a:r>
            <a:endParaRPr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Use </a:t>
            </a:r>
            <a:r>
              <a:rPr b="1" lang="en" sz="1400">
                <a:solidFill>
                  <a:srgbClr val="000000"/>
                </a:solidFill>
                <a:latin typeface="Arial"/>
                <a:ea typeface="Arial"/>
                <a:cs typeface="Arial"/>
                <a:sym typeface="Arial"/>
              </a:rPr>
              <a:t>countplots/frequency tables</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Numerical columns </a:t>
            </a:r>
            <a:endParaRPr b="1"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cost_of_the_order, rating, food_preparation_time, delivery_time)</a:t>
            </a:r>
            <a:endParaRPr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Use </a:t>
            </a:r>
            <a:r>
              <a:rPr b="1" lang="en" sz="1400">
                <a:solidFill>
                  <a:srgbClr val="000000"/>
                </a:solidFill>
                <a:latin typeface="Arial"/>
                <a:ea typeface="Arial"/>
                <a:cs typeface="Arial"/>
                <a:sym typeface="Arial"/>
              </a:rPr>
              <a:t>histograms, boxplots, and descriptive statistics</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ID variables:</a:t>
            </a:r>
            <a:r>
              <a:rPr lang="en" sz="1400">
                <a:solidFill>
                  <a:srgbClr val="000000"/>
                </a:solidFill>
                <a:latin typeface="Arial"/>
                <a:ea typeface="Arial"/>
                <a:cs typeface="Arial"/>
                <a:sym typeface="Arial"/>
              </a:rPr>
              <a:t> Not meaningful for univariate analysis, except customer_id for frequency of repeat orders.</a:t>
            </a:r>
            <a:endParaRPr sz="17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77a51fe5aa_0_53"/>
          <p:cNvSpPr txBox="1"/>
          <p:nvPr>
            <p:ph type="title"/>
          </p:nvPr>
        </p:nvSpPr>
        <p:spPr>
          <a:xfrm>
            <a:off x="226025"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column wise)</a:t>
            </a:r>
            <a:endParaRPr>
              <a:solidFill>
                <a:srgbClr val="000000"/>
              </a:solidFill>
            </a:endParaRPr>
          </a:p>
        </p:txBody>
      </p:sp>
      <p:sp>
        <p:nvSpPr>
          <p:cNvPr id="200" name="Google Shape;200;g377a51fe5aa_0_53"/>
          <p:cNvSpPr txBox="1"/>
          <p:nvPr>
            <p:ph idx="1" type="body"/>
          </p:nvPr>
        </p:nvSpPr>
        <p:spPr>
          <a:xfrm>
            <a:off x="155575" y="451000"/>
            <a:ext cx="4579200" cy="45564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1. Order_id </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Categorical (ID variable, unique)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r>
              <a:rPr lang="en" sz="1100">
                <a:solidFill>
                  <a:srgbClr val="000000"/>
                </a:solidFill>
                <a:latin typeface="Arial"/>
                <a:ea typeface="Arial"/>
                <a:cs typeface="Arial"/>
                <a:sym typeface="Arial"/>
              </a:rPr>
              <a:t> Not meaningful for univariate statistics since it’s just an identifier.</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2. </a:t>
            </a:r>
            <a:r>
              <a:rPr b="1" lang="en" sz="1300">
                <a:solidFill>
                  <a:srgbClr val="000000"/>
                </a:solidFill>
                <a:latin typeface="Arial"/>
                <a:ea typeface="Arial"/>
                <a:cs typeface="Arial"/>
                <a:sym typeface="Arial"/>
              </a:rPr>
              <a:t>c</a:t>
            </a:r>
            <a:r>
              <a:rPr b="1" lang="en" sz="1300">
                <a:solidFill>
                  <a:srgbClr val="000000"/>
                </a:solidFill>
                <a:latin typeface="Arial"/>
                <a:ea typeface="Arial"/>
                <a:cs typeface="Arial"/>
                <a:sym typeface="Arial"/>
              </a:rPr>
              <a:t>ustomer_id</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Categorical (ID variable, can repeat).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Countplot can show how many orders each customer placed.</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Most customers likely have few orders, while some may be frequent users.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3. restaurant_name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Categorical.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Frequency distribution of orders per restaurant.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Identify top restaurants with the highest deman</a:t>
            </a:r>
            <a:r>
              <a:rPr lang="en" sz="1100">
                <a:solidFill>
                  <a:srgbClr val="000000"/>
                </a:solidFill>
                <a:latin typeface="Arial"/>
                <a:ea typeface="Arial"/>
                <a:cs typeface="Arial"/>
                <a:sym typeface="Arial"/>
              </a:rPr>
              <a:t>d</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Long-tail distribution likely (few very popular restaurants, many with fewer orders).</a:t>
            </a:r>
            <a:endParaRPr sz="1400">
              <a:solidFill>
                <a:srgbClr val="000000"/>
              </a:solidFill>
            </a:endParaRPr>
          </a:p>
        </p:txBody>
      </p:sp>
      <p:sp>
        <p:nvSpPr>
          <p:cNvPr id="201" name="Google Shape;201;g377a51fe5aa_0_53"/>
          <p:cNvSpPr txBox="1"/>
          <p:nvPr>
            <p:ph idx="1" type="body"/>
          </p:nvPr>
        </p:nvSpPr>
        <p:spPr>
          <a:xfrm>
            <a:off x="4734775" y="451000"/>
            <a:ext cx="4344900" cy="44694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4. cuisine_type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Categorical.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Countplot / bar chart to show most popular cuisines.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Helps identify customer preferences (e.g., Indian vs Italian vs Chinese).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5. cost_of_the_order</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Numerical (continuous).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Histogram / boxplot to see spending pattern.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Summary statistics (min, mean, median, max).</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Check for outliers (very high-cost orders).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6. day_of_the_week</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Categorical (Weekday / Weekend).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Countplot to compare order frequency on weekdays vs weekends.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Insight: Higher demand expected on weekends.</a:t>
            </a:r>
            <a:endParaRPr sz="14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77a51fe5aa_0_62"/>
          <p:cNvSpPr txBox="1"/>
          <p:nvPr>
            <p:ph type="title"/>
          </p:nvPr>
        </p:nvSpPr>
        <p:spPr>
          <a:xfrm>
            <a:off x="2025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column wise)</a:t>
            </a:r>
            <a:endParaRPr>
              <a:solidFill>
                <a:srgbClr val="000000"/>
              </a:solidFill>
            </a:endParaRPr>
          </a:p>
        </p:txBody>
      </p:sp>
      <p:sp>
        <p:nvSpPr>
          <p:cNvPr id="207" name="Google Shape;207;g377a51fe5aa_0_62"/>
          <p:cNvSpPr txBox="1"/>
          <p:nvPr>
            <p:ph idx="1" type="body"/>
          </p:nvPr>
        </p:nvSpPr>
        <p:spPr>
          <a:xfrm>
            <a:off x="260750" y="417900"/>
            <a:ext cx="8520600" cy="45777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7. rating</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Numerical (discrete, 1–5).</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Histogram to check rating distribution.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Summary stats (average rating).</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Check how many customers didn’t give a rating (missing values).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8. food_preparation_time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Numerical (continuous).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Histogram / boxplot to check distribution.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Summary stats (min, mean, max).</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Outliers: Some restaurants may take unusually long.</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9. delivery_time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Type:</a:t>
            </a:r>
            <a:r>
              <a:rPr lang="en" sz="1100">
                <a:solidFill>
                  <a:srgbClr val="000000"/>
                </a:solidFill>
                <a:latin typeface="Arial"/>
                <a:ea typeface="Arial"/>
                <a:cs typeface="Arial"/>
                <a:sym typeface="Arial"/>
              </a:rPr>
              <a:t> Numerical (continuous).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Histogram to understand delivery speed distribution.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Summary stats (min, mean, max).</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Outliers may indicate traffic/weather issues.</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77a51fe5aa_0_48"/>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6 </a:t>
            </a:r>
            <a:endParaRPr>
              <a:solidFill>
                <a:srgbClr val="000000"/>
              </a:solidFill>
            </a:endParaRPr>
          </a:p>
        </p:txBody>
      </p:sp>
      <p:pic>
        <p:nvPicPr>
          <p:cNvPr id="213" name="Google Shape;213;g377a51fe5aa_0_48"/>
          <p:cNvPicPr preferRelativeResize="0"/>
          <p:nvPr/>
        </p:nvPicPr>
        <p:blipFill>
          <a:blip r:embed="rId3">
            <a:alphaModFix/>
          </a:blip>
          <a:stretch>
            <a:fillRect/>
          </a:stretch>
        </p:blipFill>
        <p:spPr>
          <a:xfrm>
            <a:off x="152400" y="485950"/>
            <a:ext cx="9504276" cy="4180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77a51fe5aa_0_69"/>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6</a:t>
            </a:r>
            <a:endParaRPr>
              <a:solidFill>
                <a:srgbClr val="000000"/>
              </a:solidFill>
            </a:endParaRPr>
          </a:p>
        </p:txBody>
      </p:sp>
      <p:pic>
        <p:nvPicPr>
          <p:cNvPr id="219" name="Google Shape;219;g377a51fe5aa_0_69"/>
          <p:cNvPicPr preferRelativeResize="0"/>
          <p:nvPr/>
        </p:nvPicPr>
        <p:blipFill>
          <a:blip r:embed="rId3">
            <a:alphaModFix/>
          </a:blip>
          <a:stretch>
            <a:fillRect/>
          </a:stretch>
        </p:blipFill>
        <p:spPr>
          <a:xfrm>
            <a:off x="152400" y="725629"/>
            <a:ext cx="8839200" cy="369224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77a51fe5aa_0_75"/>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6</a:t>
            </a:r>
            <a:endParaRPr>
              <a:solidFill>
                <a:srgbClr val="000000"/>
              </a:solidFill>
            </a:endParaRPr>
          </a:p>
        </p:txBody>
      </p:sp>
      <p:pic>
        <p:nvPicPr>
          <p:cNvPr id="225" name="Google Shape;225;g377a51fe5aa_0_75"/>
          <p:cNvPicPr preferRelativeResize="0"/>
          <p:nvPr/>
        </p:nvPicPr>
        <p:blipFill>
          <a:blip r:embed="rId3">
            <a:alphaModFix/>
          </a:blip>
          <a:stretch>
            <a:fillRect/>
          </a:stretch>
        </p:blipFill>
        <p:spPr>
          <a:xfrm>
            <a:off x="152400" y="462675"/>
            <a:ext cx="3689950" cy="4528425"/>
          </a:xfrm>
          <a:prstGeom prst="rect">
            <a:avLst/>
          </a:prstGeom>
          <a:noFill/>
          <a:ln>
            <a:noFill/>
          </a:ln>
        </p:spPr>
      </p:pic>
      <p:pic>
        <p:nvPicPr>
          <p:cNvPr id="226" name="Google Shape;226;g377a51fe5aa_0_75"/>
          <p:cNvPicPr preferRelativeResize="0"/>
          <p:nvPr/>
        </p:nvPicPr>
        <p:blipFill rotWithShape="1">
          <a:blip r:embed="rId4">
            <a:alphaModFix/>
          </a:blip>
          <a:srcRect b="0" l="0" r="-16360" t="0"/>
          <a:stretch/>
        </p:blipFill>
        <p:spPr>
          <a:xfrm>
            <a:off x="4026550" y="462675"/>
            <a:ext cx="4184250" cy="45284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77a51fe5aa_0_82"/>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6 </a:t>
            </a:r>
            <a:endParaRPr>
              <a:solidFill>
                <a:srgbClr val="000000"/>
              </a:solidFill>
            </a:endParaRPr>
          </a:p>
        </p:txBody>
      </p:sp>
      <p:pic>
        <p:nvPicPr>
          <p:cNvPr id="232" name="Google Shape;232;g377a51fe5aa_0_82"/>
          <p:cNvPicPr preferRelativeResize="0"/>
          <p:nvPr/>
        </p:nvPicPr>
        <p:blipFill>
          <a:blip r:embed="rId3">
            <a:alphaModFix/>
          </a:blip>
          <a:stretch>
            <a:fillRect/>
          </a:stretch>
        </p:blipFill>
        <p:spPr>
          <a:xfrm>
            <a:off x="152400" y="725104"/>
            <a:ext cx="3937843" cy="4265996"/>
          </a:xfrm>
          <a:prstGeom prst="rect">
            <a:avLst/>
          </a:prstGeom>
          <a:noFill/>
          <a:ln>
            <a:noFill/>
          </a:ln>
        </p:spPr>
      </p:pic>
      <p:pic>
        <p:nvPicPr>
          <p:cNvPr id="233" name="Google Shape;233;g377a51fe5aa_0_82"/>
          <p:cNvPicPr preferRelativeResize="0"/>
          <p:nvPr/>
        </p:nvPicPr>
        <p:blipFill>
          <a:blip r:embed="rId4">
            <a:alphaModFix/>
          </a:blip>
          <a:stretch>
            <a:fillRect/>
          </a:stretch>
        </p:blipFill>
        <p:spPr>
          <a:xfrm>
            <a:off x="4242643" y="725104"/>
            <a:ext cx="4367891" cy="42659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77a51fe5aa_0_90"/>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6 </a:t>
            </a:r>
            <a:endParaRPr>
              <a:solidFill>
                <a:srgbClr val="000000"/>
              </a:solidFill>
            </a:endParaRPr>
          </a:p>
        </p:txBody>
      </p:sp>
      <p:pic>
        <p:nvPicPr>
          <p:cNvPr id="239" name="Google Shape;239;g377a51fe5aa_0_90"/>
          <p:cNvPicPr preferRelativeResize="0"/>
          <p:nvPr/>
        </p:nvPicPr>
        <p:blipFill>
          <a:blip r:embed="rId3">
            <a:alphaModFix/>
          </a:blip>
          <a:stretch>
            <a:fillRect/>
          </a:stretch>
        </p:blipFill>
        <p:spPr>
          <a:xfrm>
            <a:off x="152400" y="725104"/>
            <a:ext cx="3937843" cy="4265996"/>
          </a:xfrm>
          <a:prstGeom prst="rect">
            <a:avLst/>
          </a:prstGeom>
          <a:noFill/>
          <a:ln>
            <a:noFill/>
          </a:ln>
        </p:spPr>
      </p:pic>
      <p:pic>
        <p:nvPicPr>
          <p:cNvPr id="240" name="Google Shape;240;g377a51fe5aa_0_90"/>
          <p:cNvPicPr preferRelativeResize="0"/>
          <p:nvPr/>
        </p:nvPicPr>
        <p:blipFill>
          <a:blip r:embed="rId4">
            <a:alphaModFix/>
          </a:blip>
          <a:stretch>
            <a:fillRect/>
          </a:stretch>
        </p:blipFill>
        <p:spPr>
          <a:xfrm>
            <a:off x="4242643" y="725104"/>
            <a:ext cx="4367891" cy="42659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77a51fe5aa_0_96"/>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7 -8</a:t>
            </a:r>
            <a:endParaRPr>
              <a:solidFill>
                <a:srgbClr val="000000"/>
              </a:solidFill>
            </a:endParaRPr>
          </a:p>
        </p:txBody>
      </p:sp>
      <p:pic>
        <p:nvPicPr>
          <p:cNvPr id="246" name="Google Shape;246;g377a51fe5aa_0_96"/>
          <p:cNvPicPr preferRelativeResize="0"/>
          <p:nvPr/>
        </p:nvPicPr>
        <p:blipFill>
          <a:blip r:embed="rId3">
            <a:alphaModFix/>
          </a:blip>
          <a:stretch>
            <a:fillRect/>
          </a:stretch>
        </p:blipFill>
        <p:spPr>
          <a:xfrm>
            <a:off x="152400" y="725100"/>
            <a:ext cx="3877851" cy="4094300"/>
          </a:xfrm>
          <a:prstGeom prst="rect">
            <a:avLst/>
          </a:prstGeom>
          <a:noFill/>
          <a:ln>
            <a:noFill/>
          </a:ln>
        </p:spPr>
      </p:pic>
      <p:pic>
        <p:nvPicPr>
          <p:cNvPr id="247" name="Google Shape;247;g377a51fe5aa_0_96"/>
          <p:cNvPicPr preferRelativeResize="0"/>
          <p:nvPr/>
        </p:nvPicPr>
        <p:blipFill>
          <a:blip r:embed="rId4">
            <a:alphaModFix/>
          </a:blip>
          <a:stretch>
            <a:fillRect/>
          </a:stretch>
        </p:blipFill>
        <p:spPr>
          <a:xfrm>
            <a:off x="4097943" y="572704"/>
            <a:ext cx="4636952" cy="42659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7a51fe5aa_0_104"/>
          <p:cNvSpPr txBox="1"/>
          <p:nvPr>
            <p:ph type="title"/>
          </p:nvPr>
        </p:nvSpPr>
        <p:spPr>
          <a:xfrm>
            <a:off x="21430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Univariate Analysis - Questions 9-11</a:t>
            </a:r>
            <a:endParaRPr>
              <a:solidFill>
                <a:srgbClr val="000000"/>
              </a:solidFill>
            </a:endParaRPr>
          </a:p>
        </p:txBody>
      </p:sp>
      <p:pic>
        <p:nvPicPr>
          <p:cNvPr id="253" name="Google Shape;253;g377a51fe5aa_0_104"/>
          <p:cNvPicPr preferRelativeResize="0"/>
          <p:nvPr/>
        </p:nvPicPr>
        <p:blipFill>
          <a:blip r:embed="rId3">
            <a:alphaModFix/>
          </a:blip>
          <a:stretch>
            <a:fillRect/>
          </a:stretch>
        </p:blipFill>
        <p:spPr>
          <a:xfrm>
            <a:off x="0" y="572688"/>
            <a:ext cx="5016925" cy="4181475"/>
          </a:xfrm>
          <a:prstGeom prst="rect">
            <a:avLst/>
          </a:prstGeom>
          <a:noFill/>
          <a:ln>
            <a:noFill/>
          </a:ln>
        </p:spPr>
      </p:pic>
      <p:pic>
        <p:nvPicPr>
          <p:cNvPr id="254" name="Google Shape;254;g377a51fe5aa_0_104"/>
          <p:cNvPicPr preferRelativeResize="0"/>
          <p:nvPr/>
        </p:nvPicPr>
        <p:blipFill>
          <a:blip r:embed="rId4">
            <a:alphaModFix/>
          </a:blip>
          <a:stretch>
            <a:fillRect/>
          </a:stretch>
        </p:blipFill>
        <p:spPr>
          <a:xfrm>
            <a:off x="5087150" y="572700"/>
            <a:ext cx="3957425" cy="3048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7"/>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a:t>
            </a:r>
            <a:endParaRPr>
              <a:solidFill>
                <a:srgbClr val="000000"/>
              </a:solidFill>
            </a:endParaRPr>
          </a:p>
        </p:txBody>
      </p:sp>
      <p:sp>
        <p:nvSpPr>
          <p:cNvPr id="260" name="Google Shape;260;p7"/>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b="1" lang="en" sz="1400">
                <a:solidFill>
                  <a:srgbClr val="000000"/>
                </a:solidFill>
              </a:rPr>
              <a:t>Summary</a:t>
            </a:r>
            <a:endParaRPr b="1" sz="1400">
              <a:solidFill>
                <a:srgbClr val="000000"/>
              </a:solidFill>
            </a:endParaRPr>
          </a:p>
          <a:p>
            <a:pPr indent="-317500" lvl="1" marL="914400" rtl="0" algn="l">
              <a:lnSpc>
                <a:spcPct val="115000"/>
              </a:lnSpc>
              <a:spcBef>
                <a:spcPts val="1000"/>
              </a:spcBef>
              <a:spcAft>
                <a:spcPts val="0"/>
              </a:spcAft>
              <a:buClr>
                <a:srgbClr val="000000"/>
              </a:buClr>
              <a:buSzPts val="1400"/>
              <a:buChar char="○"/>
            </a:pPr>
            <a:r>
              <a:rPr b="1" lang="en" sz="1100">
                <a:solidFill>
                  <a:srgbClr val="000000"/>
                </a:solidFill>
                <a:latin typeface="Arial"/>
                <a:ea typeface="Arial"/>
                <a:cs typeface="Arial"/>
                <a:sym typeface="Arial"/>
              </a:rPr>
              <a:t>Numerical × Numerical</a:t>
            </a:r>
            <a:r>
              <a:rPr lang="en" sz="1100">
                <a:solidFill>
                  <a:srgbClr val="000000"/>
                </a:solidFill>
                <a:latin typeface="Arial"/>
                <a:ea typeface="Arial"/>
                <a:cs typeface="Arial"/>
                <a:sym typeface="Arial"/>
              </a:rPr>
              <a:t> → scatter plots, correlation heatmaps.</a:t>
            </a:r>
            <a:endParaRPr sz="1100">
              <a:solidFill>
                <a:srgbClr val="000000"/>
              </a:solidFill>
              <a:latin typeface="Arial"/>
              <a:ea typeface="Arial"/>
              <a:cs typeface="Arial"/>
              <a:sym typeface="Arial"/>
            </a:endParaRPr>
          </a:p>
          <a:p>
            <a:pPr indent="-317500" lvl="1" marL="914400" rtl="0" algn="l">
              <a:lnSpc>
                <a:spcPct val="115000"/>
              </a:lnSpc>
              <a:spcBef>
                <a:spcPts val="1000"/>
              </a:spcBef>
              <a:spcAft>
                <a:spcPts val="0"/>
              </a:spcAft>
              <a:buClr>
                <a:srgbClr val="000000"/>
              </a:buClr>
              <a:buSzPts val="1400"/>
              <a:buChar char="○"/>
            </a:pPr>
            <a:r>
              <a:rPr b="1" lang="en" sz="1100">
                <a:solidFill>
                  <a:srgbClr val="000000"/>
                </a:solidFill>
                <a:latin typeface="Arial"/>
                <a:ea typeface="Arial"/>
                <a:cs typeface="Arial"/>
                <a:sym typeface="Arial"/>
              </a:rPr>
              <a:t>Categorical × Numerical</a:t>
            </a:r>
            <a:r>
              <a:rPr lang="en" sz="1100">
                <a:solidFill>
                  <a:srgbClr val="000000"/>
                </a:solidFill>
                <a:latin typeface="Arial"/>
                <a:ea typeface="Arial"/>
                <a:cs typeface="Arial"/>
                <a:sym typeface="Arial"/>
              </a:rPr>
              <a:t> → boxplots, grouped bar charts.</a:t>
            </a:r>
            <a:endParaRPr sz="1100">
              <a:solidFill>
                <a:srgbClr val="000000"/>
              </a:solidFill>
              <a:latin typeface="Arial"/>
              <a:ea typeface="Arial"/>
              <a:cs typeface="Arial"/>
              <a:sym typeface="Arial"/>
            </a:endParaRPr>
          </a:p>
          <a:p>
            <a:pPr indent="-317500" lvl="1" marL="914400" rtl="0" algn="l">
              <a:lnSpc>
                <a:spcPct val="115000"/>
              </a:lnSpc>
              <a:spcBef>
                <a:spcPts val="1000"/>
              </a:spcBef>
              <a:spcAft>
                <a:spcPts val="0"/>
              </a:spcAft>
              <a:buClr>
                <a:srgbClr val="000000"/>
              </a:buClr>
              <a:buSzPts val="1400"/>
              <a:buChar char="○"/>
            </a:pPr>
            <a:r>
              <a:rPr b="1" lang="en" sz="1100">
                <a:solidFill>
                  <a:srgbClr val="000000"/>
                </a:solidFill>
                <a:latin typeface="Arial"/>
                <a:ea typeface="Arial"/>
                <a:cs typeface="Arial"/>
                <a:sym typeface="Arial"/>
              </a:rPr>
              <a:t>Categorical × Categorical</a:t>
            </a:r>
            <a:r>
              <a:rPr lang="en" sz="1100">
                <a:solidFill>
                  <a:srgbClr val="000000"/>
                </a:solidFill>
                <a:latin typeface="Arial"/>
                <a:ea typeface="Arial"/>
                <a:cs typeface="Arial"/>
                <a:sym typeface="Arial"/>
              </a:rPr>
              <a:t> → stacked bar charts, heatmaps.</a:t>
            </a:r>
            <a:endParaRPr sz="1100">
              <a:solidFill>
                <a:srgbClr val="000000"/>
              </a:solidFill>
              <a:latin typeface="Arial"/>
              <a:ea typeface="Arial"/>
              <a:cs typeface="Arial"/>
              <a:sym typeface="Arial"/>
            </a:endParaRPr>
          </a:p>
          <a:p>
            <a:pPr indent="0" lvl="0" marL="0" rtl="0" algn="l">
              <a:lnSpc>
                <a:spcPct val="115000"/>
              </a:lnSpc>
              <a:spcBef>
                <a:spcPts val="10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77a51fe5aa_0_130"/>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Column relationships</a:t>
            </a:r>
            <a:endParaRPr>
              <a:solidFill>
                <a:srgbClr val="000000"/>
              </a:solidFill>
            </a:endParaRPr>
          </a:p>
        </p:txBody>
      </p:sp>
      <p:sp>
        <p:nvSpPr>
          <p:cNvPr id="266" name="Google Shape;266;g377a51fe5aa_0_130"/>
          <p:cNvSpPr txBox="1"/>
          <p:nvPr>
            <p:ph idx="1" type="body"/>
          </p:nvPr>
        </p:nvSpPr>
        <p:spPr>
          <a:xfrm>
            <a:off x="257150" y="497950"/>
            <a:ext cx="4314900" cy="4591500"/>
          </a:xfrm>
          <a:prstGeom prst="rect">
            <a:avLst/>
          </a:prstGeom>
          <a:noFill/>
          <a:ln>
            <a:noFill/>
          </a:ln>
        </p:spPr>
        <p:txBody>
          <a:bodyPr anchorCtr="0" anchor="t" bIns="91425" lIns="91425" spcFirstLastPara="1" rIns="91425" wrap="square" tIns="91425">
            <a:noAutofit/>
          </a:bodyPr>
          <a:lstStyle/>
          <a:p>
            <a:pPr indent="-311150" lvl="0" marL="457200" rtl="0" algn="l">
              <a:spcBef>
                <a:spcPts val="1400"/>
              </a:spcBef>
              <a:spcAft>
                <a:spcPts val="0"/>
              </a:spcAft>
              <a:buClr>
                <a:srgbClr val="000000"/>
              </a:buClr>
              <a:buSzPts val="1300"/>
              <a:buFont typeface="Arial"/>
              <a:buAutoNum type="arabicPeriod"/>
            </a:pPr>
            <a:r>
              <a:rPr b="1" lang="en" sz="1300">
                <a:solidFill>
                  <a:srgbClr val="000000"/>
                </a:solidFill>
                <a:latin typeface="Arial"/>
                <a:ea typeface="Arial"/>
                <a:cs typeface="Arial"/>
                <a:sym typeface="Arial"/>
              </a:rPr>
              <a:t>Restaurant Demand vs. Cuisine Type</a:t>
            </a:r>
            <a:endParaRPr b="1" sz="13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restaurant_name</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cuisine_type</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Which cuisines are served by which restaurants?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 certain restaurants specialize in one cuisine or offer multiple?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Grouped bar chart or heatmap.</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2.</a:t>
            </a:r>
            <a:r>
              <a:rPr b="1" lang="en" sz="1300">
                <a:solidFill>
                  <a:srgbClr val="000000"/>
                </a:solidFill>
                <a:latin typeface="Arial"/>
                <a:ea typeface="Arial"/>
                <a:cs typeface="Arial"/>
                <a:sym typeface="Arial"/>
              </a:rPr>
              <a:t>  Order Cost vs. Rating</a:t>
            </a:r>
            <a:endParaRPr b="1" sz="1300">
              <a:solidFill>
                <a:srgbClr val="000000"/>
              </a:solidFill>
              <a:latin typeface="Arial"/>
              <a:ea typeface="Arial"/>
              <a:cs typeface="Arial"/>
              <a:sym typeface="Arial"/>
            </a:endParaRPr>
          </a:p>
          <a:p>
            <a:pPr indent="-298450" lvl="0" marL="457200" rtl="0" algn="l">
              <a:spcBef>
                <a:spcPts val="1400"/>
              </a:spcBef>
              <a:spcAft>
                <a:spcPts val="0"/>
              </a:spcAft>
              <a:buSzPts val="1100"/>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cost_of_the_order</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rating</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 higher-cost orders receive better ratings?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Is there a threshold where very high cost leads to lower ratings?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Boxplot or scatter plot with regression line.</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
        <p:nvSpPr>
          <p:cNvPr id="267" name="Google Shape;267;g377a51fe5aa_0_130"/>
          <p:cNvSpPr txBox="1"/>
          <p:nvPr>
            <p:ph idx="1" type="body"/>
          </p:nvPr>
        </p:nvSpPr>
        <p:spPr>
          <a:xfrm>
            <a:off x="4511725" y="497950"/>
            <a:ext cx="4632300" cy="39273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3. Preparation Time vs. Delivery Time vs. Rating</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food_preparation_time</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delivery_time</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rating</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 longer preparation/delivery times lead to lower ratings?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Correlation between prep time and delivery time (are they linked?).</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Bubble chart (x=prep time, y=delivery time, size/color = rating).</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4. Day of the Week vs. Number of Orders vs. Cost</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day_of_the_week</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order count</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cost_of_the_order</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Are orders higher on weekends compared to weekdays?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 customers spend more on weekends?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Bar chart (avg cost per order by day).</a:t>
            </a:r>
            <a:endParaRPr sz="1100">
              <a:solidFill>
                <a:srgbClr val="000000"/>
              </a:solidFill>
              <a:latin typeface="Arial"/>
              <a:ea typeface="Arial"/>
              <a:cs typeface="Arial"/>
              <a:sym typeface="Arial"/>
            </a:endParaRPr>
          </a:p>
          <a:p>
            <a:pPr indent="0" lvl="0" marL="0" rtl="0" algn="l">
              <a:spcBef>
                <a:spcPts val="1400"/>
              </a:spcBef>
              <a:spcAft>
                <a:spcPts val="0"/>
              </a:spcAft>
              <a:buNone/>
            </a:pPr>
            <a:r>
              <a:t/>
            </a:r>
            <a:endParaRPr b="1" sz="1400">
              <a:solidFill>
                <a:srgbClr val="000000"/>
              </a:solidFill>
            </a:endParaRPr>
          </a:p>
          <a:p>
            <a:pPr indent="0" lvl="0" marL="0" rtl="0" algn="l">
              <a:lnSpc>
                <a:spcPct val="115000"/>
              </a:lnSpc>
              <a:spcBef>
                <a:spcPts val="10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77a51fe5aa_0_137"/>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Column relationships</a:t>
            </a:r>
            <a:endParaRPr>
              <a:solidFill>
                <a:srgbClr val="000000"/>
              </a:solidFill>
            </a:endParaRPr>
          </a:p>
        </p:txBody>
      </p:sp>
      <p:sp>
        <p:nvSpPr>
          <p:cNvPr id="273" name="Google Shape;273;g377a51fe5aa_0_137"/>
          <p:cNvSpPr txBox="1"/>
          <p:nvPr>
            <p:ph idx="1" type="body"/>
          </p:nvPr>
        </p:nvSpPr>
        <p:spPr>
          <a:xfrm>
            <a:off x="257150" y="443700"/>
            <a:ext cx="8129700" cy="45354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5. Cuisine Type vs. Average Delivery 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cuisine_type</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delivery_time</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Does delivery time vary by cuisine? (e.g., fast food vs. full meals).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Helps optimize delivery expectations.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Boxplot.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6. Restaurant Popularity vs. Customer Ratings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restaurant_name</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rating</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 popular restaurants always have higher ratings?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Detect restaurants with high orders but low customer satisfaction.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Scatter plot (x=order count, y=avg rating).</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7. Cost vs. Prep Time vs. Delivery 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cost_of_the_order</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food_preparation_time</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delivery_time</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Analysis:</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Are expensive meals associated with higher prep times?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Does delivery time increase with higher-cost orders?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Visualization: 3D scatter plot or pairplot.</a:t>
            </a:r>
            <a:endParaRPr b="1" sz="1400">
              <a:solidFill>
                <a:srgbClr val="000000"/>
              </a:solidFil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77a51fe5aa_0_119"/>
          <p:cNvSpPr txBox="1"/>
          <p:nvPr>
            <p:ph type="title"/>
          </p:nvPr>
        </p:nvSpPr>
        <p:spPr>
          <a:xfrm>
            <a:off x="257150" y="0"/>
            <a:ext cx="6732300" cy="43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pic>
        <p:nvPicPr>
          <p:cNvPr id="279" name="Google Shape;279;g377a51fe5aa_0_119"/>
          <p:cNvPicPr preferRelativeResize="0"/>
          <p:nvPr/>
        </p:nvPicPr>
        <p:blipFill>
          <a:blip r:embed="rId3">
            <a:alphaModFix/>
          </a:blip>
          <a:stretch>
            <a:fillRect/>
          </a:stretch>
        </p:blipFill>
        <p:spPr>
          <a:xfrm>
            <a:off x="152400" y="497950"/>
            <a:ext cx="6325799" cy="4493150"/>
          </a:xfrm>
          <a:prstGeom prst="rect">
            <a:avLst/>
          </a:prstGeom>
          <a:noFill/>
          <a:ln>
            <a:noFill/>
          </a:ln>
        </p:spPr>
      </p:pic>
      <p:sp>
        <p:nvSpPr>
          <p:cNvPr id="280" name="Google Shape;280;g377a51fe5aa_0_119"/>
          <p:cNvSpPr txBox="1"/>
          <p:nvPr>
            <p:ph idx="1" type="body"/>
          </p:nvPr>
        </p:nvSpPr>
        <p:spPr>
          <a:xfrm>
            <a:off x="6478200" y="674100"/>
            <a:ext cx="2665800" cy="4317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Cuisine</a:t>
            </a:r>
            <a:r>
              <a:rPr b="1" lang="en" sz="1300">
                <a:solidFill>
                  <a:srgbClr val="000000"/>
                </a:solidFill>
                <a:latin typeface="Arial"/>
                <a:ea typeface="Arial"/>
                <a:cs typeface="Arial"/>
                <a:sym typeface="Arial"/>
              </a:rPr>
              <a:t> type vs cost </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Korean is narrow spread of cost whereas </a:t>
            </a:r>
            <a:r>
              <a:rPr lang="en" sz="1100">
                <a:solidFill>
                  <a:srgbClr val="000000"/>
                </a:solidFill>
                <a:latin typeface="Arial"/>
                <a:ea typeface="Arial"/>
                <a:cs typeface="Arial"/>
                <a:sym typeface="Arial"/>
              </a:rPr>
              <a:t>southern</a:t>
            </a:r>
            <a:r>
              <a:rPr lang="en" sz="1100">
                <a:solidFill>
                  <a:srgbClr val="000000"/>
                </a:solidFill>
                <a:latin typeface="Arial"/>
                <a:ea typeface="Arial"/>
                <a:cs typeface="Arial"/>
                <a:sym typeface="Arial"/>
              </a:rPr>
              <a:t> has most wide spread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Vietnamese has also less expensive on </a:t>
            </a:r>
            <a:r>
              <a:rPr lang="en" sz="1100">
                <a:solidFill>
                  <a:srgbClr val="000000"/>
                </a:solidFill>
                <a:latin typeface="Arial"/>
                <a:ea typeface="Arial"/>
                <a:cs typeface="Arial"/>
                <a:sym typeface="Arial"/>
              </a:rPr>
              <a:t>average vs French has more expensive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Mediterranean  has more outliner means more premium dishes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3 Budget friendly cuisines are Vietnamese, Korean, Mediterranean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3 Premium cuisines are French, Spanish &amp; Thai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4 Most wide spread range cuisines as per cost are Southern, Italian, Middle Eastern &amp; Spanish</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77a51fe5aa_0_144"/>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pic>
        <p:nvPicPr>
          <p:cNvPr id="286" name="Google Shape;286;g377a51fe5aa_0_144"/>
          <p:cNvPicPr preferRelativeResize="0"/>
          <p:nvPr/>
        </p:nvPicPr>
        <p:blipFill>
          <a:blip r:embed="rId3">
            <a:alphaModFix/>
          </a:blip>
          <a:stretch>
            <a:fillRect/>
          </a:stretch>
        </p:blipFill>
        <p:spPr>
          <a:xfrm>
            <a:off x="178775" y="466750"/>
            <a:ext cx="6299424" cy="4566375"/>
          </a:xfrm>
          <a:prstGeom prst="rect">
            <a:avLst/>
          </a:prstGeom>
          <a:noFill/>
          <a:ln>
            <a:noFill/>
          </a:ln>
        </p:spPr>
      </p:pic>
      <p:sp>
        <p:nvSpPr>
          <p:cNvPr id="287" name="Google Shape;287;g377a51fe5aa_0_144"/>
          <p:cNvSpPr txBox="1"/>
          <p:nvPr>
            <p:ph idx="1" type="body"/>
          </p:nvPr>
        </p:nvSpPr>
        <p:spPr>
          <a:xfrm>
            <a:off x="6478200" y="674100"/>
            <a:ext cx="2665800" cy="4317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food preparation time and cuisine type</a:t>
            </a:r>
            <a:r>
              <a:rPr b="1" lang="en" sz="1300">
                <a:solidFill>
                  <a:srgbClr val="000000"/>
                </a:solidFill>
                <a:latin typeface="Arial"/>
                <a:ea typeface="Arial"/>
                <a:cs typeface="Arial"/>
                <a:sym typeface="Arial"/>
              </a:rPr>
              <a:t> </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Vietnamese/Korean are </a:t>
            </a:r>
            <a:r>
              <a:rPr lang="en" sz="1100">
                <a:solidFill>
                  <a:srgbClr val="000000"/>
                </a:solidFill>
                <a:latin typeface="Arial"/>
                <a:ea typeface="Arial"/>
                <a:cs typeface="Arial"/>
                <a:sym typeface="Arial"/>
              </a:rPr>
              <a:t>the</a:t>
            </a:r>
            <a:r>
              <a:rPr lang="en" sz="1100">
                <a:solidFill>
                  <a:srgbClr val="000000"/>
                </a:solidFill>
                <a:latin typeface="Arial"/>
                <a:ea typeface="Arial"/>
                <a:cs typeface="Arial"/>
                <a:sym typeface="Arial"/>
              </a:rPr>
              <a:t> fastest preparation time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Italian/Thai takes longer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Korean has </a:t>
            </a:r>
            <a:r>
              <a:rPr lang="en" sz="1100">
                <a:solidFill>
                  <a:srgbClr val="000000"/>
                </a:solidFill>
                <a:latin typeface="Arial"/>
                <a:ea typeface="Arial"/>
                <a:cs typeface="Arial"/>
                <a:sym typeface="Arial"/>
              </a:rPr>
              <a:t>some</a:t>
            </a:r>
            <a:r>
              <a:rPr lang="en" sz="1100">
                <a:solidFill>
                  <a:srgbClr val="000000"/>
                </a:solidFill>
                <a:latin typeface="Arial"/>
                <a:ea typeface="Arial"/>
                <a:cs typeface="Arial"/>
                <a:sym typeface="Arial"/>
              </a:rPr>
              <a:t> outlier means </a:t>
            </a:r>
            <a:r>
              <a:rPr lang="en" sz="1100">
                <a:solidFill>
                  <a:srgbClr val="000000"/>
                </a:solidFill>
                <a:latin typeface="Arial"/>
                <a:ea typeface="Arial"/>
                <a:cs typeface="Arial"/>
                <a:sym typeface="Arial"/>
              </a:rPr>
              <a:t>some</a:t>
            </a:r>
            <a:r>
              <a:rPr lang="en" sz="1100">
                <a:solidFill>
                  <a:srgbClr val="000000"/>
                </a:solidFill>
                <a:latin typeface="Arial"/>
                <a:ea typeface="Arial"/>
                <a:cs typeface="Arial"/>
                <a:sym typeface="Arial"/>
              </a:rPr>
              <a:t> dishes takes longer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Cuisines with wider boxes (e.g., thai → inconsistent preparation times across restaurants.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Narrower boxes (e.g., Korean) → consistent preparation times.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Average time for most of is close to 27 min :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Italian, Thai,Spanish</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Japanese,Chinese,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American,</a:t>
            </a:r>
            <a:r>
              <a:rPr lang="en" sz="1100">
                <a:solidFill>
                  <a:srgbClr val="000000"/>
                </a:solidFill>
                <a:latin typeface="Arial"/>
                <a:ea typeface="Arial"/>
                <a:cs typeface="Arial"/>
                <a:sym typeface="Arial"/>
              </a:rPr>
              <a:t>M</a:t>
            </a:r>
            <a:r>
              <a:rPr lang="en" sz="1100">
                <a:solidFill>
                  <a:srgbClr val="000000"/>
                </a:solidFill>
                <a:latin typeface="Arial"/>
                <a:ea typeface="Arial"/>
                <a:cs typeface="Arial"/>
                <a:sym typeface="Arial"/>
              </a:rPr>
              <a:t>editerranean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,Indian,Middle Eastern , Southern  </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77a51fe5aa_0_163"/>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sp>
        <p:nvSpPr>
          <p:cNvPr id="293" name="Google Shape;293;g377a51fe5aa_0_163"/>
          <p:cNvSpPr txBox="1"/>
          <p:nvPr>
            <p:ph idx="1" type="body"/>
          </p:nvPr>
        </p:nvSpPr>
        <p:spPr>
          <a:xfrm>
            <a:off x="6478200" y="674100"/>
            <a:ext cx="2665800" cy="4317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day of the week and delivery time</a:t>
            </a:r>
            <a:r>
              <a:rPr b="1" lang="en" sz="1300">
                <a:solidFill>
                  <a:srgbClr val="000000"/>
                </a:solidFill>
                <a:latin typeface="Arial"/>
                <a:ea typeface="Arial"/>
                <a:cs typeface="Arial"/>
                <a:sym typeface="Arial"/>
              </a:rPr>
              <a:t> </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Weekend </a:t>
            </a:r>
            <a:r>
              <a:rPr lang="en" sz="1100">
                <a:solidFill>
                  <a:srgbClr val="000000"/>
                </a:solidFill>
                <a:latin typeface="Arial"/>
                <a:ea typeface="Arial"/>
                <a:cs typeface="Arial"/>
                <a:sym typeface="Arial"/>
              </a:rPr>
              <a:t>delivery</a:t>
            </a:r>
            <a:r>
              <a:rPr lang="en" sz="1100">
                <a:solidFill>
                  <a:srgbClr val="000000"/>
                </a:solidFill>
                <a:latin typeface="Arial"/>
                <a:ea typeface="Arial"/>
                <a:cs typeface="Arial"/>
                <a:sym typeface="Arial"/>
              </a:rPr>
              <a:t> is faster </a:t>
            </a:r>
            <a:r>
              <a:rPr lang="en" sz="1100">
                <a:solidFill>
                  <a:srgbClr val="000000"/>
                </a:solidFill>
                <a:latin typeface="Arial"/>
                <a:ea typeface="Arial"/>
                <a:cs typeface="Arial"/>
                <a:sym typeface="Arial"/>
              </a:rPr>
              <a:t>than</a:t>
            </a:r>
            <a:r>
              <a:rPr lang="en" sz="1100">
                <a:solidFill>
                  <a:srgbClr val="000000"/>
                </a:solidFill>
                <a:latin typeface="Arial"/>
                <a:ea typeface="Arial"/>
                <a:cs typeface="Arial"/>
                <a:sym typeface="Arial"/>
              </a:rPr>
              <a:t> weekdays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Weekend deliveries are faster (avg ~22.5 mins) compared to weekdays (avg ~28.3 mins).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Weekdays also have a narrower time range (24–33 mins), while weekends show more flexibility (15–30 mins).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pic>
        <p:nvPicPr>
          <p:cNvPr id="294" name="Google Shape;294;g377a51fe5aa_0_163"/>
          <p:cNvPicPr preferRelativeResize="0"/>
          <p:nvPr/>
        </p:nvPicPr>
        <p:blipFill>
          <a:blip r:embed="rId3">
            <a:alphaModFix/>
          </a:blip>
          <a:stretch>
            <a:fillRect/>
          </a:stretch>
        </p:blipFill>
        <p:spPr>
          <a:xfrm>
            <a:off x="152400" y="466750"/>
            <a:ext cx="6173400" cy="44089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77a51fe5aa_0_171"/>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sp>
        <p:nvSpPr>
          <p:cNvPr id="300" name="Google Shape;300;g377a51fe5aa_0_171"/>
          <p:cNvSpPr txBox="1"/>
          <p:nvPr>
            <p:ph idx="1" type="body"/>
          </p:nvPr>
        </p:nvSpPr>
        <p:spPr>
          <a:xfrm>
            <a:off x="6478200" y="674100"/>
            <a:ext cx="2665800" cy="4317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revenue generated by the restaurants.</a:t>
            </a:r>
            <a:r>
              <a:rPr b="1" lang="en" sz="1300">
                <a:solidFill>
                  <a:srgbClr val="000000"/>
                </a:solidFill>
                <a:latin typeface="Arial"/>
                <a:ea typeface="Arial"/>
                <a:cs typeface="Arial"/>
                <a:sym typeface="Arial"/>
              </a:rPr>
              <a:t> </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Top most </a:t>
            </a:r>
            <a:r>
              <a:rPr lang="en" sz="1100">
                <a:solidFill>
                  <a:srgbClr val="000000"/>
                </a:solidFill>
                <a:latin typeface="Arial"/>
                <a:ea typeface="Arial"/>
                <a:cs typeface="Arial"/>
                <a:sym typeface="Arial"/>
              </a:rPr>
              <a:t>revenue</a:t>
            </a:r>
            <a:r>
              <a:rPr lang="en" sz="1100">
                <a:solidFill>
                  <a:srgbClr val="000000"/>
                </a:solidFill>
                <a:latin typeface="Arial"/>
                <a:ea typeface="Arial"/>
                <a:cs typeface="Arial"/>
                <a:sym typeface="Arial"/>
              </a:rPr>
              <a:t> generation </a:t>
            </a:r>
            <a:r>
              <a:rPr lang="en" sz="1100">
                <a:solidFill>
                  <a:srgbClr val="000000"/>
                </a:solidFill>
                <a:latin typeface="Arial"/>
                <a:ea typeface="Arial"/>
                <a:cs typeface="Arial"/>
                <a:sym typeface="Arial"/>
              </a:rPr>
              <a:t>restaurant</a:t>
            </a:r>
            <a:r>
              <a:rPr lang="en" sz="1100">
                <a:solidFill>
                  <a:srgbClr val="000000"/>
                </a:solidFill>
                <a:latin typeface="Arial"/>
                <a:ea typeface="Arial"/>
                <a:cs typeface="Arial"/>
                <a:sym typeface="Arial"/>
              </a:rPr>
              <a:t> is Shake Shack</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Least </a:t>
            </a:r>
            <a:r>
              <a:rPr lang="en" sz="1100">
                <a:solidFill>
                  <a:srgbClr val="000000"/>
                </a:solidFill>
                <a:latin typeface="Arial"/>
                <a:ea typeface="Arial"/>
                <a:cs typeface="Arial"/>
                <a:sym typeface="Arial"/>
              </a:rPr>
              <a:t>revenue</a:t>
            </a:r>
            <a:r>
              <a:rPr lang="en" sz="1100">
                <a:solidFill>
                  <a:srgbClr val="000000"/>
                </a:solidFill>
                <a:latin typeface="Arial"/>
                <a:ea typeface="Arial"/>
                <a:cs typeface="Arial"/>
                <a:sym typeface="Arial"/>
              </a:rPr>
              <a:t> is </a:t>
            </a:r>
            <a:r>
              <a:rPr lang="en" sz="1100">
                <a:solidFill>
                  <a:srgbClr val="000000"/>
                </a:solidFill>
                <a:latin typeface="Arial"/>
                <a:ea typeface="Arial"/>
                <a:cs typeface="Arial"/>
                <a:sym typeface="Arial"/>
              </a:rPr>
              <a:t>coming</a:t>
            </a:r>
            <a:r>
              <a:rPr lang="en" sz="1100">
                <a:solidFill>
                  <a:srgbClr val="000000"/>
                </a:solidFill>
                <a:latin typeface="Arial"/>
                <a:ea typeface="Arial"/>
                <a:cs typeface="Arial"/>
                <a:sym typeface="Arial"/>
              </a:rPr>
              <a:t> from Five Guys Burgers and Fries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Top three to focus to main </a:t>
            </a:r>
            <a:r>
              <a:rPr lang="en" sz="1100">
                <a:solidFill>
                  <a:srgbClr val="000000"/>
                </a:solidFill>
                <a:latin typeface="Arial"/>
                <a:ea typeface="Arial"/>
                <a:cs typeface="Arial"/>
                <a:sym typeface="Arial"/>
              </a:rPr>
              <a:t>revenue</a:t>
            </a:r>
            <a:r>
              <a:rPr lang="en" sz="1100">
                <a:solidFill>
                  <a:srgbClr val="000000"/>
                </a:solidFill>
                <a:latin typeface="Arial"/>
                <a:ea typeface="Arial"/>
                <a:cs typeface="Arial"/>
                <a:sym typeface="Arial"/>
              </a:rPr>
              <a:t> are Shake Shack, The Meatball Shop	, Blue Ribbon Sushi</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Least 3 to focus on improving/study root cause are Sushi of Gari, Nobu Next Door, Five Guys Burgers and Fries	</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000"/>
              </a:spcAft>
              <a:buClr>
                <a:srgbClr val="000000"/>
              </a:buClr>
              <a:buSzPts val="1500"/>
              <a:buFont typeface="Arial"/>
              <a:buNone/>
            </a:pPr>
            <a:r>
              <a:t/>
            </a:r>
            <a:endParaRPr sz="1400">
              <a:solidFill>
                <a:srgbClr val="000000"/>
              </a:solidFill>
            </a:endParaRPr>
          </a:p>
        </p:txBody>
      </p:sp>
      <p:pic>
        <p:nvPicPr>
          <p:cNvPr id="301" name="Google Shape;301;g377a51fe5aa_0_171"/>
          <p:cNvPicPr preferRelativeResize="0"/>
          <p:nvPr/>
        </p:nvPicPr>
        <p:blipFill>
          <a:blip r:embed="rId3">
            <a:alphaModFix/>
          </a:blip>
          <a:stretch>
            <a:fillRect/>
          </a:stretch>
        </p:blipFill>
        <p:spPr>
          <a:xfrm>
            <a:off x="152400" y="401625"/>
            <a:ext cx="5874800" cy="45894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77a51fe5aa_0_179"/>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sp>
        <p:nvSpPr>
          <p:cNvPr id="307" name="Google Shape;307;g377a51fe5aa_0_179"/>
          <p:cNvSpPr txBox="1"/>
          <p:nvPr>
            <p:ph idx="1" type="body"/>
          </p:nvPr>
        </p:nvSpPr>
        <p:spPr>
          <a:xfrm>
            <a:off x="5380725" y="2877700"/>
            <a:ext cx="3645900" cy="17778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rating vs delivery 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Don’t see any strong correlation between rating and delivery time </a:t>
            </a:r>
            <a:endParaRPr sz="1400">
              <a:solidFill>
                <a:srgbClr val="000000"/>
              </a:solidFill>
            </a:endParaRPr>
          </a:p>
        </p:txBody>
      </p:sp>
      <p:pic>
        <p:nvPicPr>
          <p:cNvPr id="308" name="Google Shape;308;g377a51fe5aa_0_179"/>
          <p:cNvPicPr preferRelativeResize="0"/>
          <p:nvPr/>
        </p:nvPicPr>
        <p:blipFill>
          <a:blip r:embed="rId3">
            <a:alphaModFix/>
          </a:blip>
          <a:stretch>
            <a:fillRect/>
          </a:stretch>
        </p:blipFill>
        <p:spPr>
          <a:xfrm>
            <a:off x="311700" y="407750"/>
            <a:ext cx="5022050" cy="3397300"/>
          </a:xfrm>
          <a:prstGeom prst="rect">
            <a:avLst/>
          </a:prstGeom>
          <a:noFill/>
          <a:ln>
            <a:noFill/>
          </a:ln>
        </p:spPr>
      </p:pic>
      <p:pic>
        <p:nvPicPr>
          <p:cNvPr id="309" name="Google Shape;309;g377a51fe5aa_0_179"/>
          <p:cNvPicPr preferRelativeResize="0"/>
          <p:nvPr/>
        </p:nvPicPr>
        <p:blipFill>
          <a:blip r:embed="rId4">
            <a:alphaModFix/>
          </a:blip>
          <a:stretch>
            <a:fillRect/>
          </a:stretch>
        </p:blipFill>
        <p:spPr>
          <a:xfrm>
            <a:off x="5498150" y="643525"/>
            <a:ext cx="3645850" cy="2057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77a51fe5aa_0_187"/>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sp>
        <p:nvSpPr>
          <p:cNvPr id="315" name="Google Shape;315;g377a51fe5aa_0_187"/>
          <p:cNvSpPr txBox="1"/>
          <p:nvPr>
            <p:ph idx="1" type="body"/>
          </p:nvPr>
        </p:nvSpPr>
        <p:spPr>
          <a:xfrm>
            <a:off x="5439425" y="670000"/>
            <a:ext cx="3645900" cy="23739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Rating vs Food preparation 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Average food preparation time is very similar across ratings: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 3 → ~27.43 minutes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 4 → ~27.40 minutes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 5 → ~27.36 minutes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There is no significant correlation between  ratings and food preparation time.</a:t>
            </a:r>
            <a:endParaRPr sz="1400">
              <a:solidFill>
                <a:srgbClr val="000000"/>
              </a:solidFill>
            </a:endParaRPr>
          </a:p>
        </p:txBody>
      </p:sp>
      <p:pic>
        <p:nvPicPr>
          <p:cNvPr id="316" name="Google Shape;316;g377a51fe5aa_0_187"/>
          <p:cNvPicPr preferRelativeResize="0"/>
          <p:nvPr/>
        </p:nvPicPr>
        <p:blipFill>
          <a:blip r:embed="rId3">
            <a:alphaModFix/>
          </a:blip>
          <a:stretch>
            <a:fillRect/>
          </a:stretch>
        </p:blipFill>
        <p:spPr>
          <a:xfrm>
            <a:off x="152400" y="619149"/>
            <a:ext cx="5134625" cy="34345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77b8bda5b4_0_0"/>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sp>
        <p:nvSpPr>
          <p:cNvPr id="322" name="Google Shape;322;g377b8bda5b4_0_0"/>
          <p:cNvSpPr txBox="1"/>
          <p:nvPr>
            <p:ph idx="1" type="body"/>
          </p:nvPr>
        </p:nvSpPr>
        <p:spPr>
          <a:xfrm>
            <a:off x="5439425" y="670000"/>
            <a:ext cx="3645900" cy="3411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Rating vs Cost of the order</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Apart from not given rating , Average order cost by rating:</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 3 → ~$16.22</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 4 → ~$16.71</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Rating 5 → ~$16.97</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There is a slight upward trend: higher-rated orders tend to have marginally higher costs.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However, the difference is small (only ~$0.7 between rating 3 and 5).</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suggests that order cost has minimal influence on customer ratings — other factors (taste, service, delivery) are likely more impactful.</a:t>
            </a:r>
            <a:endParaRPr sz="1100">
              <a:solidFill>
                <a:srgbClr val="000000"/>
              </a:solidFill>
              <a:latin typeface="Arial"/>
              <a:ea typeface="Arial"/>
              <a:cs typeface="Arial"/>
              <a:sym typeface="Arial"/>
            </a:endParaRPr>
          </a:p>
        </p:txBody>
      </p:sp>
      <p:pic>
        <p:nvPicPr>
          <p:cNvPr id="323" name="Google Shape;323;g377b8bda5b4_0_0"/>
          <p:cNvPicPr preferRelativeResize="0"/>
          <p:nvPr/>
        </p:nvPicPr>
        <p:blipFill>
          <a:blip r:embed="rId3">
            <a:alphaModFix/>
          </a:blip>
          <a:stretch>
            <a:fillRect/>
          </a:stretch>
        </p:blipFill>
        <p:spPr>
          <a:xfrm>
            <a:off x="152400" y="619150"/>
            <a:ext cx="5216576" cy="3411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77b8bda5b4_0_7"/>
          <p:cNvSpPr txBox="1"/>
          <p:nvPr>
            <p:ph type="title"/>
          </p:nvPr>
        </p:nvSpPr>
        <p:spPr>
          <a:xfrm>
            <a:off x="311700" y="-10594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12</a:t>
            </a:r>
            <a:endParaRPr>
              <a:solidFill>
                <a:srgbClr val="000000"/>
              </a:solidFill>
            </a:endParaRPr>
          </a:p>
        </p:txBody>
      </p:sp>
      <p:sp>
        <p:nvSpPr>
          <p:cNvPr id="329" name="Google Shape;329;g377b8bda5b4_0_7"/>
          <p:cNvSpPr txBox="1"/>
          <p:nvPr>
            <p:ph idx="1" type="body"/>
          </p:nvPr>
        </p:nvSpPr>
        <p:spPr>
          <a:xfrm>
            <a:off x="5439425" y="670000"/>
            <a:ext cx="3645900" cy="3411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Based on </a:t>
            </a:r>
            <a:r>
              <a:rPr b="1" lang="en" sz="1300">
                <a:solidFill>
                  <a:srgbClr val="000000"/>
                </a:solidFill>
                <a:latin typeface="Arial"/>
                <a:ea typeface="Arial"/>
                <a:cs typeface="Arial"/>
                <a:sym typeface="Arial"/>
              </a:rPr>
              <a:t>Correlation among order cost  vs Food prep time vs delivery time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Cost of the order vs Food preparation time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 0.04 (very weak positive correlation)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Cost of the order vs Delivery time</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 -0.03 (very weak negative correlation)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Food preparation time vs Delivery time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0.01 (almost no correlation)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None of the variables show any meaningful correlation with each other.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Order cost, preparation time, and delivery time are essentially independent in this dataset.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suggests that operational times (prep &amp; delivery) are not strongly linked to how much an order costs.</a:t>
            </a:r>
            <a:endParaRPr sz="1100">
              <a:solidFill>
                <a:srgbClr val="000000"/>
              </a:solidFill>
              <a:latin typeface="Arial"/>
              <a:ea typeface="Arial"/>
              <a:cs typeface="Arial"/>
              <a:sym typeface="Arial"/>
            </a:endParaRPr>
          </a:p>
        </p:txBody>
      </p:sp>
      <p:pic>
        <p:nvPicPr>
          <p:cNvPr id="330" name="Google Shape;330;g377b8bda5b4_0_7"/>
          <p:cNvPicPr preferRelativeResize="0"/>
          <p:nvPr/>
        </p:nvPicPr>
        <p:blipFill>
          <a:blip r:embed="rId3">
            <a:alphaModFix/>
          </a:blip>
          <a:stretch>
            <a:fillRect/>
          </a:stretch>
        </p:blipFill>
        <p:spPr>
          <a:xfrm>
            <a:off x="152400" y="619154"/>
            <a:ext cx="5134623" cy="314295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77b8bda5b4_0_16"/>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13</a:t>
            </a:r>
            <a:endParaRPr>
              <a:solidFill>
                <a:srgbClr val="000000"/>
              </a:solidFill>
            </a:endParaRPr>
          </a:p>
        </p:txBody>
      </p:sp>
      <p:pic>
        <p:nvPicPr>
          <p:cNvPr id="336" name="Google Shape;336;g377b8bda5b4_0_16"/>
          <p:cNvPicPr preferRelativeResize="0"/>
          <p:nvPr/>
        </p:nvPicPr>
        <p:blipFill>
          <a:blip r:embed="rId3">
            <a:alphaModFix/>
          </a:blip>
          <a:stretch>
            <a:fillRect/>
          </a:stretch>
        </p:blipFill>
        <p:spPr>
          <a:xfrm>
            <a:off x="152400" y="439200"/>
            <a:ext cx="8625349" cy="2759625"/>
          </a:xfrm>
          <a:prstGeom prst="rect">
            <a:avLst/>
          </a:prstGeom>
          <a:noFill/>
          <a:ln>
            <a:noFill/>
          </a:ln>
        </p:spPr>
      </p:pic>
      <p:pic>
        <p:nvPicPr>
          <p:cNvPr id="337" name="Google Shape;337;g377b8bda5b4_0_16"/>
          <p:cNvPicPr preferRelativeResize="0"/>
          <p:nvPr/>
        </p:nvPicPr>
        <p:blipFill>
          <a:blip r:embed="rId4">
            <a:alphaModFix/>
          </a:blip>
          <a:stretch>
            <a:fillRect/>
          </a:stretch>
        </p:blipFill>
        <p:spPr>
          <a:xfrm>
            <a:off x="152400" y="3198825"/>
            <a:ext cx="5627576" cy="1803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77a51fe5aa_0_153"/>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14</a:t>
            </a:r>
            <a:endParaRPr>
              <a:solidFill>
                <a:srgbClr val="000000"/>
              </a:solidFill>
            </a:endParaRPr>
          </a:p>
        </p:txBody>
      </p:sp>
      <p:pic>
        <p:nvPicPr>
          <p:cNvPr id="343" name="Google Shape;343;g377a51fe5aa_0_153"/>
          <p:cNvPicPr preferRelativeResize="0"/>
          <p:nvPr/>
        </p:nvPicPr>
        <p:blipFill>
          <a:blip r:embed="rId3">
            <a:alphaModFix/>
          </a:blip>
          <a:stretch>
            <a:fillRect/>
          </a:stretch>
        </p:blipFill>
        <p:spPr>
          <a:xfrm>
            <a:off x="152400" y="572700"/>
            <a:ext cx="8991599" cy="42114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77a51fe5aa_0_149"/>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15</a:t>
            </a:r>
            <a:endParaRPr>
              <a:solidFill>
                <a:srgbClr val="000000"/>
              </a:solidFill>
            </a:endParaRPr>
          </a:p>
        </p:txBody>
      </p:sp>
      <p:pic>
        <p:nvPicPr>
          <p:cNvPr id="349" name="Google Shape;349;g377a51fe5aa_0_149"/>
          <p:cNvPicPr preferRelativeResize="0"/>
          <p:nvPr/>
        </p:nvPicPr>
        <p:blipFill>
          <a:blip r:embed="rId3">
            <a:alphaModFix/>
          </a:blip>
          <a:stretch>
            <a:fillRect/>
          </a:stretch>
        </p:blipFill>
        <p:spPr>
          <a:xfrm>
            <a:off x="152400" y="725100"/>
            <a:ext cx="8871900" cy="32839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77b8bda5b4_0_27"/>
          <p:cNvSpPr txBox="1"/>
          <p:nvPr>
            <p:ph type="title"/>
          </p:nvPr>
        </p:nvSpPr>
        <p:spPr>
          <a:xfrm>
            <a:off x="257150" y="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Multivariate Analysis - Questions 16</a:t>
            </a:r>
            <a:endParaRPr>
              <a:solidFill>
                <a:srgbClr val="000000"/>
              </a:solidFill>
            </a:endParaRPr>
          </a:p>
        </p:txBody>
      </p:sp>
      <p:pic>
        <p:nvPicPr>
          <p:cNvPr id="355" name="Google Shape;355;g377b8bda5b4_0_27"/>
          <p:cNvPicPr preferRelativeResize="0"/>
          <p:nvPr/>
        </p:nvPicPr>
        <p:blipFill>
          <a:blip r:embed="rId3">
            <a:alphaModFix/>
          </a:blip>
          <a:stretch>
            <a:fillRect/>
          </a:stretch>
        </p:blipFill>
        <p:spPr>
          <a:xfrm>
            <a:off x="152400" y="725104"/>
            <a:ext cx="8463873" cy="426599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8"/>
          <p:cNvSpPr txBox="1"/>
          <p:nvPr>
            <p:ph type="ctrTitle"/>
          </p:nvPr>
        </p:nvSpPr>
        <p:spPr>
          <a:xfrm>
            <a:off x="0" y="2820425"/>
            <a:ext cx="9144000" cy="581700"/>
          </a:xfrm>
          <a:prstGeom prst="rect">
            <a:avLst/>
          </a:prstGeom>
          <a:solidFill>
            <a:srgbClr val="0000FF"/>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9"/>
          <p:cNvSpPr txBox="1"/>
          <p:nvPr>
            <p:ph type="title"/>
          </p:nvPr>
        </p:nvSpPr>
        <p:spPr>
          <a:xfrm>
            <a:off x="202550" y="289279"/>
            <a:ext cx="8520600" cy="5727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NOTE: </a:t>
            </a:r>
            <a:endParaRPr>
              <a:solidFill>
                <a:srgbClr val="000000"/>
              </a:solidFill>
            </a:endParaRPr>
          </a:p>
        </p:txBody>
      </p:sp>
      <p:sp>
        <p:nvSpPr>
          <p:cNvPr id="366" name="Google Shape;366;p9"/>
          <p:cNvSpPr txBox="1"/>
          <p:nvPr>
            <p:ph idx="1" type="body"/>
          </p:nvPr>
        </p:nvSpPr>
        <p:spPr>
          <a:xfrm>
            <a:off x="202550" y="861975"/>
            <a:ext cx="8629800" cy="2278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chemeClr val="dk1"/>
                </a:solidFill>
              </a:rPr>
              <a:t>Added my </a:t>
            </a:r>
            <a:r>
              <a:rPr lang="en" sz="1400">
                <a:solidFill>
                  <a:schemeClr val="dk1"/>
                </a:solidFill>
              </a:rPr>
              <a:t>notebook</a:t>
            </a:r>
            <a:r>
              <a:rPr lang="en" sz="1400">
                <a:solidFill>
                  <a:schemeClr val="dk1"/>
                </a:solidFill>
              </a:rPr>
              <a:t> as slides in appendix ( 19 slide after this). </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lang="en" sz="1400">
                <a:solidFill>
                  <a:schemeClr val="dk1"/>
                </a:solidFill>
              </a:rPr>
              <a:t>Conversion to ipynb → html → has disturbed </a:t>
            </a:r>
            <a:r>
              <a:rPr lang="en" sz="1400">
                <a:solidFill>
                  <a:schemeClr val="dk1"/>
                </a:solidFill>
              </a:rPr>
              <a:t>the</a:t>
            </a:r>
            <a:r>
              <a:rPr lang="en" sz="1400">
                <a:solidFill>
                  <a:schemeClr val="dk1"/>
                </a:solidFill>
              </a:rPr>
              <a:t> formatting but ideas is to </a:t>
            </a:r>
            <a:r>
              <a:rPr lang="en" sz="1400">
                <a:solidFill>
                  <a:schemeClr val="dk1"/>
                </a:solidFill>
              </a:rPr>
              <a:t>attach</a:t>
            </a:r>
            <a:r>
              <a:rPr lang="en" sz="1400">
                <a:solidFill>
                  <a:schemeClr val="dk1"/>
                </a:solidFill>
              </a:rPr>
              <a:t> my whole work here</a:t>
            </a:r>
            <a:endParaRPr sz="1400">
              <a:solidFill>
                <a:schemeClr val="dk1"/>
              </a:solidFill>
            </a:endParaRPr>
          </a:p>
          <a:p>
            <a:pPr indent="-317500" lvl="0" marL="457200" rtl="0" algn="l">
              <a:lnSpc>
                <a:spcPct val="115000"/>
              </a:lnSpc>
              <a:spcBef>
                <a:spcPts val="1000"/>
              </a:spcBef>
              <a:spcAft>
                <a:spcPts val="1000"/>
              </a:spcAft>
              <a:buClr>
                <a:schemeClr val="dk1"/>
              </a:buClr>
              <a:buSzPts val="1400"/>
              <a:buChar char="●"/>
            </a:pPr>
            <a:r>
              <a:t/>
            </a:r>
            <a:endParaRPr sz="14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g377b8bda5b4_2_2"/>
          <p:cNvSpPr/>
          <p:nvPr/>
        </p:nvSpPr>
        <p:spPr>
          <a:xfrm>
            <a:off x="73772" y="79176"/>
            <a:ext cx="7439891" cy="12902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1900" u="none" cap="none" strike="noStrike">
                <a:latin typeface="Arial"/>
                <a:ea typeface="Arial"/>
                <a:cs typeface="Arial"/>
                <a:sym typeface="Arial"/>
              </a:rPr>
              <a:t>Project Python Foundations: FoodHub Data Analysis</a:t>
            </a:r>
            <a:endParaRPr/>
          </a:p>
        </p:txBody>
      </p:sp>
      <p:sp>
        <p:nvSpPr>
          <p:cNvPr id="372" name="Google Shape;372;g377b8bda5b4_2_2"/>
          <p:cNvSpPr/>
          <p:nvPr/>
        </p:nvSpPr>
        <p:spPr>
          <a:xfrm>
            <a:off x="51640" y="335765"/>
            <a:ext cx="8848933" cy="46464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1100" u="none" cap="none" strike="noStrike">
                <a:latin typeface="Arial"/>
                <a:ea typeface="Arial"/>
                <a:cs typeface="Arial"/>
                <a:sym typeface="Arial"/>
              </a:rPr>
              <a:t>Context</a:t>
            </a:r>
            <a:endParaRPr/>
          </a:p>
          <a:p>
            <a:pPr indent="0" lvl="0" marL="0" marR="0" rtl="0" algn="l">
              <a:lnSpc>
                <a:spcPct val="118736"/>
              </a:lnSpc>
              <a:spcBef>
                <a:spcPts val="1050"/>
              </a:spcBef>
              <a:spcAft>
                <a:spcPts val="0"/>
              </a:spcAft>
              <a:buNone/>
            </a:pPr>
            <a:r>
              <a:rPr b="0" i="0" lang="en" sz="950" u="none" cap="none" strike="noStrike">
                <a:latin typeface="Arial"/>
                <a:ea typeface="Arial"/>
                <a:cs typeface="Arial"/>
                <a:sym typeface="Arial"/>
              </a:rPr>
              <a:t>The number of restaurants in New York is increasing day by day. Lots of students and busy professionals rely on those restaurants due to their hectic lifestyles. Online food delivery service is a great option for them. It provides them with good food from their favorite restaurants. A food aggregator company FoodHub offers access to multiple restaurants through a single smartphone app.</a:t>
            </a:r>
            <a:endParaRPr/>
          </a:p>
          <a:p>
            <a:pPr indent="0" lvl="0" marL="0" marR="0" rtl="0" algn="l">
              <a:lnSpc>
                <a:spcPct val="118736"/>
              </a:lnSpc>
              <a:spcBef>
                <a:spcPts val="630"/>
              </a:spcBef>
              <a:spcAft>
                <a:spcPts val="0"/>
              </a:spcAft>
              <a:buNone/>
            </a:pPr>
            <a:r>
              <a:rPr b="0" i="0" lang="en" sz="950" u="none" cap="none" strike="noStrike">
                <a:latin typeface="Arial"/>
                <a:ea typeface="Arial"/>
                <a:cs typeface="Arial"/>
                <a:sym typeface="Arial"/>
              </a:rPr>
              <a:t>The app allows the restaurants to receive a direct online order from a customer. The app assigns a delivery person from the company to pick up the order after it is confirmed by the restaurant. The delivery person then uses the map to reach the restaurant and waits for the food package. Once the food package is handed over to the delivery person, he/she confirms the pick-up in the app and travels to the customer's location to deliver the food. The delivery person confirms the drop-off in the app after delivering the food package to the customer. The customer can rate the order in the app. The food aggregator earns money by collecting a fixed margin of the delivery order from the restaurants.</a:t>
            </a:r>
            <a:endParaRPr/>
          </a:p>
          <a:p>
            <a:pPr indent="0" lvl="0" marL="0" marR="0" rtl="0" algn="l">
              <a:spcBef>
                <a:spcPts val="630"/>
              </a:spcBef>
              <a:spcAft>
                <a:spcPts val="0"/>
              </a:spcAft>
              <a:buNone/>
            </a:pPr>
            <a:r>
              <a:rPr b="1" i="0" lang="en" sz="1100" u="none" cap="none" strike="noStrike">
                <a:latin typeface="Arial"/>
                <a:ea typeface="Arial"/>
                <a:cs typeface="Arial"/>
                <a:sym typeface="Arial"/>
              </a:rPr>
              <a:t>Objective</a:t>
            </a:r>
            <a:endParaRPr/>
          </a:p>
          <a:p>
            <a:pPr indent="0" lvl="0" marL="0" marR="0" rtl="0" algn="l">
              <a:lnSpc>
                <a:spcPct val="118736"/>
              </a:lnSpc>
              <a:spcBef>
                <a:spcPts val="1050"/>
              </a:spcBef>
              <a:spcAft>
                <a:spcPts val="0"/>
              </a:spcAft>
              <a:buNone/>
            </a:pPr>
            <a:r>
              <a:rPr b="0" i="0" lang="en" sz="950" u="none" cap="none" strike="noStrike">
                <a:latin typeface="Arial"/>
                <a:ea typeface="Arial"/>
                <a:cs typeface="Arial"/>
                <a:sym typeface="Arial"/>
              </a:rPr>
              <a:t>The food aggregator company has stored the data of the different orders made by the registered customers in their online portal. They want to analyze the data to get a fair idea about the demand of different restaurants which will help them in enhancing their customer experience. Suppose you are hired as a Data Scientist in this company and the Data Science team has shared some of the key questions that need to be answered. Perform the data analysis to find answers to these questions that will help the company to improve the business.</a:t>
            </a:r>
            <a:endParaRPr/>
          </a:p>
          <a:p>
            <a:pPr indent="0" lvl="0" marL="0" marR="0" rtl="0" algn="l">
              <a:lnSpc>
                <a:spcPct val="211636"/>
              </a:lnSpc>
              <a:spcBef>
                <a:spcPts val="630"/>
              </a:spcBef>
              <a:spcAft>
                <a:spcPts val="0"/>
              </a:spcAft>
              <a:buNone/>
            </a:pPr>
            <a:r>
              <a:rPr b="1" i="0" lang="en" sz="1100" u="none" cap="none" strike="noStrike">
                <a:latin typeface="Arial"/>
                <a:ea typeface="Arial"/>
                <a:cs typeface="Arial"/>
                <a:sym typeface="Arial"/>
              </a:rPr>
              <a:t>Data Description</a:t>
            </a:r>
            <a:endParaRPr/>
          </a:p>
          <a:p>
            <a:pPr indent="0" lvl="0" marL="0" marR="0" rtl="0" algn="l">
              <a:lnSpc>
                <a:spcPct val="245052"/>
              </a:lnSpc>
              <a:spcBef>
                <a:spcPts val="0"/>
              </a:spcBef>
              <a:spcAft>
                <a:spcPts val="0"/>
              </a:spcAft>
              <a:buNone/>
            </a:pPr>
            <a:r>
              <a:rPr b="0" i="0" lang="en" sz="950" u="none" cap="none" strike="noStrike">
                <a:latin typeface="Arial"/>
                <a:ea typeface="Arial"/>
                <a:cs typeface="Arial"/>
                <a:sym typeface="Arial"/>
              </a:rPr>
              <a:t>The data contains the different data related to a food order. The detailed data dictionary is given below.</a:t>
            </a:r>
            <a:endParaRPr/>
          </a:p>
          <a:p>
            <a:pPr indent="0" lvl="0" marL="0" marR="0" rtl="0" algn="l">
              <a:lnSpc>
                <a:spcPct val="211636"/>
              </a:lnSpc>
              <a:spcBef>
                <a:spcPts val="0"/>
              </a:spcBef>
              <a:spcAft>
                <a:spcPts val="0"/>
              </a:spcAft>
              <a:buNone/>
            </a:pPr>
            <a:r>
              <a:rPr b="1" i="0" lang="en" sz="1100" u="none" cap="none" strike="noStrike">
                <a:latin typeface="Arial"/>
                <a:ea typeface="Arial"/>
                <a:cs typeface="Arial"/>
                <a:sym typeface="Arial"/>
              </a:rPr>
              <a:t>Data Dictionary</a:t>
            </a:r>
            <a:endParaRPr/>
          </a:p>
          <a:p>
            <a:pPr indent="0" lvl="0" marL="139700" marR="0" rtl="0" algn="just">
              <a:lnSpc>
                <a:spcPct val="118736"/>
              </a:lnSpc>
              <a:spcBef>
                <a:spcPts val="0"/>
              </a:spcBef>
              <a:spcAft>
                <a:spcPts val="0"/>
              </a:spcAft>
              <a:buNone/>
            </a:pPr>
            <a:r>
              <a:rPr b="0" i="0" lang="en" sz="950" u="none" cap="none" strike="noStrike">
                <a:latin typeface="Arial"/>
                <a:ea typeface="Arial"/>
                <a:cs typeface="Arial"/>
                <a:sym typeface="Arial"/>
              </a:rPr>
              <a:t>•    order_id: Unique ID of the order</a:t>
            </a:r>
            <a:endParaRPr/>
          </a:p>
          <a:p>
            <a:pPr indent="0" lvl="0" marL="139700" marR="0" rtl="0" algn="just">
              <a:lnSpc>
                <a:spcPct val="118736"/>
              </a:lnSpc>
              <a:spcBef>
                <a:spcPts val="0"/>
              </a:spcBef>
              <a:spcAft>
                <a:spcPts val="0"/>
              </a:spcAft>
              <a:buNone/>
            </a:pPr>
            <a:r>
              <a:rPr b="0" i="0" lang="en" sz="950" u="none" cap="none" strike="noStrike">
                <a:latin typeface="Arial"/>
                <a:ea typeface="Arial"/>
                <a:cs typeface="Arial"/>
                <a:sym typeface="Arial"/>
              </a:rPr>
              <a:t>•    customer_id: ID of the customer who ordered the food</a:t>
            </a:r>
            <a:endParaRPr/>
          </a:p>
          <a:p>
            <a:pPr indent="0" lvl="0" marL="139700" marR="0" rtl="0" algn="just">
              <a:lnSpc>
                <a:spcPct val="118736"/>
              </a:lnSpc>
              <a:spcBef>
                <a:spcPts val="0"/>
              </a:spcBef>
              <a:spcAft>
                <a:spcPts val="0"/>
              </a:spcAft>
              <a:buNone/>
            </a:pPr>
            <a:r>
              <a:rPr b="0" i="0" lang="en" sz="950" u="none" cap="none" strike="noStrike">
                <a:latin typeface="Arial"/>
                <a:ea typeface="Arial"/>
                <a:cs typeface="Arial"/>
                <a:sym typeface="Arial"/>
              </a:rPr>
              <a:t>•    restaurant_name: Name of the restaurant</a:t>
            </a:r>
            <a:endParaRPr/>
          </a:p>
          <a:p>
            <a:pPr indent="0" lvl="0" marL="139700" marR="0" rtl="0" algn="just">
              <a:lnSpc>
                <a:spcPct val="118736"/>
              </a:lnSpc>
              <a:spcBef>
                <a:spcPts val="0"/>
              </a:spcBef>
              <a:spcAft>
                <a:spcPts val="0"/>
              </a:spcAft>
              <a:buNone/>
            </a:pPr>
            <a:r>
              <a:rPr b="0" i="0" lang="en" sz="950" u="none" cap="none" strike="noStrike">
                <a:latin typeface="Arial"/>
                <a:ea typeface="Arial"/>
                <a:cs typeface="Arial"/>
                <a:sym typeface="Arial"/>
              </a:rPr>
              <a:t>•    cuisine_type: Cuisine ordered by the customer</a:t>
            </a:r>
            <a:endParaRPr/>
          </a:p>
          <a:p>
            <a:pPr indent="0" lvl="0" marL="139700" marR="0" rtl="0" algn="just">
              <a:lnSpc>
                <a:spcPct val="118736"/>
              </a:lnSpc>
              <a:spcBef>
                <a:spcPts val="0"/>
              </a:spcBef>
              <a:spcAft>
                <a:spcPts val="0"/>
              </a:spcAft>
              <a:buNone/>
            </a:pPr>
            <a:r>
              <a:rPr b="0" i="0" lang="en" sz="950" u="none" cap="none" strike="noStrike">
                <a:latin typeface="Arial"/>
                <a:ea typeface="Arial"/>
                <a:cs typeface="Arial"/>
                <a:sym typeface="Arial"/>
              </a:rPr>
              <a:t>•    cost_of_the_order: Cost of the order</a:t>
            </a:r>
            <a:endParaRPr/>
          </a:p>
          <a:p>
            <a:pPr indent="-127000" lvl="0" marL="266700" marR="0" rtl="0" algn="l">
              <a:lnSpc>
                <a:spcPct val="118736"/>
              </a:lnSpc>
              <a:spcBef>
                <a:spcPts val="0"/>
              </a:spcBef>
              <a:spcAft>
                <a:spcPts val="0"/>
              </a:spcAft>
              <a:buNone/>
            </a:pPr>
            <a:r>
              <a:rPr b="0" i="0" lang="en" sz="950" u="none" cap="none" strike="noStrike">
                <a:latin typeface="Arial"/>
                <a:ea typeface="Arial"/>
                <a:cs typeface="Arial"/>
                <a:sym typeface="Arial"/>
              </a:rPr>
              <a:t>•    day_of_the_week: Indicates whether the order is placed on a weekday or weekend (The weekday is from Monday to Friday and the weekend is Saturday and Sunday)</a:t>
            </a:r>
            <a:endParaRPr/>
          </a:p>
          <a:p>
            <a:pPr indent="0" lvl="0" marL="139700" marR="0" rtl="0" algn="just">
              <a:lnSpc>
                <a:spcPct val="118736"/>
              </a:lnSpc>
              <a:spcBef>
                <a:spcPts val="0"/>
              </a:spcBef>
              <a:spcAft>
                <a:spcPts val="0"/>
              </a:spcAft>
              <a:buNone/>
            </a:pPr>
            <a:r>
              <a:rPr b="0" i="0" lang="en" sz="950" u="none" cap="none" strike="noStrike">
                <a:latin typeface="Arial"/>
                <a:ea typeface="Arial"/>
                <a:cs typeface="Arial"/>
                <a:sym typeface="Arial"/>
              </a:rPr>
              <a:t>•    rating: Rating given by the customer out of 5</a:t>
            </a:r>
            <a:endParaRPr/>
          </a:p>
          <a:p>
            <a:pPr indent="-127000" lvl="0" marL="266700" marR="0" rtl="0" algn="l">
              <a:lnSpc>
                <a:spcPct val="118736"/>
              </a:lnSpc>
              <a:spcBef>
                <a:spcPts val="0"/>
              </a:spcBef>
              <a:spcAft>
                <a:spcPts val="0"/>
              </a:spcAft>
              <a:buNone/>
            </a:pPr>
            <a:r>
              <a:rPr b="0" i="0" lang="en" sz="950" u="none" cap="none" strike="noStrike">
                <a:latin typeface="Arial"/>
                <a:ea typeface="Arial"/>
                <a:cs typeface="Arial"/>
                <a:sym typeface="Arial"/>
              </a:rPr>
              <a:t>•    food_preparation_time: Time (in minutes) taken by the restaurant to prepare the food. This is calculated by taking the difference between the timestamps of the restaurant's order confirmation and the delivery person's pick-up confirmation.</a:t>
            </a:r>
            <a:endParaRPr/>
          </a:p>
          <a:p>
            <a:pPr indent="-127000" lvl="0" marL="266700" marR="0" rtl="0" algn="l">
              <a:lnSpc>
                <a:spcPct val="118736"/>
              </a:lnSpc>
              <a:spcBef>
                <a:spcPts val="0"/>
              </a:spcBef>
              <a:spcAft>
                <a:spcPts val="0"/>
              </a:spcAft>
              <a:buNone/>
            </a:pPr>
            <a:r>
              <a:rPr b="0" i="0" lang="en" sz="950" u="none" cap="none" strike="noStrike">
                <a:latin typeface="Arial"/>
                <a:ea typeface="Arial"/>
                <a:cs typeface="Arial"/>
                <a:sym typeface="Arial"/>
              </a:rPr>
              <a:t>•    delivery_time: Time (in minutes) taken by the delivery person to deliver the food package. This is calculated by taking the difference between the timestamps of the delivery person's pick-up confirmation and drop-off information</a:t>
            </a:r>
            <a:endParaRPr/>
          </a:p>
          <a:p>
            <a:pPr indent="0" lvl="0" marL="0" marR="0" rtl="0" algn="l">
              <a:spcBef>
                <a:spcPts val="1050"/>
              </a:spcBef>
              <a:spcAft>
                <a:spcPts val="0"/>
              </a:spcAft>
              <a:buNone/>
            </a:pPr>
            <a:r>
              <a:rPr b="1" i="0" lang="en" sz="1100" u="none" cap="none" strike="noStrike">
                <a:latin typeface="Arial"/>
                <a:ea typeface="Arial"/>
                <a:cs typeface="Arial"/>
                <a:sym typeface="Arial"/>
              </a:rPr>
              <a:t>Let us start by importing the required libraries</a:t>
            </a:r>
            <a:endParaRPr/>
          </a:p>
          <a:p>
            <a:pPr indent="0" lvl="0" marL="0" marR="0" rtl="0" algn="l">
              <a:lnSpc>
                <a:spcPct val="118736"/>
              </a:lnSpc>
              <a:spcBef>
                <a:spcPts val="630"/>
              </a:spcBef>
              <a:spcAft>
                <a:spcPts val="0"/>
              </a:spcAft>
              <a:buNone/>
            </a:pPr>
            <a:r>
              <a:rPr b="0" i="0" lang="en" sz="950" u="none" cap="none" strike="noStrike">
                <a:latin typeface="Arial"/>
                <a:ea typeface="Arial"/>
                <a:cs typeface="Arial"/>
                <a:sym typeface="Arial"/>
              </a:rPr>
              <a:t>In [1]:</a:t>
            </a:r>
            <a:endParaRPr/>
          </a:p>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Installing the libraries with the specified version.</a:t>
            </a:r>
            <a:endParaRPr/>
          </a:p>
          <a:p>
            <a:pPr indent="0" lvl="0" marL="0" marR="0" rtl="0" algn="l">
              <a:lnSpc>
                <a:spcPct val="118736"/>
              </a:lnSpc>
              <a:spcBef>
                <a:spcPts val="0"/>
              </a:spcBef>
              <a:spcAft>
                <a:spcPts val="0"/>
              </a:spcAft>
              <a:buNone/>
            </a:pP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pip install numpy</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1.25.2 pandas</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1.5.3 matplotlib</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3.7.1 seaborn</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0.13.1 -q --user</a:t>
            </a:r>
            <a:endParaRPr/>
          </a:p>
          <a:p>
            <a:pPr indent="0" lvl="0" marL="139700" marR="0" rtl="0" algn="just">
              <a:lnSpc>
                <a:spcPct val="128000"/>
              </a:lnSpc>
              <a:spcBef>
                <a:spcPts val="0"/>
              </a:spcBef>
              <a:spcAft>
                <a:spcPts val="0"/>
              </a:spcAft>
              <a:buNone/>
            </a:pPr>
            <a:r>
              <a:rPr b="0" i="0" lang="en" sz="750" u="none" cap="none" strike="noStrike">
                <a:solidFill>
                  <a:srgbClr val="2D2D2D"/>
                </a:solidFill>
                <a:latin typeface="Arial"/>
                <a:ea typeface="Arial"/>
                <a:cs typeface="Arial"/>
                <a:sym typeface="Arial"/>
              </a:rPr>
              <a:t>-</a:t>
            </a:r>
            <a:r>
              <a:rPr b="0" i="0" lang="en" sz="750" u="none" cap="none" strike="noStrike">
                <a:solidFill>
                  <a:srgbClr val="00A250"/>
                </a:solidFill>
                <a:latin typeface="Arial"/>
                <a:ea typeface="Arial"/>
                <a:cs typeface="Arial"/>
                <a:sym typeface="Arial"/>
              </a:rPr>
              <a:t>10.8/10.8 MB </a:t>
            </a:r>
            <a:r>
              <a:rPr b="0" i="0" lang="en" sz="750" u="none" cap="none" strike="noStrike">
                <a:solidFill>
                  <a:srgbClr val="E75C58"/>
                </a:solidFill>
                <a:latin typeface="Arial"/>
                <a:ea typeface="Arial"/>
                <a:cs typeface="Arial"/>
                <a:sym typeface="Arial"/>
              </a:rPr>
              <a:t>60.0 MB/s </a:t>
            </a:r>
            <a:r>
              <a:rPr b="0" i="0" lang="en" sz="750" u="none" cap="none" strike="noStrike">
                <a:latin typeface="Arial"/>
                <a:ea typeface="Arial"/>
                <a:cs typeface="Arial"/>
                <a:sym typeface="Arial"/>
              </a:rPr>
              <a:t>eta </a:t>
            </a:r>
            <a:r>
              <a:rPr b="0" i="0" lang="en" sz="750" u="none" cap="none" strike="noStrike">
                <a:solidFill>
                  <a:srgbClr val="60C6C8"/>
                </a:solidFill>
                <a:latin typeface="Arial"/>
                <a:ea typeface="Arial"/>
                <a:cs typeface="Arial"/>
                <a:sym typeface="Arial"/>
              </a:rPr>
              <a:t>0:00:00</a:t>
            </a:r>
            <a:endParaRPr/>
          </a:p>
          <a:p>
            <a:pPr indent="0" lvl="0" marL="0" marR="3683000" rtl="0" algn="l">
              <a:lnSpc>
                <a:spcPct val="128000"/>
              </a:lnSpc>
              <a:spcBef>
                <a:spcPts val="0"/>
              </a:spcBef>
              <a:spcAft>
                <a:spcPts val="0"/>
              </a:spcAft>
              <a:buNone/>
            </a:pPr>
            <a:r>
              <a:rPr b="0" i="0" lang="en" sz="750" u="none" cap="none" strike="noStrike">
                <a:latin typeface="Arial"/>
                <a:ea typeface="Arial"/>
                <a:cs typeface="Arial"/>
                <a:sym typeface="Arial"/>
              </a:rPr>
              <a:t>Installing build dependencies ... done </a:t>
            </a:r>
            <a:r>
              <a:rPr b="1" i="0" lang="en" sz="750" u="none" cap="none" strike="noStrike">
                <a:solidFill>
                  <a:srgbClr val="B22B31"/>
                </a:solidFill>
                <a:latin typeface="Arial"/>
                <a:ea typeface="Arial"/>
                <a:cs typeface="Arial"/>
                <a:sym typeface="Arial"/>
              </a:rPr>
              <a:t>error</a:t>
            </a:r>
            <a:r>
              <a:rPr b="0" i="0" lang="en" sz="750" u="none" cap="none" strike="noStrike">
                <a:latin typeface="Arial"/>
                <a:ea typeface="Arial"/>
                <a:cs typeface="Arial"/>
                <a:sym typeface="Arial"/>
              </a:rPr>
              <a:t>: </a:t>
            </a:r>
            <a:r>
              <a:rPr b="1" i="0" lang="en" sz="750" u="none" cap="none" strike="noStrike">
                <a:latin typeface="Arial"/>
                <a:ea typeface="Arial"/>
                <a:cs typeface="Arial"/>
                <a:sym typeface="Arial"/>
              </a:rPr>
              <a:t>subprocess-exited-with-error</a:t>
            </a:r>
            <a:endParaRPr/>
          </a:p>
          <a:p>
            <a:pPr indent="0" lvl="0" marL="0" marR="0" rtl="0" algn="l">
              <a:lnSpc>
                <a:spcPct val="128000"/>
              </a:lnSpc>
              <a:spcBef>
                <a:spcPts val="630"/>
              </a:spcBef>
              <a:spcAft>
                <a:spcPts val="0"/>
              </a:spcAft>
              <a:buNone/>
            </a:pPr>
            <a:r>
              <a:rPr b="0" i="0" lang="en" sz="750" u="none" cap="none" strike="noStrike">
                <a:solidFill>
                  <a:srgbClr val="E75C58"/>
                </a:solidFill>
                <a:latin typeface="Arial"/>
                <a:ea typeface="Arial"/>
                <a:cs typeface="Arial"/>
                <a:sym typeface="Arial"/>
              </a:rPr>
              <a:t>x </a:t>
            </a:r>
            <a:r>
              <a:rPr b="0" i="0" lang="en" sz="750" u="none" cap="none" strike="noStrike">
                <a:solidFill>
                  <a:srgbClr val="00A250"/>
                </a:solidFill>
                <a:latin typeface="Arial"/>
                <a:ea typeface="Arial"/>
                <a:cs typeface="Arial"/>
                <a:sym typeface="Arial"/>
              </a:rPr>
              <a:t>Getting requirements to build wheel </a:t>
            </a:r>
            <a:r>
              <a:rPr b="0" i="0" lang="en" sz="750" u="none" cap="none" strike="noStrike">
                <a:latin typeface="Arial"/>
                <a:ea typeface="Arial"/>
                <a:cs typeface="Arial"/>
                <a:sym typeface="Arial"/>
              </a:rPr>
              <a:t>did not run successfully.</a:t>
            </a:r>
            <a:endParaRPr/>
          </a:p>
          <a:p>
            <a:pPr indent="0" lvl="0" marL="139700" marR="0" rtl="0" algn="just">
              <a:lnSpc>
                <a:spcPct val="128000"/>
              </a:lnSpc>
              <a:spcBef>
                <a:spcPts val="0"/>
              </a:spcBef>
              <a:spcAft>
                <a:spcPts val="0"/>
              </a:spcAft>
              <a:buNone/>
            </a:pPr>
            <a:r>
              <a:rPr b="0" i="0" lang="en" sz="750" u="none" cap="none" strike="noStrike">
                <a:solidFill>
                  <a:srgbClr val="E75C58"/>
                </a:solidFill>
                <a:latin typeface="Arial"/>
                <a:ea typeface="Arial"/>
                <a:cs typeface="Arial"/>
                <a:sym typeface="Arial"/>
              </a:rPr>
              <a:t>| </a:t>
            </a:r>
            <a:r>
              <a:rPr b="0" i="0" lang="en" sz="750" u="none" cap="none" strike="noStrike">
                <a:latin typeface="Arial"/>
                <a:ea typeface="Arial"/>
                <a:cs typeface="Arial"/>
                <a:sym typeface="Arial"/>
              </a:rPr>
              <a:t>exit code: </a:t>
            </a:r>
            <a:r>
              <a:rPr b="1" i="0" lang="en" sz="750" u="none" cap="none" strike="noStrike">
                <a:solidFill>
                  <a:srgbClr val="258F8F"/>
                </a:solidFill>
                <a:latin typeface="Arial"/>
                <a:ea typeface="Arial"/>
                <a:cs typeface="Arial"/>
                <a:sym typeface="Arial"/>
              </a:rPr>
              <a:t>1</a:t>
            </a:r>
            <a:endParaRPr/>
          </a:p>
          <a:p>
            <a:pPr indent="0" lvl="0" marL="139700" marR="0" rtl="0" algn="just">
              <a:lnSpc>
                <a:spcPct val="128000"/>
              </a:lnSpc>
              <a:spcBef>
                <a:spcPts val="0"/>
              </a:spcBef>
              <a:spcAft>
                <a:spcPts val="0"/>
              </a:spcAft>
              <a:buNone/>
            </a:pPr>
            <a:r>
              <a:rPr b="0" i="0" lang="en" sz="750" u="none" cap="none" strike="noStrike">
                <a:solidFill>
                  <a:srgbClr val="E75C58"/>
                </a:solidFill>
                <a:latin typeface="Arial"/>
                <a:ea typeface="Arial"/>
                <a:cs typeface="Arial"/>
                <a:sym typeface="Arial"/>
              </a:rPr>
              <a:t>—&gt; </a:t>
            </a:r>
            <a:r>
              <a:rPr b="0" i="0" lang="en" sz="750" u="none" cap="none" strike="noStrike">
                <a:latin typeface="Arial"/>
                <a:ea typeface="Arial"/>
                <a:cs typeface="Arial"/>
                <a:sym typeface="Arial"/>
              </a:rPr>
              <a:t>See above for output.</a:t>
            </a:r>
            <a:endParaRPr/>
          </a:p>
          <a:p>
            <a:pPr indent="0" lvl="0" marL="0" marR="0" rtl="0" algn="l">
              <a:lnSpc>
                <a:spcPct val="128000"/>
              </a:lnSpc>
              <a:spcBef>
                <a:spcPts val="630"/>
              </a:spcBef>
              <a:spcAft>
                <a:spcPts val="0"/>
              </a:spcAft>
              <a:buNone/>
            </a:pPr>
            <a:r>
              <a:rPr b="1" i="0" lang="en" sz="750" u="none" cap="none" strike="noStrike">
                <a:solidFill>
                  <a:srgbClr val="A03196"/>
                </a:solidFill>
                <a:latin typeface="Arial"/>
                <a:ea typeface="Arial"/>
                <a:cs typeface="Arial"/>
                <a:sym typeface="Arial"/>
              </a:rPr>
              <a:t>note</a:t>
            </a:r>
            <a:r>
              <a:rPr b="0" i="0" lang="en" sz="750" u="none" cap="none" strike="noStrike">
                <a:latin typeface="Arial"/>
                <a:ea typeface="Arial"/>
                <a:cs typeface="Arial"/>
                <a:sym typeface="Arial"/>
              </a:rPr>
              <a:t>: This error originates from a subprocess, and is likely not a problem with pip.</a:t>
            </a:r>
            <a:endParaRPr/>
          </a:p>
          <a:p>
            <a:pPr indent="0" lvl="0" marL="0" marR="3683000" rtl="0" algn="l">
              <a:lnSpc>
                <a:spcPct val="128000"/>
              </a:lnSpc>
              <a:spcBef>
                <a:spcPts val="0"/>
              </a:spcBef>
              <a:spcAft>
                <a:spcPts val="0"/>
              </a:spcAft>
              <a:buNone/>
            </a:pPr>
            <a:r>
              <a:rPr b="0" i="0" lang="en" sz="750" u="none" cap="none" strike="noStrike">
                <a:latin typeface="Arial"/>
                <a:ea typeface="Arial"/>
                <a:cs typeface="Arial"/>
                <a:sym typeface="Arial"/>
              </a:rPr>
              <a:t>Getting requirements to build wheel ... error </a:t>
            </a:r>
            <a:r>
              <a:rPr b="1" i="0" lang="en" sz="750" u="none" cap="none" strike="noStrike">
                <a:solidFill>
                  <a:srgbClr val="B22B31"/>
                </a:solidFill>
                <a:latin typeface="Arial"/>
                <a:ea typeface="Arial"/>
                <a:cs typeface="Arial"/>
                <a:sym typeface="Arial"/>
              </a:rPr>
              <a:t>error</a:t>
            </a:r>
            <a:r>
              <a:rPr b="0" i="0" lang="en" sz="750" u="none" cap="none" strike="noStrike">
                <a:latin typeface="Arial"/>
                <a:ea typeface="Arial"/>
                <a:cs typeface="Arial"/>
                <a:sym typeface="Arial"/>
              </a:rPr>
              <a:t>: </a:t>
            </a:r>
            <a:r>
              <a:rPr b="1" i="0" lang="en" sz="750" u="none" cap="none" strike="noStrike">
                <a:latin typeface="Arial"/>
                <a:ea typeface="Arial"/>
                <a:cs typeface="Arial"/>
                <a:sym typeface="Arial"/>
              </a:rPr>
              <a:t>subprocess-exited-with-error</a:t>
            </a:r>
            <a:endParaRPr/>
          </a:p>
          <a:p>
            <a:pPr indent="0" lvl="0" marL="0" marR="0" rtl="0" algn="l">
              <a:lnSpc>
                <a:spcPct val="128000"/>
              </a:lnSpc>
              <a:spcBef>
                <a:spcPts val="630"/>
              </a:spcBef>
              <a:spcAft>
                <a:spcPts val="0"/>
              </a:spcAft>
              <a:buNone/>
            </a:pPr>
            <a:r>
              <a:rPr b="0" i="0" lang="en" sz="750" u="none" cap="none" strike="noStrike">
                <a:solidFill>
                  <a:srgbClr val="E75C58"/>
                </a:solidFill>
                <a:latin typeface="Arial"/>
                <a:ea typeface="Arial"/>
                <a:cs typeface="Arial"/>
                <a:sym typeface="Arial"/>
              </a:rPr>
              <a:t>x </a:t>
            </a:r>
            <a:r>
              <a:rPr b="0" i="0" lang="en" sz="750" u="none" cap="none" strike="noStrike">
                <a:solidFill>
                  <a:srgbClr val="00A250"/>
                </a:solidFill>
                <a:latin typeface="Arial"/>
                <a:ea typeface="Arial"/>
                <a:cs typeface="Arial"/>
                <a:sym typeface="Arial"/>
              </a:rPr>
              <a:t>Getting requirements to build wheel </a:t>
            </a:r>
            <a:r>
              <a:rPr b="0" i="0" lang="en" sz="750" u="none" cap="none" strike="noStrike">
                <a:latin typeface="Arial"/>
                <a:ea typeface="Arial"/>
                <a:cs typeface="Arial"/>
                <a:sym typeface="Arial"/>
              </a:rPr>
              <a:t>did not run successfully.</a:t>
            </a:r>
            <a:endParaRPr/>
          </a:p>
          <a:p>
            <a:pPr indent="0" lvl="0" marL="0" marR="0" rtl="0" algn="l">
              <a:lnSpc>
                <a:spcPct val="128000"/>
              </a:lnSpc>
              <a:spcBef>
                <a:spcPts val="0"/>
              </a:spcBef>
              <a:spcAft>
                <a:spcPts val="0"/>
              </a:spcAft>
              <a:buNone/>
            </a:pPr>
            <a:r>
              <a:rPr b="0" i="0" lang="en" sz="750" u="none" cap="none" strike="noStrike">
                <a:solidFill>
                  <a:srgbClr val="E75C58"/>
                </a:solidFill>
                <a:latin typeface="Arial"/>
                <a:ea typeface="Arial"/>
                <a:cs typeface="Arial"/>
                <a:sym typeface="Arial"/>
              </a:rPr>
              <a:t>| </a:t>
            </a:r>
            <a:r>
              <a:rPr b="0" i="0" lang="en" sz="750" u="none" cap="none" strike="noStrike">
                <a:latin typeface="Arial"/>
                <a:ea typeface="Arial"/>
                <a:cs typeface="Arial"/>
                <a:sym typeface="Arial"/>
              </a:rPr>
              <a:t>exit code: </a:t>
            </a:r>
            <a:r>
              <a:rPr b="1" i="0" lang="en" sz="750" u="none" cap="none" strike="noStrike">
                <a:solidFill>
                  <a:srgbClr val="258F8F"/>
                </a:solidFill>
                <a:latin typeface="Arial"/>
                <a:ea typeface="Arial"/>
                <a:cs typeface="Arial"/>
                <a:sym typeface="Arial"/>
              </a:rPr>
              <a:t>1</a:t>
            </a:r>
            <a:endParaRPr/>
          </a:p>
          <a:p>
            <a:pPr indent="0" lvl="0" marL="0" marR="0" rtl="0" algn="l">
              <a:lnSpc>
                <a:spcPct val="128000"/>
              </a:lnSpc>
              <a:spcBef>
                <a:spcPts val="0"/>
              </a:spcBef>
              <a:spcAft>
                <a:spcPts val="0"/>
              </a:spcAft>
              <a:buNone/>
            </a:pPr>
            <a:r>
              <a:rPr b="0" i="0" lang="en" sz="750" u="none" cap="none" strike="noStrike">
                <a:solidFill>
                  <a:srgbClr val="E75C58"/>
                </a:solidFill>
                <a:latin typeface="Arial"/>
                <a:ea typeface="Arial"/>
                <a:cs typeface="Arial"/>
                <a:sym typeface="Arial"/>
              </a:rPr>
              <a:t>—&gt; </a:t>
            </a:r>
            <a:r>
              <a:rPr b="0" i="0" lang="en" sz="750" u="none" cap="none" strike="noStrike">
                <a:latin typeface="Arial"/>
                <a:ea typeface="Arial"/>
                <a:cs typeface="Arial"/>
                <a:sym typeface="Arial"/>
              </a:rPr>
              <a:t>See above for output.</a:t>
            </a:r>
            <a:endParaRPr/>
          </a:p>
          <a:p>
            <a:pPr indent="0" lvl="0" marL="0" marR="0" rtl="0" algn="l">
              <a:spcBef>
                <a:spcPts val="630"/>
              </a:spcBef>
              <a:spcAft>
                <a:spcPts val="0"/>
              </a:spcAft>
              <a:buNone/>
            </a:pPr>
            <a:r>
              <a:rPr b="1" i="0" lang="en" sz="750" u="none" cap="none" strike="noStrike">
                <a:solidFill>
                  <a:srgbClr val="A03196"/>
                </a:solidFill>
                <a:latin typeface="Arial"/>
                <a:ea typeface="Arial"/>
                <a:cs typeface="Arial"/>
                <a:sym typeface="Arial"/>
              </a:rPr>
              <a:t>note</a:t>
            </a:r>
            <a:r>
              <a:rPr b="0" i="0" lang="en" sz="750" u="none" cap="none" strike="noStrike">
                <a:latin typeface="Arial"/>
                <a:ea typeface="Arial"/>
                <a:cs typeface="Arial"/>
                <a:sym typeface="Arial"/>
              </a:rPr>
              <a:t>: This error originates from a subprocess, and is likely not a problem with pip.</a:t>
            </a:r>
            <a:endParaRPr/>
          </a:p>
          <a:p>
            <a:pPr indent="0" lvl="0" marL="0" marR="0" rtl="0" algn="l">
              <a:spcBef>
                <a:spcPts val="0"/>
              </a:spcBef>
              <a:spcAft>
                <a:spcPts val="0"/>
              </a:spcAft>
              <a:buNone/>
            </a:pPr>
            <a:r>
              <a:rPr b="1" i="0" lang="en" sz="850" u="none" cap="none" strike="noStrike">
                <a:latin typeface="Arial"/>
                <a:ea typeface="Arial"/>
                <a:cs typeface="Arial"/>
                <a:sym typeface="Arial"/>
              </a:rPr>
              <a:t>Note</a:t>
            </a:r>
            <a:r>
              <a:rPr b="0" i="0" lang="en" sz="950" u="none" cap="none" strike="noStrike">
                <a:latin typeface="Arial"/>
                <a:ea typeface="Arial"/>
                <a:cs typeface="Arial"/>
                <a:sym typeface="Arial"/>
              </a:rPr>
              <a:t>:</a:t>
            </a:r>
            <a:endParaRPr/>
          </a:p>
          <a:p>
            <a:pPr indent="-127000" lvl="0" marL="266700" marR="0" rtl="0" algn="l">
              <a:lnSpc>
                <a:spcPct val="118736"/>
              </a:lnSpc>
              <a:spcBef>
                <a:spcPts val="630"/>
              </a:spcBef>
              <a:spcAft>
                <a:spcPts val="0"/>
              </a:spcAft>
              <a:buNone/>
            </a:pPr>
            <a:r>
              <a:rPr b="0" i="0" lang="en" sz="950" u="none" cap="none" strike="noStrike">
                <a:latin typeface="Arial"/>
                <a:ea typeface="Arial"/>
                <a:cs typeface="Arial"/>
                <a:sym typeface="Arial"/>
              </a:rPr>
              <a:t>•    After running the above cell, kindly restart the runtime (for Google Colab) or notebook kernel (for Jupyter Notebook), and run all cells sequentially from the next cell.</a:t>
            </a:r>
            <a:endParaRPr/>
          </a:p>
          <a:p>
            <a:pPr indent="-127000" lvl="0" marL="266700" marR="0" rtl="0" algn="l">
              <a:lnSpc>
                <a:spcPct val="118736"/>
              </a:lnSpc>
              <a:spcBef>
                <a:spcPts val="0"/>
              </a:spcBef>
              <a:spcAft>
                <a:spcPts val="0"/>
              </a:spcAft>
              <a:buNone/>
            </a:pPr>
            <a:r>
              <a:rPr b="0" i="0" lang="en" sz="950" u="none" cap="none" strike="noStrike">
                <a:latin typeface="Arial"/>
                <a:ea typeface="Arial"/>
                <a:cs typeface="Arial"/>
                <a:sym typeface="Arial"/>
              </a:rPr>
              <a:t>•    On executing the above line of code, you might see a warning regarding package dependencies. This error message can be ignored as the above code ensures that all necessary libraries and their dependencies are maintained to successfully execute the code in </a:t>
            </a:r>
            <a:r>
              <a:rPr b="1" i="1" lang="en" sz="950" u="none" cap="none" strike="noStrike">
                <a:latin typeface="Arial"/>
                <a:ea typeface="Arial"/>
                <a:cs typeface="Arial"/>
                <a:sym typeface="Arial"/>
              </a:rPr>
              <a:t>this notebook.</a:t>
            </a:r>
            <a:endParaRPr/>
          </a:p>
        </p:txBody>
      </p:sp>
      <p:sp>
        <p:nvSpPr>
          <p:cNvPr id="373" name="Google Shape;373;g377b8bda5b4_2_2"/>
          <p:cNvSpPr/>
          <p:nvPr/>
        </p:nvSpPr>
        <p:spPr>
          <a:xfrm>
            <a:off x="66395" y="5018876"/>
            <a:ext cx="390991" cy="718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In [2]:</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g377b8bda5b4_2_9"/>
          <p:cNvSpPr/>
          <p:nvPr/>
        </p:nvSpPr>
        <p:spPr>
          <a:xfrm>
            <a:off x="55329" y="0"/>
            <a:ext cx="7085786" cy="1867966"/>
          </a:xfrm>
          <a:prstGeom prst="rect">
            <a:avLst/>
          </a:prstGeom>
          <a:noFill/>
          <a:ln>
            <a:noFill/>
          </a:ln>
        </p:spPr>
        <p:txBody>
          <a:bodyPr anchorCtr="0" anchor="t" bIns="0" lIns="0" spcFirstLastPara="1" rIns="0" wrap="square" tIns="0">
            <a:noAutofit/>
          </a:bodyPr>
          <a:lstStyle/>
          <a:p>
            <a:pPr indent="0" lvl="0" marL="0" marR="3124708" rtl="0" algn="l">
              <a:lnSpc>
                <a:spcPct val="118736"/>
              </a:lnSpc>
              <a:spcBef>
                <a:spcPts val="0"/>
              </a:spcBef>
              <a:spcAft>
                <a:spcPts val="0"/>
              </a:spcAft>
              <a:buNone/>
            </a:pPr>
            <a:r>
              <a:rPr b="0" i="1" lang="en" sz="950" u="none" cap="none" strike="noStrike">
                <a:latin typeface="Arial"/>
                <a:ea typeface="Arial"/>
                <a:cs typeface="Arial"/>
                <a:sym typeface="Arial"/>
              </a:rPr>
              <a:t>#    import libraries for data manipulation </a:t>
            </a:r>
            <a:r>
              <a:rPr b="1" i="0" lang="en" sz="850" u="none" cap="none" strike="noStrike">
                <a:latin typeface="Arial"/>
                <a:ea typeface="Arial"/>
                <a:cs typeface="Arial"/>
                <a:sym typeface="Arial"/>
              </a:rPr>
              <a:t>import </a:t>
            </a:r>
            <a:r>
              <a:rPr b="0" i="0" lang="en" sz="950" u="none" cap="none" strike="noStrike">
                <a:latin typeface="Arial"/>
                <a:ea typeface="Arial"/>
                <a:cs typeface="Arial"/>
                <a:sym typeface="Arial"/>
              </a:rPr>
              <a:t>numpy </a:t>
            </a:r>
            <a:r>
              <a:rPr b="1" i="0" lang="en" sz="850" u="none" cap="none" strike="noStrike">
                <a:latin typeface="Arial"/>
                <a:ea typeface="Arial"/>
                <a:cs typeface="Arial"/>
                <a:sym typeface="Arial"/>
              </a:rPr>
              <a:t>as </a:t>
            </a:r>
            <a:r>
              <a:rPr b="0" i="0" lang="en" sz="950" u="none" cap="none" strike="noStrike">
                <a:latin typeface="Arial"/>
                <a:ea typeface="Arial"/>
                <a:cs typeface="Arial"/>
                <a:sym typeface="Arial"/>
              </a:rPr>
              <a:t>np</a:t>
            </a:r>
            <a:endParaRPr/>
          </a:p>
          <a:p>
            <a:pPr indent="0" lvl="0" marL="0" marR="0" rtl="0" algn="l">
              <a:lnSpc>
                <a:spcPct val="118736"/>
              </a:lnSpc>
              <a:spcBef>
                <a:spcPts val="0"/>
              </a:spcBef>
              <a:spcAft>
                <a:spcPts val="0"/>
              </a:spcAft>
              <a:buNone/>
            </a:pPr>
            <a:r>
              <a:rPr b="1" i="0" lang="en" sz="850" u="none" cap="none" strike="noStrike">
                <a:latin typeface="Arial"/>
                <a:ea typeface="Arial"/>
                <a:cs typeface="Arial"/>
                <a:sym typeface="Arial"/>
              </a:rPr>
              <a:t>import </a:t>
            </a:r>
            <a:r>
              <a:rPr b="0" i="0" lang="en" sz="950" u="none" cap="none" strike="noStrike">
                <a:latin typeface="Arial"/>
                <a:ea typeface="Arial"/>
                <a:cs typeface="Arial"/>
                <a:sym typeface="Arial"/>
              </a:rPr>
              <a:t>pandas </a:t>
            </a:r>
            <a:r>
              <a:rPr b="1" i="0" lang="en" sz="850" u="none" cap="none" strike="noStrike">
                <a:latin typeface="Arial"/>
                <a:ea typeface="Arial"/>
                <a:cs typeface="Arial"/>
                <a:sym typeface="Arial"/>
              </a:rPr>
              <a:t>as </a:t>
            </a:r>
            <a:r>
              <a:rPr b="0" i="0" lang="en" sz="950" u="none" cap="none" strike="noStrike">
                <a:latin typeface="Arial"/>
                <a:ea typeface="Arial"/>
                <a:cs typeface="Arial"/>
                <a:sym typeface="Arial"/>
              </a:rPr>
              <a:t>pd</a:t>
            </a:r>
            <a:endParaRPr/>
          </a:p>
          <a:p>
            <a:pPr indent="0" lvl="0" marL="0" marR="3124708" rtl="0" algn="l">
              <a:lnSpc>
                <a:spcPct val="118736"/>
              </a:lnSpc>
              <a:spcBef>
                <a:spcPts val="630"/>
              </a:spcBef>
              <a:spcAft>
                <a:spcPts val="0"/>
              </a:spcAft>
              <a:buNone/>
            </a:pPr>
            <a:r>
              <a:rPr b="0" i="1" lang="en" sz="950" u="none" cap="none" strike="noStrike">
                <a:latin typeface="Arial"/>
                <a:ea typeface="Arial"/>
                <a:cs typeface="Arial"/>
                <a:sym typeface="Arial"/>
              </a:rPr>
              <a:t>#    import libraries for data visualization </a:t>
            </a:r>
            <a:r>
              <a:rPr b="1" i="0" lang="en" sz="850" u="none" cap="none" strike="noStrike">
                <a:latin typeface="Arial"/>
                <a:ea typeface="Arial"/>
                <a:cs typeface="Arial"/>
                <a:sym typeface="Arial"/>
              </a:rPr>
              <a:t>import </a:t>
            </a:r>
            <a:r>
              <a:rPr b="0" i="0" lang="en" sz="950" u="none" cap="none" strike="noStrike">
                <a:latin typeface="Arial"/>
                <a:ea typeface="Arial"/>
                <a:cs typeface="Arial"/>
                <a:sym typeface="Arial"/>
              </a:rPr>
              <a:t>matplotlib.pyplot </a:t>
            </a:r>
            <a:r>
              <a:rPr b="1" i="0" lang="en" sz="850" u="none" cap="none" strike="noStrike">
                <a:latin typeface="Arial"/>
                <a:ea typeface="Arial"/>
                <a:cs typeface="Arial"/>
                <a:sym typeface="Arial"/>
              </a:rPr>
              <a:t>as </a:t>
            </a:r>
            <a:r>
              <a:rPr b="0" i="0" lang="en" sz="950" u="none" cap="none" strike="noStrike">
                <a:latin typeface="Arial"/>
                <a:ea typeface="Arial"/>
                <a:cs typeface="Arial"/>
                <a:sym typeface="Arial"/>
              </a:rPr>
              <a:t>plt </a:t>
            </a:r>
            <a:r>
              <a:rPr b="1" i="0" lang="en" sz="850" u="none" cap="none" strike="noStrike">
                <a:latin typeface="Arial"/>
                <a:ea typeface="Arial"/>
                <a:cs typeface="Arial"/>
                <a:sym typeface="Arial"/>
              </a:rPr>
              <a:t>import </a:t>
            </a:r>
            <a:r>
              <a:rPr b="0" i="0" lang="en" sz="950" u="none" cap="none" strike="noStrike">
                <a:latin typeface="Arial"/>
                <a:ea typeface="Arial"/>
                <a:cs typeface="Arial"/>
                <a:sym typeface="Arial"/>
              </a:rPr>
              <a:t>seaborn </a:t>
            </a:r>
            <a:r>
              <a:rPr b="1" i="0" lang="en" sz="850" u="none" cap="none" strike="noStrike">
                <a:latin typeface="Arial"/>
                <a:ea typeface="Arial"/>
                <a:cs typeface="Arial"/>
                <a:sym typeface="Arial"/>
              </a:rPr>
              <a:t>as </a:t>
            </a:r>
            <a:r>
              <a:rPr b="0" i="0" lang="en" sz="950" u="none" cap="none" strike="noStrike">
                <a:latin typeface="Arial"/>
                <a:ea typeface="Arial"/>
                <a:cs typeface="Arial"/>
                <a:sym typeface="Arial"/>
              </a:rPr>
              <a:t>sns</a:t>
            </a:r>
            <a:endParaRPr/>
          </a:p>
          <a:p>
            <a:pPr indent="0" lvl="0" marL="0" marR="0" rtl="0" algn="l">
              <a:spcBef>
                <a:spcPts val="1260"/>
              </a:spcBef>
              <a:spcAft>
                <a:spcPts val="0"/>
              </a:spcAft>
              <a:buNone/>
            </a:pPr>
            <a:r>
              <a:rPr b="1" i="0" lang="en" sz="1100" u="none" cap="none" strike="noStrike">
                <a:latin typeface="Arial"/>
                <a:ea typeface="Arial"/>
                <a:cs typeface="Arial"/>
                <a:sym typeface="Arial"/>
              </a:rPr>
              <a:t>Understanding the structure of the data</a:t>
            </a:r>
            <a:endParaRPr/>
          </a:p>
          <a:p>
            <a:pPr indent="0" lvl="0" marL="0" marR="0" rtl="0" algn="l">
              <a:lnSpc>
                <a:spcPct val="121263"/>
              </a:lnSpc>
              <a:spcBef>
                <a:spcPts val="630"/>
              </a:spcBef>
              <a:spcAft>
                <a:spcPts val="0"/>
              </a:spcAft>
              <a:buNone/>
            </a:pPr>
            <a:r>
              <a:rPr b="0" i="0" lang="en" sz="950" u="none" cap="none" strike="noStrike">
                <a:latin typeface="Arial"/>
                <a:ea typeface="Arial"/>
                <a:cs typeface="Arial"/>
                <a:sym typeface="Arial"/>
              </a:rPr>
              <a:t>In [9]:</a:t>
            </a:r>
            <a:endParaRPr/>
          </a:p>
          <a:p>
            <a:pPr indent="0" lvl="0" marL="0" marR="940308" rtl="0" algn="l">
              <a:lnSpc>
                <a:spcPct val="121263"/>
              </a:lnSpc>
              <a:spcBef>
                <a:spcPts val="0"/>
              </a:spcBef>
              <a:spcAft>
                <a:spcPts val="0"/>
              </a:spcAft>
              <a:buNone/>
            </a:pPr>
            <a:r>
              <a:rPr b="0" i="1" lang="en" sz="950" u="none" cap="none" strike="noStrike">
                <a:latin typeface="Arial"/>
                <a:ea typeface="Arial"/>
                <a:cs typeface="Arial"/>
                <a:sym typeface="Arial"/>
              </a:rPr>
              <a:t>#    uncomment and run the below code snippets if the dataset is present in the Google Drive </a:t>
            </a:r>
            <a:r>
              <a:rPr b="1" i="0" lang="en" sz="850" u="none" cap="none" strike="noStrike">
                <a:latin typeface="Arial"/>
                <a:ea typeface="Arial"/>
                <a:cs typeface="Arial"/>
                <a:sym typeface="Arial"/>
              </a:rPr>
              <a:t>from </a:t>
            </a:r>
            <a:r>
              <a:rPr b="0" i="0" lang="en" sz="950" u="none" cap="none" strike="noStrike">
                <a:latin typeface="Arial"/>
                <a:ea typeface="Arial"/>
                <a:cs typeface="Arial"/>
                <a:sym typeface="Arial"/>
              </a:rPr>
              <a:t>google.colab </a:t>
            </a:r>
            <a:r>
              <a:rPr b="1" i="0" lang="en" sz="850" u="none" cap="none" strike="noStrike">
                <a:latin typeface="Arial"/>
                <a:ea typeface="Arial"/>
                <a:cs typeface="Arial"/>
                <a:sym typeface="Arial"/>
              </a:rPr>
              <a:t>import </a:t>
            </a:r>
            <a:r>
              <a:rPr b="0" i="0" lang="en" sz="950" u="none" cap="none" strike="noStrike">
                <a:latin typeface="Arial"/>
                <a:ea typeface="Arial"/>
                <a:cs typeface="Arial"/>
                <a:sym typeface="Arial"/>
              </a:rPr>
              <a:t>drive</a:t>
            </a:r>
            <a:endParaRPr/>
          </a:p>
          <a:p>
            <a:pPr indent="0" lvl="0" marL="0" marR="0" rtl="0" algn="l">
              <a:lnSpc>
                <a:spcPct val="121263"/>
              </a:lnSpc>
              <a:spcBef>
                <a:spcPts val="0"/>
              </a:spcBef>
              <a:spcAft>
                <a:spcPts val="0"/>
              </a:spcAft>
              <a:buNone/>
            </a:pPr>
            <a:r>
              <a:rPr b="0" i="0" lang="en" sz="950" u="none" cap="none" strike="noStrike">
                <a:latin typeface="Arial"/>
                <a:ea typeface="Arial"/>
                <a:cs typeface="Arial"/>
                <a:sym typeface="Arial"/>
              </a:rPr>
              <a:t>drive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mount('/content/drive')</a:t>
            </a:r>
            <a:endParaRPr/>
          </a:p>
          <a:p>
            <a:pPr indent="0" lvl="0" marL="0" marR="940308" rtl="0" algn="l">
              <a:lnSpc>
                <a:spcPct val="111157"/>
              </a:lnSpc>
              <a:spcBef>
                <a:spcPts val="0"/>
              </a:spcBef>
              <a:spcAft>
                <a:spcPts val="0"/>
              </a:spcAft>
              <a:buNone/>
            </a:pPr>
            <a:r>
              <a:rPr b="0" i="0" lang="en" sz="750" u="none" cap="none" strike="noStrike">
                <a:latin typeface="Arial"/>
                <a:ea typeface="Arial"/>
                <a:cs typeface="Arial"/>
                <a:sym typeface="Arial"/>
              </a:rPr>
              <a:t>Mounted at /content/drive </a:t>
            </a:r>
            <a:r>
              <a:rPr b="0" i="0" lang="en" sz="950" u="none" cap="none" strike="noStrike">
                <a:latin typeface="Arial"/>
                <a:ea typeface="Arial"/>
                <a:cs typeface="Arial"/>
                <a:sym typeface="Arial"/>
              </a:rPr>
              <a:t>In [5]:</a:t>
            </a:r>
            <a:endParaRPr/>
          </a:p>
          <a:p>
            <a:pPr indent="0" lvl="0" marL="0" marR="940308" rtl="0" algn="l">
              <a:lnSpc>
                <a:spcPct val="121263"/>
              </a:lnSpc>
              <a:spcBef>
                <a:spcPts val="0"/>
              </a:spcBef>
              <a:spcAft>
                <a:spcPts val="0"/>
              </a:spcAft>
              <a:buNone/>
            </a:pPr>
            <a:r>
              <a:rPr b="1" i="0" lang="en" sz="850" u="none" cap="none" strike="noStrike">
                <a:latin typeface="Arial"/>
                <a:ea typeface="Arial"/>
                <a:cs typeface="Arial"/>
                <a:sym typeface="Arial"/>
              </a:rPr>
              <a:t>from </a:t>
            </a:r>
            <a:r>
              <a:rPr b="0" i="0" lang="en" sz="950" u="none" cap="none" strike="noStrike">
                <a:latin typeface="Arial"/>
                <a:ea typeface="Arial"/>
                <a:cs typeface="Arial"/>
                <a:sym typeface="Arial"/>
              </a:rPr>
              <a:t>google.colab </a:t>
            </a:r>
            <a:r>
              <a:rPr b="1" i="0" lang="en" sz="850" u="none" cap="none" strike="noStrike">
                <a:latin typeface="Arial"/>
                <a:ea typeface="Arial"/>
                <a:cs typeface="Arial"/>
                <a:sym typeface="Arial"/>
              </a:rPr>
              <a:t>import </a:t>
            </a:r>
            <a:r>
              <a:rPr b="0" i="0" lang="en" sz="950" u="none" cap="none" strike="noStrike">
                <a:latin typeface="Arial"/>
                <a:ea typeface="Arial"/>
                <a:cs typeface="Arial"/>
                <a:sym typeface="Arial"/>
              </a:rPr>
              <a:t>drive drive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mount('/content/drive')</a:t>
            </a:r>
            <a:endParaRPr/>
          </a:p>
          <a:p>
            <a:pPr indent="0" lvl="0" marL="0" marR="940308" rtl="0" algn="l">
              <a:lnSpc>
                <a:spcPct val="111157"/>
              </a:lnSpc>
              <a:spcBef>
                <a:spcPts val="0"/>
              </a:spcBef>
              <a:spcAft>
                <a:spcPts val="0"/>
              </a:spcAft>
              <a:buNone/>
            </a:pPr>
            <a:r>
              <a:rPr b="0" i="0" lang="en" sz="750" u="none" cap="none" strike="noStrike">
                <a:latin typeface="Arial"/>
                <a:ea typeface="Arial"/>
                <a:cs typeface="Arial"/>
                <a:sym typeface="Arial"/>
              </a:rPr>
              <a:t>Mounted at /content/drive </a:t>
            </a:r>
            <a:r>
              <a:rPr b="0" i="0" lang="en" sz="950" u="none" cap="none" strike="noStrike">
                <a:latin typeface="Arial"/>
                <a:ea typeface="Arial"/>
                <a:cs typeface="Arial"/>
                <a:sym typeface="Arial"/>
              </a:rPr>
              <a:t>In [16]:</a:t>
            </a:r>
            <a:endParaRPr/>
          </a:p>
          <a:p>
            <a:pPr indent="0" lvl="0" marL="0" marR="0" rtl="0" algn="just">
              <a:lnSpc>
                <a:spcPct val="118736"/>
              </a:lnSpc>
              <a:spcBef>
                <a:spcPts val="0"/>
              </a:spcBef>
              <a:spcAft>
                <a:spcPts val="0"/>
              </a:spcAft>
              <a:buNone/>
            </a:pPr>
            <a:r>
              <a:rPr b="0" i="1" lang="en" sz="950" u="none" cap="none" strike="noStrike">
                <a:latin typeface="Arial"/>
                <a:ea typeface="Arial"/>
                <a:cs typeface="Arial"/>
                <a:sym typeface="Arial"/>
              </a:rPr>
              <a:t>#    Write your code here to read the data</a:t>
            </a:r>
            <a:endParaRPr/>
          </a:p>
          <a:p>
            <a:pPr indent="0" lvl="0" marL="0" marR="0" rtl="0" algn="l">
              <a:lnSpc>
                <a:spcPct val="118736"/>
              </a:lnSpc>
              <a:spcBef>
                <a:spcPts val="0"/>
              </a:spcBef>
              <a:spcAft>
                <a:spcPts val="0"/>
              </a:spcAft>
              <a:buNone/>
            </a:pPr>
            <a:r>
              <a:rPr b="0" i="0" lang="en" sz="950" u="none" cap="none" strike="noStrike">
                <a:latin typeface="Arial"/>
                <a:ea typeface="Arial"/>
                <a:cs typeface="Arial"/>
                <a:sym typeface="Arial"/>
              </a:rPr>
              <a:t>df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pd</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read_csv('/content/drive/MyDrive/Colab Notebooks/PYF-FoodHub Data Analysis/foodhub_order.csv') In [17]:</a:t>
            </a:r>
            <a:endParaRPr/>
          </a:p>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Write your code here to view the first 5 rows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head()</a:t>
            </a:r>
            <a:endParaRPr/>
          </a:p>
          <a:p>
            <a:pPr indent="0" lvl="0" marL="0" marR="0" rtl="0" algn="just">
              <a:spcBef>
                <a:spcPts val="0"/>
              </a:spcBef>
              <a:spcAft>
                <a:spcPts val="0"/>
              </a:spcAft>
              <a:buNone/>
            </a:pPr>
            <a:r>
              <a:rPr b="0" i="0" lang="en" sz="950" u="none" cap="none" strike="noStrike">
                <a:latin typeface="Arial"/>
                <a:ea typeface="Arial"/>
                <a:cs typeface="Arial"/>
                <a:sym typeface="Arial"/>
              </a:rPr>
              <a:t>Out[17]:</a:t>
            </a:r>
            <a:endParaRPr/>
          </a:p>
        </p:txBody>
      </p:sp>
      <p:graphicFrame>
        <p:nvGraphicFramePr>
          <p:cNvPr id="379" name="Google Shape;379;g377b8bda5b4_2_9"/>
          <p:cNvGraphicFramePr/>
          <p:nvPr/>
        </p:nvGraphicFramePr>
        <p:xfrm>
          <a:off x="129101" y="1895824"/>
          <a:ext cx="3000000" cy="3000000"/>
        </p:xfrm>
        <a:graphic>
          <a:graphicData uri="http://schemas.openxmlformats.org/drawingml/2006/table">
            <a:tbl>
              <a:tblPr>
                <a:noFill/>
                <a:tableStyleId>{027568D1-9BE7-4ABE-AB64-776F8D02060C}</a:tableStyleId>
              </a:tblPr>
              <a:tblGrid>
                <a:gridCol w="252025"/>
                <a:gridCol w="737700"/>
                <a:gridCol w="1025425"/>
                <a:gridCol w="1338950"/>
                <a:gridCol w="1036500"/>
                <a:gridCol w="1431175"/>
                <a:gridCol w="1368450"/>
                <a:gridCol w="1844275"/>
              </a:tblGrid>
              <a:tr h="112900">
                <a:tc>
                  <a:txBody>
                    <a:bodyPr/>
                    <a:lstStyle/>
                    <a:p>
                      <a:pPr indent="0" lvl="0" marL="0" marR="0" rtl="0" algn="l">
                        <a:spcBef>
                          <a:spcPts val="0"/>
                        </a:spcBef>
                        <a:spcAft>
                          <a:spcPts val="0"/>
                        </a:spcAft>
                        <a:buNone/>
                      </a:pPr>
                      <a:r>
                        <a:t/>
                      </a:r>
                      <a:endParaRPr sz="600"/>
                    </a:p>
                  </a:txBody>
                  <a:tcPr marT="0" marB="0" marR="0" marL="0"/>
                </a:tc>
                <a:tc>
                  <a:txBody>
                    <a:bodyPr/>
                    <a:lstStyle/>
                    <a:p>
                      <a:pPr indent="0" lvl="0" marL="0" marR="0" rtl="0" algn="l">
                        <a:spcBef>
                          <a:spcPts val="0"/>
                        </a:spcBef>
                        <a:spcAft>
                          <a:spcPts val="0"/>
                        </a:spcAft>
                        <a:buNone/>
                      </a:pPr>
                      <a:r>
                        <a:rPr b="1" lang="en" sz="400">
                          <a:latin typeface="Arial"/>
                          <a:ea typeface="Arial"/>
                          <a:cs typeface="Arial"/>
                          <a:sym typeface="Arial"/>
                        </a:rPr>
                        <a:t>order_id</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customer_id</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restaurant_name</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cuisine_type</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cost_of_the_order</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day_of_the_week</a:t>
                      </a:r>
                      <a:endParaRPr sz="700"/>
                    </a:p>
                  </a:txBody>
                  <a:tcPr marT="0" marB="0" marR="0" marL="0"/>
                </a:tc>
                <a:tc>
                  <a:txBody>
                    <a:bodyPr/>
                    <a:lstStyle/>
                    <a:p>
                      <a:pPr indent="0" lvl="0" marL="38100" marR="0" rtl="0" algn="l">
                        <a:spcBef>
                          <a:spcPts val="0"/>
                        </a:spcBef>
                        <a:spcAft>
                          <a:spcPts val="0"/>
                        </a:spcAft>
                        <a:buNone/>
                      </a:pPr>
                      <a:r>
                        <a:rPr b="1" lang="en" sz="400">
                          <a:latin typeface="Arial"/>
                          <a:ea typeface="Arial"/>
                          <a:cs typeface="Arial"/>
                          <a:sym typeface="Arial"/>
                        </a:rPr>
                        <a:t>rating food_preparation</a:t>
                      </a:r>
                      <a:endParaRPr sz="700"/>
                    </a:p>
                  </a:txBody>
                  <a:tcPr marT="0" marB="0" marR="0" marL="0"/>
                </a:tc>
              </a:tr>
              <a:tr h="184725">
                <a:tc>
                  <a:txBody>
                    <a:bodyPr/>
                    <a:lstStyle/>
                    <a:p>
                      <a:pPr indent="0" lvl="0" marL="0" marR="0" rtl="0" algn="l">
                        <a:spcBef>
                          <a:spcPts val="0"/>
                        </a:spcBef>
                        <a:spcAft>
                          <a:spcPts val="0"/>
                        </a:spcAft>
                        <a:buNone/>
                      </a:pPr>
                      <a:r>
                        <a:rPr b="1" lang="en" sz="500">
                          <a:latin typeface="Arial"/>
                          <a:ea typeface="Arial"/>
                          <a:cs typeface="Arial"/>
                          <a:sym typeface="Arial"/>
                        </a:rPr>
                        <a:t>0</a:t>
                      </a:r>
                      <a:endParaRPr sz="700"/>
                    </a:p>
                  </a:txBody>
                  <a:tcPr marT="0" marB="0" marR="0" marL="0" anchor="ctr"/>
                </a:tc>
                <a:tc>
                  <a:txBody>
                    <a:bodyPr/>
                    <a:lstStyle/>
                    <a:p>
                      <a:pPr indent="0" lvl="0" marL="0" marR="0" rtl="0" algn="l">
                        <a:spcBef>
                          <a:spcPts val="0"/>
                        </a:spcBef>
                        <a:spcAft>
                          <a:spcPts val="0"/>
                        </a:spcAft>
                        <a:buNone/>
                      </a:pPr>
                      <a:r>
                        <a:rPr lang="en" sz="500">
                          <a:latin typeface="Arial"/>
                          <a:ea typeface="Arial"/>
                          <a:cs typeface="Arial"/>
                          <a:sym typeface="Arial"/>
                        </a:rPr>
                        <a:t>1477147</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337525</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Hangawi</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Korean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30.75</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Weekend</a:t>
                      </a:r>
                      <a:endParaRPr sz="700"/>
                    </a:p>
                  </a:txBody>
                  <a:tcPr marT="0" marB="0" marR="0" marL="0" anchor="ctr"/>
                </a:tc>
                <a:tc>
                  <a:txBody>
                    <a:bodyPr/>
                    <a:lstStyle/>
                    <a:p>
                      <a:pPr indent="0" lvl="0" marL="0" marR="546100" rtl="0" algn="r">
                        <a:spcBef>
                          <a:spcPts val="0"/>
                        </a:spcBef>
                        <a:spcAft>
                          <a:spcPts val="0"/>
                        </a:spcAft>
                        <a:buNone/>
                      </a:pPr>
                      <a:r>
                        <a:rPr lang="en" sz="500">
                          <a:latin typeface="Arial"/>
                          <a:ea typeface="Arial"/>
                          <a:cs typeface="Arial"/>
                          <a:sym typeface="Arial"/>
                        </a:rPr>
                        <a:t>Not</a:t>
                      </a:r>
                      <a:endParaRPr sz="700"/>
                    </a:p>
                    <a:p>
                      <a:pPr indent="0" lvl="0" marL="0" marR="546100" rtl="0" algn="r">
                        <a:spcBef>
                          <a:spcPts val="100"/>
                        </a:spcBef>
                        <a:spcAft>
                          <a:spcPts val="0"/>
                        </a:spcAft>
                        <a:buNone/>
                      </a:pPr>
                      <a:r>
                        <a:rPr lang="en" sz="500">
                          <a:latin typeface="Arial"/>
                          <a:ea typeface="Arial"/>
                          <a:cs typeface="Arial"/>
                          <a:sym typeface="Arial"/>
                        </a:rPr>
                        <a:t>given</a:t>
                      </a:r>
                      <a:endParaRPr sz="700"/>
                    </a:p>
                  </a:txBody>
                  <a:tcPr marT="0" marB="0" marR="0" marL="0"/>
                </a:tc>
              </a:tr>
              <a:tr h="197925">
                <a:tc>
                  <a:txBody>
                    <a:bodyPr/>
                    <a:lstStyle/>
                    <a:p>
                      <a:pPr indent="0" lvl="0" marL="0" marR="0" rtl="0" algn="l">
                        <a:spcBef>
                          <a:spcPts val="0"/>
                        </a:spcBef>
                        <a:spcAft>
                          <a:spcPts val="0"/>
                        </a:spcAft>
                        <a:buNone/>
                      </a:pPr>
                      <a:r>
                        <a:rPr b="1" lang="en" sz="500">
                          <a:latin typeface="Arial"/>
                          <a:ea typeface="Arial"/>
                          <a:cs typeface="Arial"/>
                          <a:sym typeface="Arial"/>
                        </a:rPr>
                        <a:t>1</a:t>
                      </a:r>
                      <a:endParaRPr sz="700"/>
                    </a:p>
                  </a:txBody>
                  <a:tcPr marT="0" marB="0" marR="0" marL="0" anchor="ctr"/>
                </a:tc>
                <a:tc>
                  <a:txBody>
                    <a:bodyPr/>
                    <a:lstStyle/>
                    <a:p>
                      <a:pPr indent="0" lvl="0" marL="0" marR="0" rtl="0" algn="l">
                        <a:spcBef>
                          <a:spcPts val="0"/>
                        </a:spcBef>
                        <a:spcAft>
                          <a:spcPts val="0"/>
                        </a:spcAft>
                        <a:buNone/>
                      </a:pPr>
                      <a:r>
                        <a:rPr lang="en" sz="500">
                          <a:latin typeface="Arial"/>
                          <a:ea typeface="Arial"/>
                          <a:cs typeface="Arial"/>
                          <a:sym typeface="Arial"/>
                        </a:rPr>
                        <a:t>1477685</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358141</a:t>
                      </a:r>
                      <a:endParaRPr sz="700"/>
                    </a:p>
                  </a:txBody>
                  <a:tcPr marT="0" marB="0" marR="0" marL="0" anchor="ctr"/>
                </a:tc>
                <a:tc>
                  <a:txBody>
                    <a:bodyPr/>
                    <a:lstStyle/>
                    <a:p>
                      <a:pPr indent="0" lvl="0" marL="0" marR="0" rtl="0" algn="r">
                        <a:lnSpc>
                          <a:spcPct val="121263"/>
                        </a:lnSpc>
                        <a:spcBef>
                          <a:spcPts val="0"/>
                        </a:spcBef>
                        <a:spcAft>
                          <a:spcPts val="0"/>
                        </a:spcAft>
                        <a:buNone/>
                      </a:pPr>
                      <a:r>
                        <a:rPr lang="en" sz="500">
                          <a:latin typeface="Arial"/>
                          <a:ea typeface="Arial"/>
                          <a:cs typeface="Arial"/>
                          <a:sym typeface="Arial"/>
                        </a:rPr>
                        <a:t>Blue Ribbon Sushi Izakaya</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Japanese</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12.08</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Weekend</a:t>
                      </a:r>
                      <a:endParaRPr sz="700"/>
                    </a:p>
                  </a:txBody>
                  <a:tcPr marT="0" marB="0" marR="0" marL="0" anchor="ctr"/>
                </a:tc>
                <a:tc>
                  <a:txBody>
                    <a:bodyPr/>
                    <a:lstStyle/>
                    <a:p>
                      <a:pPr indent="0" lvl="0" marL="0" marR="546100" rtl="0" algn="r">
                        <a:spcBef>
                          <a:spcPts val="0"/>
                        </a:spcBef>
                        <a:spcAft>
                          <a:spcPts val="0"/>
                        </a:spcAft>
                        <a:buNone/>
                      </a:pPr>
                      <a:r>
                        <a:rPr lang="en" sz="500">
                          <a:latin typeface="Arial"/>
                          <a:ea typeface="Arial"/>
                          <a:cs typeface="Arial"/>
                          <a:sym typeface="Arial"/>
                        </a:rPr>
                        <a:t>Not</a:t>
                      </a:r>
                      <a:endParaRPr sz="700"/>
                    </a:p>
                    <a:p>
                      <a:pPr indent="0" lvl="0" marL="0" marR="546100" rtl="0" algn="r">
                        <a:spcBef>
                          <a:spcPts val="100"/>
                        </a:spcBef>
                        <a:spcAft>
                          <a:spcPts val="0"/>
                        </a:spcAft>
                        <a:buNone/>
                      </a:pPr>
                      <a:r>
                        <a:rPr lang="en" sz="500">
                          <a:latin typeface="Arial"/>
                          <a:ea typeface="Arial"/>
                          <a:cs typeface="Arial"/>
                          <a:sym typeface="Arial"/>
                        </a:rPr>
                        <a:t>given</a:t>
                      </a:r>
                      <a:endParaRPr sz="700"/>
                    </a:p>
                  </a:txBody>
                  <a:tcPr marT="0" marB="0" marR="0" marL="0" anchor="ctr"/>
                </a:tc>
              </a:tr>
              <a:tr h="123150">
                <a:tc>
                  <a:txBody>
                    <a:bodyPr/>
                    <a:lstStyle/>
                    <a:p>
                      <a:pPr indent="0" lvl="0" marL="0" marR="0" rtl="0" algn="l">
                        <a:spcBef>
                          <a:spcPts val="0"/>
                        </a:spcBef>
                        <a:spcAft>
                          <a:spcPts val="0"/>
                        </a:spcAft>
                        <a:buNone/>
                      </a:pPr>
                      <a:r>
                        <a:rPr b="1" lang="en" sz="500">
                          <a:latin typeface="Arial"/>
                          <a:ea typeface="Arial"/>
                          <a:cs typeface="Arial"/>
                          <a:sym typeface="Arial"/>
                        </a:rPr>
                        <a:t>2</a:t>
                      </a:r>
                      <a:endParaRPr sz="700"/>
                    </a:p>
                  </a:txBody>
                  <a:tcPr marT="0" marB="0" marR="0" marL="0" anchor="ctr"/>
                </a:tc>
                <a:tc>
                  <a:txBody>
                    <a:bodyPr/>
                    <a:lstStyle/>
                    <a:p>
                      <a:pPr indent="0" lvl="0" marL="0" marR="0" rtl="0" algn="l">
                        <a:spcBef>
                          <a:spcPts val="0"/>
                        </a:spcBef>
                        <a:spcAft>
                          <a:spcPts val="0"/>
                        </a:spcAft>
                        <a:buNone/>
                      </a:pPr>
                      <a:r>
                        <a:rPr lang="en" sz="500">
                          <a:latin typeface="Arial"/>
                          <a:ea typeface="Arial"/>
                          <a:cs typeface="Arial"/>
                          <a:sym typeface="Arial"/>
                        </a:rPr>
                        <a:t>1477070</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66393</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Cafe Habana</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Mexican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12.23</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Weekday</a:t>
                      </a:r>
                      <a:endParaRPr sz="700"/>
                    </a:p>
                  </a:txBody>
                  <a:tcPr marT="0" marB="0" marR="0" marL="0" anchor="ctr"/>
                </a:tc>
                <a:tc>
                  <a:txBody>
                    <a:bodyPr/>
                    <a:lstStyle/>
                    <a:p>
                      <a:pPr indent="0" lvl="0" marL="0" marR="546100" rtl="0" algn="r">
                        <a:spcBef>
                          <a:spcPts val="0"/>
                        </a:spcBef>
                        <a:spcAft>
                          <a:spcPts val="0"/>
                        </a:spcAft>
                        <a:buNone/>
                      </a:pPr>
                      <a:r>
                        <a:rPr lang="en" sz="500">
                          <a:latin typeface="Arial"/>
                          <a:ea typeface="Arial"/>
                          <a:cs typeface="Arial"/>
                          <a:sym typeface="Arial"/>
                        </a:rPr>
                        <a:t>5</a:t>
                      </a:r>
                      <a:endParaRPr sz="700"/>
                    </a:p>
                  </a:txBody>
                  <a:tcPr marT="0" marB="0" marR="0" marL="0" anchor="ctr"/>
                </a:tc>
              </a:tr>
              <a:tr h="178875">
                <a:tc>
                  <a:txBody>
                    <a:bodyPr/>
                    <a:lstStyle/>
                    <a:p>
                      <a:pPr indent="0" lvl="0" marL="0" marR="0" rtl="0" algn="l">
                        <a:spcBef>
                          <a:spcPts val="0"/>
                        </a:spcBef>
                        <a:spcAft>
                          <a:spcPts val="0"/>
                        </a:spcAft>
                        <a:buNone/>
                      </a:pPr>
                      <a:r>
                        <a:rPr b="1" lang="en" sz="400">
                          <a:latin typeface="Arial"/>
                          <a:ea typeface="Arial"/>
                          <a:cs typeface="Arial"/>
                          <a:sym typeface="Arial"/>
                        </a:rPr>
                        <a:t>3</a:t>
                      </a:r>
                      <a:endParaRPr sz="700"/>
                    </a:p>
                  </a:txBody>
                  <a:tcPr marT="0" marB="0" marR="0" marL="0" anchor="ctr"/>
                </a:tc>
                <a:tc>
                  <a:txBody>
                    <a:bodyPr/>
                    <a:lstStyle/>
                    <a:p>
                      <a:pPr indent="0" lvl="0" marL="0" marR="0" rtl="0" algn="l">
                        <a:spcBef>
                          <a:spcPts val="0"/>
                        </a:spcBef>
                        <a:spcAft>
                          <a:spcPts val="0"/>
                        </a:spcAft>
                        <a:buNone/>
                      </a:pPr>
                      <a:r>
                        <a:rPr lang="en" sz="500">
                          <a:latin typeface="Arial"/>
                          <a:ea typeface="Arial"/>
                          <a:cs typeface="Arial"/>
                          <a:sym typeface="Arial"/>
                        </a:rPr>
                        <a:t>1477334</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106968</a:t>
                      </a:r>
                      <a:endParaRPr sz="700"/>
                    </a:p>
                  </a:txBody>
                  <a:tcPr marT="0" marB="0" marR="0" marL="0" anchor="ctr"/>
                </a:tc>
                <a:tc>
                  <a:txBody>
                    <a:bodyPr/>
                    <a:lstStyle/>
                    <a:p>
                      <a:pPr indent="0" lvl="0" marL="0" marR="0" rtl="0" algn="r">
                        <a:lnSpc>
                          <a:spcPct val="118736"/>
                        </a:lnSpc>
                        <a:spcBef>
                          <a:spcPts val="0"/>
                        </a:spcBef>
                        <a:spcAft>
                          <a:spcPts val="0"/>
                        </a:spcAft>
                        <a:buNone/>
                      </a:pPr>
                      <a:r>
                        <a:rPr lang="en" sz="500">
                          <a:latin typeface="Arial"/>
                          <a:ea typeface="Arial"/>
                          <a:cs typeface="Arial"/>
                          <a:sym typeface="Arial"/>
                        </a:rPr>
                        <a:t>Blue Ribbon Fried Chicken</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American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29.20</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Weekend</a:t>
                      </a:r>
                      <a:endParaRPr sz="700"/>
                    </a:p>
                  </a:txBody>
                  <a:tcPr marT="0" marB="0" marR="0" marL="0" anchor="ctr"/>
                </a:tc>
                <a:tc>
                  <a:txBody>
                    <a:bodyPr/>
                    <a:lstStyle/>
                    <a:p>
                      <a:pPr indent="0" lvl="0" marL="0" marR="546100" rtl="0" algn="r">
                        <a:spcBef>
                          <a:spcPts val="0"/>
                        </a:spcBef>
                        <a:spcAft>
                          <a:spcPts val="0"/>
                        </a:spcAft>
                        <a:buNone/>
                      </a:pPr>
                      <a:r>
                        <a:rPr lang="en" sz="500">
                          <a:latin typeface="Arial"/>
                          <a:ea typeface="Arial"/>
                          <a:cs typeface="Arial"/>
                          <a:sym typeface="Arial"/>
                        </a:rPr>
                        <a:t>3</a:t>
                      </a:r>
                      <a:endParaRPr sz="700"/>
                    </a:p>
                  </a:txBody>
                  <a:tcPr marT="0" marB="0" marR="0" marL="0" anchor="ctr"/>
                </a:tc>
              </a:tr>
              <a:tr h="126075">
                <a:tc>
                  <a:txBody>
                    <a:bodyPr/>
                    <a:lstStyle/>
                    <a:p>
                      <a:pPr indent="0" lvl="0" marL="0" marR="0" rtl="0" algn="l">
                        <a:spcBef>
                          <a:spcPts val="0"/>
                        </a:spcBef>
                        <a:spcAft>
                          <a:spcPts val="0"/>
                        </a:spcAft>
                        <a:buNone/>
                      </a:pPr>
                      <a:r>
                        <a:rPr b="1" lang="en" sz="400">
                          <a:latin typeface="Arial"/>
                          <a:ea typeface="Arial"/>
                          <a:cs typeface="Arial"/>
                          <a:sym typeface="Arial"/>
                        </a:rPr>
                        <a:t>4</a:t>
                      </a:r>
                      <a:endParaRPr sz="700"/>
                    </a:p>
                  </a:txBody>
                  <a:tcPr marT="0" marB="0" marR="0" marL="0" anchor="b"/>
                </a:tc>
                <a:tc>
                  <a:txBody>
                    <a:bodyPr/>
                    <a:lstStyle/>
                    <a:p>
                      <a:pPr indent="0" lvl="0" marL="0" marR="0" rtl="0" algn="l">
                        <a:spcBef>
                          <a:spcPts val="0"/>
                        </a:spcBef>
                        <a:spcAft>
                          <a:spcPts val="0"/>
                        </a:spcAft>
                        <a:buNone/>
                      </a:pPr>
                      <a:r>
                        <a:rPr lang="en" sz="500">
                          <a:latin typeface="Arial"/>
                          <a:ea typeface="Arial"/>
                          <a:cs typeface="Arial"/>
                          <a:sym typeface="Arial"/>
                        </a:rPr>
                        <a:t>1478249</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76942</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Dirty Bird to Go</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American</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11.59</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Weekday</a:t>
                      </a:r>
                      <a:endParaRPr sz="700"/>
                    </a:p>
                  </a:txBody>
                  <a:tcPr marT="0" marB="0" marR="0" marL="0" anchor="b"/>
                </a:tc>
                <a:tc>
                  <a:txBody>
                    <a:bodyPr/>
                    <a:lstStyle/>
                    <a:p>
                      <a:pPr indent="0" lvl="0" marL="0" marR="546100" rtl="0" algn="r">
                        <a:spcBef>
                          <a:spcPts val="0"/>
                        </a:spcBef>
                        <a:spcAft>
                          <a:spcPts val="0"/>
                        </a:spcAft>
                        <a:buNone/>
                      </a:pPr>
                      <a:r>
                        <a:rPr lang="en" sz="500">
                          <a:latin typeface="Arial"/>
                          <a:ea typeface="Arial"/>
                          <a:cs typeface="Arial"/>
                          <a:sym typeface="Arial"/>
                        </a:rPr>
                        <a:t>4</a:t>
                      </a:r>
                      <a:endParaRPr sz="700"/>
                    </a:p>
                  </a:txBody>
                  <a:tcPr marT="0" marB="0" marR="0" marL="0" anchor="b"/>
                </a:tc>
              </a:tr>
            </a:tbl>
          </a:graphicData>
        </a:graphic>
      </p:graphicFrame>
      <p:sp>
        <p:nvSpPr>
          <p:cNvPr id="380" name="Google Shape;380;g377b8bda5b4_2_9"/>
          <p:cNvSpPr/>
          <p:nvPr/>
        </p:nvSpPr>
        <p:spPr>
          <a:xfrm>
            <a:off x="55329" y="2969098"/>
            <a:ext cx="8535403" cy="1403174"/>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i="0" lang="en" sz="1100" u="none" cap="none" strike="noStrike">
                <a:latin typeface="Arial"/>
                <a:ea typeface="Arial"/>
                <a:cs typeface="Arial"/>
                <a:sym typeface="Arial"/>
              </a:rPr>
              <a:t>Question 1: How many rows and columns are present in the data? [0.5 mark]</a:t>
            </a:r>
            <a:endParaRPr/>
          </a:p>
          <a:p>
            <a:pPr indent="0" lvl="0" marL="0" marR="0" rtl="0" algn="just">
              <a:lnSpc>
                <a:spcPct val="121263"/>
              </a:lnSpc>
              <a:spcBef>
                <a:spcPts val="630"/>
              </a:spcBef>
              <a:spcAft>
                <a:spcPts val="0"/>
              </a:spcAft>
              <a:buNone/>
            </a:pPr>
            <a:r>
              <a:rPr b="0" i="0" lang="en" sz="950" u="none" cap="none" strike="noStrike">
                <a:latin typeface="Arial"/>
                <a:ea typeface="Arial"/>
                <a:cs typeface="Arial"/>
                <a:sym typeface="Arial"/>
              </a:rPr>
              <a:t>In [11]:</a:t>
            </a:r>
            <a:endParaRPr/>
          </a:p>
          <a:p>
            <a:pPr indent="0" lvl="0" marL="0" marR="1211072" rtl="0" algn="l">
              <a:lnSpc>
                <a:spcPct val="121263"/>
              </a:lnSpc>
              <a:spcBef>
                <a:spcPts val="0"/>
              </a:spcBef>
              <a:spcAft>
                <a:spcPts val="0"/>
              </a:spcAft>
              <a:buNone/>
            </a:pPr>
            <a:r>
              <a:rPr b="0" i="1" lang="en" sz="950" u="none" cap="none" strike="noStrike">
                <a:latin typeface="Arial"/>
                <a:ea typeface="Arial"/>
                <a:cs typeface="Arial"/>
                <a:sym typeface="Arial"/>
              </a:rPr>
              <a:t>#    Write your code here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shape</a:t>
            </a:r>
            <a:endParaRPr/>
          </a:p>
          <a:p>
            <a:pPr indent="0" lvl="0" marL="0" marR="0" rtl="0" algn="just">
              <a:spcBef>
                <a:spcPts val="0"/>
              </a:spcBef>
              <a:spcAft>
                <a:spcPts val="0"/>
              </a:spcAft>
              <a:buNone/>
            </a:pPr>
            <a:r>
              <a:rPr b="0" i="0" lang="en" sz="950" u="none" cap="none" strike="noStrike">
                <a:latin typeface="Arial"/>
                <a:ea typeface="Arial"/>
                <a:cs typeface="Arial"/>
                <a:sym typeface="Arial"/>
              </a:rPr>
              <a:t>Out[11 ]:</a:t>
            </a:r>
            <a:endParaRPr/>
          </a:p>
          <a:p>
            <a:pPr indent="0" lvl="0" marL="0" marR="0" rtl="0" algn="just">
              <a:spcBef>
                <a:spcPts val="0"/>
              </a:spcBef>
              <a:spcAft>
                <a:spcPts val="0"/>
              </a:spcAft>
              <a:buNone/>
            </a:pPr>
            <a:r>
              <a:rPr b="0" i="0" lang="en" sz="750" u="none" cap="none" strike="noStrike">
                <a:latin typeface="Arial"/>
                <a:ea typeface="Arial"/>
                <a:cs typeface="Arial"/>
                <a:sym typeface="Arial"/>
              </a:rPr>
              <a:t>(1898, 9)</a:t>
            </a:r>
            <a:endParaRPr/>
          </a:p>
          <a:p>
            <a:pPr indent="215900" lvl="0" marL="0" marR="5656072" rtl="0" algn="l">
              <a:lnSpc>
                <a:spcPct val="276705"/>
              </a:lnSpc>
              <a:spcBef>
                <a:spcPts val="840"/>
              </a:spcBef>
              <a:spcAft>
                <a:spcPts val="0"/>
              </a:spcAft>
              <a:buNone/>
            </a:pPr>
            <a:r>
              <a:rPr b="0" i="0" lang="en" sz="750" u="none" cap="none" strike="noStrike">
                <a:latin typeface="Arial"/>
                <a:ea typeface="Arial"/>
                <a:cs typeface="Arial"/>
                <a:sym typeface="Arial"/>
              </a:rPr>
              <a:t># This is formatted as code </a:t>
            </a:r>
            <a:r>
              <a:rPr b="1" i="0" lang="en" sz="850" u="none" cap="none" strike="noStrike">
                <a:latin typeface="Arial"/>
                <a:ea typeface="Arial"/>
                <a:cs typeface="Arial"/>
                <a:sym typeface="Arial"/>
              </a:rPr>
              <a:t>Observations:</a:t>
            </a:r>
            <a:endParaRPr/>
          </a:p>
          <a:p>
            <a:pPr indent="0" lvl="0" marL="0" marR="0" rtl="0" algn="just">
              <a:lnSpc>
                <a:spcPct val="247578"/>
              </a:lnSpc>
              <a:spcBef>
                <a:spcPts val="0"/>
              </a:spcBef>
              <a:spcAft>
                <a:spcPts val="0"/>
              </a:spcAft>
              <a:buNone/>
            </a:pPr>
            <a:r>
              <a:rPr b="0" i="0" lang="en" sz="950" u="none" cap="none" strike="noStrike">
                <a:latin typeface="Arial"/>
                <a:ea typeface="Arial"/>
                <a:cs typeface="Arial"/>
                <a:sym typeface="Arial"/>
              </a:rPr>
              <a:t>Total Rows: 1898 Total fields/columns: 9</a:t>
            </a:r>
            <a:endParaRPr/>
          </a:p>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2: What are the datatypes of the different columns in the dataset? (The info() function can be used) [0.5 mark]</a:t>
            </a:r>
            <a:endParaRPr/>
          </a:p>
          <a:p>
            <a:pPr indent="0" lvl="0" marL="0" marR="0" rtl="0" algn="just">
              <a:lnSpc>
                <a:spcPct val="118736"/>
              </a:lnSpc>
              <a:spcBef>
                <a:spcPts val="0"/>
              </a:spcBef>
              <a:spcAft>
                <a:spcPts val="0"/>
              </a:spcAft>
              <a:buNone/>
            </a:pPr>
            <a:r>
              <a:rPr b="0" i="0" lang="en" sz="950" u="none" cap="none" strike="noStrike">
                <a:latin typeface="Arial"/>
                <a:ea typeface="Arial"/>
                <a:cs typeface="Arial"/>
                <a:sym typeface="Arial"/>
              </a:rPr>
              <a:t>In [12]:</a:t>
            </a:r>
            <a:endParaRPr/>
          </a:p>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Write your code here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info()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sp>
        <p:nvSpPr>
          <p:cNvPr id="385" name="Google Shape;385;g377b8bda5b4_2_15"/>
          <p:cNvSpPr/>
          <p:nvPr/>
        </p:nvSpPr>
        <p:spPr>
          <a:xfrm>
            <a:off x="55329" y="0"/>
            <a:ext cx="2412339" cy="236062"/>
          </a:xfrm>
          <a:prstGeom prst="rect">
            <a:avLst/>
          </a:prstGeom>
          <a:noFill/>
          <a:ln>
            <a:noFill/>
          </a:ln>
        </p:spPr>
        <p:txBody>
          <a:bodyPr anchorCtr="0" anchor="t" bIns="0" lIns="0" spcFirstLastPara="1" rIns="0" wrap="square" tIns="0">
            <a:noAutofit/>
          </a:bodyPr>
          <a:lstStyle/>
          <a:p>
            <a:pPr indent="0" lvl="0" marL="0" marR="219964" rtl="0" algn="l">
              <a:lnSpc>
                <a:spcPct val="128000"/>
              </a:lnSpc>
              <a:spcBef>
                <a:spcPts val="0"/>
              </a:spcBef>
              <a:spcAft>
                <a:spcPts val="0"/>
              </a:spcAft>
              <a:buNone/>
            </a:pPr>
            <a:r>
              <a:rPr b="0" i="0" lang="en" sz="750" u="none" cap="none" strike="noStrike">
                <a:latin typeface="Arial"/>
                <a:ea typeface="Arial"/>
                <a:cs typeface="Arial"/>
                <a:sym typeface="Arial"/>
              </a:rPr>
              <a:t>&lt;class 'pandas.core.frame.DataFrame'&gt; RangeIndex: 1898 entries, 0 to 1897 Data columns (total 9 columns):</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 Column    Non-Null Count Dtype</a:t>
            </a:r>
            <a:endParaRPr/>
          </a:p>
        </p:txBody>
      </p:sp>
      <p:sp>
        <p:nvSpPr>
          <p:cNvPr id="386" name="Google Shape;386;g377b8bda5b4_2_15"/>
          <p:cNvSpPr/>
          <p:nvPr/>
        </p:nvSpPr>
        <p:spPr>
          <a:xfrm>
            <a:off x="55329" y="290312"/>
            <a:ext cx="2593080" cy="989699"/>
          </a:xfrm>
          <a:prstGeom prst="rect">
            <a:avLst/>
          </a:prstGeom>
          <a:noFill/>
          <a:ln>
            <a:noFill/>
          </a:ln>
        </p:spPr>
        <p:txBody>
          <a:bodyPr anchorCtr="0" anchor="t" bIns="0" lIns="0" spcFirstLastPara="1" rIns="0" wrap="square" tIns="0">
            <a:noAutofit/>
          </a:bodyPr>
          <a:lstStyle/>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0    order_id    1898 non-null int64</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1    customer_id    1898 non-null    int64</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2 restaurant_name    1898 non-null object</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3    cuisine_type    1898 non-null    object</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4 cost_of_the_order    1898 non-null float64</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5    day_of_the_week 1898 non-null object</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6    rating    1898 non-null object</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7    food_preparation_time 1898 non-null int64</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8    delivery_time    1898 non-null    int64</a:t>
            </a:r>
            <a:endParaRPr/>
          </a:p>
          <a:p>
            <a:pPr indent="0" lvl="0" marL="0" marR="369316" rtl="0" algn="l">
              <a:lnSpc>
                <a:spcPct val="128000"/>
              </a:lnSpc>
              <a:spcBef>
                <a:spcPts val="0"/>
              </a:spcBef>
              <a:spcAft>
                <a:spcPts val="0"/>
              </a:spcAft>
              <a:buNone/>
            </a:pPr>
            <a:r>
              <a:rPr b="0" i="0" lang="en" sz="750" u="none" cap="none" strike="noStrike">
                <a:latin typeface="Arial"/>
                <a:ea typeface="Arial"/>
                <a:cs typeface="Arial"/>
                <a:sym typeface="Arial"/>
              </a:rPr>
              <a:t>dtypes: float64(1), int64(4), object(4) memory usage: 133.6+ KB</a:t>
            </a:r>
            <a:endParaRPr/>
          </a:p>
          <a:p>
            <a:pPr indent="0" lvl="0" marL="0" marR="0" rtl="0" algn="just">
              <a:spcBef>
                <a:spcPts val="840"/>
              </a:spcBef>
              <a:spcAft>
                <a:spcPts val="0"/>
              </a:spcAft>
              <a:buNone/>
            </a:pPr>
            <a:r>
              <a:rPr b="1" i="0" lang="en" sz="850" u="none" cap="none" strike="noStrike">
                <a:latin typeface="Arial"/>
                <a:ea typeface="Arial"/>
                <a:cs typeface="Arial"/>
                <a:sym typeface="Arial"/>
              </a:rPr>
              <a:t>Observations:</a:t>
            </a:r>
            <a:endParaRPr/>
          </a:p>
          <a:p>
            <a:pPr indent="0" lvl="0" marL="215900" marR="0" rtl="0" algn="l">
              <a:spcBef>
                <a:spcPts val="840"/>
              </a:spcBef>
              <a:spcAft>
                <a:spcPts val="0"/>
              </a:spcAft>
              <a:buNone/>
            </a:pPr>
            <a:r>
              <a:rPr b="0" i="0" lang="en" sz="750" u="none" cap="none" strike="noStrike">
                <a:latin typeface="Arial"/>
                <a:ea typeface="Arial"/>
                <a:cs typeface="Arial"/>
                <a:sym typeface="Arial"/>
              </a:rPr>
              <a:t># This is formatted as code</a:t>
            </a:r>
            <a:endParaRPr/>
          </a:p>
          <a:p>
            <a:pPr indent="0" lvl="0" marL="215900" marR="0" rtl="0" algn="l">
              <a:spcBef>
                <a:spcPts val="0"/>
              </a:spcBef>
              <a:spcAft>
                <a:spcPts val="0"/>
              </a:spcAft>
              <a:buNone/>
            </a:pPr>
            <a:r>
              <a:rPr b="0" i="0" lang="en" sz="750" u="none" cap="none" strike="noStrike">
                <a:latin typeface="Arial"/>
                <a:ea typeface="Arial"/>
                <a:cs typeface="Arial"/>
                <a:sym typeface="Arial"/>
              </a:rPr>
              <a:t>Data types are float64(1), int64(4), object(4)</a:t>
            </a:r>
            <a:endParaRPr/>
          </a:p>
        </p:txBody>
      </p:sp>
      <p:sp>
        <p:nvSpPr>
          <p:cNvPr id="387" name="Google Shape;387;g377b8bda5b4_2_15"/>
          <p:cNvSpPr/>
          <p:nvPr/>
        </p:nvSpPr>
        <p:spPr>
          <a:xfrm>
            <a:off x="55329" y="1420768"/>
            <a:ext cx="8800981" cy="2782888"/>
          </a:xfrm>
          <a:prstGeom prst="rect">
            <a:avLst/>
          </a:prstGeom>
          <a:noFill/>
          <a:ln>
            <a:noFill/>
          </a:ln>
        </p:spPr>
        <p:txBody>
          <a:bodyPr anchorCtr="0" anchor="t" bIns="0" lIns="0" spcFirstLastPara="1" rIns="0" wrap="square" tIns="0">
            <a:noAutofit/>
          </a:bodyPr>
          <a:lstStyle/>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3: Are there any missing values in the data? If yes, treat them using an appropriate method. [1 mark]</a:t>
            </a:r>
            <a:endParaRPr/>
          </a:p>
          <a:p>
            <a:pPr indent="0" lvl="0" marL="0" marR="0" rtl="0" algn="just">
              <a:lnSpc>
                <a:spcPct val="118736"/>
              </a:lnSpc>
              <a:spcBef>
                <a:spcPts val="0"/>
              </a:spcBef>
              <a:spcAft>
                <a:spcPts val="0"/>
              </a:spcAft>
              <a:buNone/>
            </a:pPr>
            <a:r>
              <a:rPr b="0" i="0" lang="en" sz="950" u="none" cap="none" strike="noStrike">
                <a:latin typeface="Arial"/>
                <a:ea typeface="Arial"/>
                <a:cs typeface="Arial"/>
                <a:sym typeface="Arial"/>
              </a:rPr>
              <a:t>In [13]:</a:t>
            </a:r>
            <a:endParaRPr/>
          </a:p>
          <a:p>
            <a:pPr indent="0" lvl="0" marL="0" marR="6299200" rtl="0" algn="l">
              <a:lnSpc>
                <a:spcPct val="118736"/>
              </a:lnSpc>
              <a:spcBef>
                <a:spcPts val="0"/>
              </a:spcBef>
              <a:spcAft>
                <a:spcPts val="0"/>
              </a:spcAft>
              <a:buNone/>
            </a:pPr>
            <a:r>
              <a:rPr b="0" i="1" lang="en" sz="950" u="none" cap="none" strike="noStrike">
                <a:latin typeface="Arial"/>
                <a:ea typeface="Arial"/>
                <a:cs typeface="Arial"/>
                <a:sym typeface="Arial"/>
              </a:rPr>
              <a:t>#    Write your code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isnull()</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sum()</a:t>
            </a:r>
            <a:endParaRPr/>
          </a:p>
          <a:p>
            <a:pPr indent="0" lvl="0" marL="0" marR="0" rtl="0" algn="just">
              <a:spcBef>
                <a:spcPts val="0"/>
              </a:spcBef>
              <a:spcAft>
                <a:spcPts val="0"/>
              </a:spcAft>
              <a:buNone/>
            </a:pPr>
            <a:r>
              <a:rPr b="0" i="0" lang="en" sz="950" u="none" cap="none" strike="noStrike">
                <a:latin typeface="Arial"/>
                <a:ea typeface="Arial"/>
                <a:cs typeface="Arial"/>
                <a:sym typeface="Arial"/>
              </a:rPr>
              <a:t>Out[13]:</a:t>
            </a:r>
            <a:endParaRPr/>
          </a:p>
          <a:p>
            <a:pPr indent="0" lvl="0" marL="0" marR="5689600" rtl="0" algn="r">
              <a:lnSpc>
                <a:spcPct val="219789"/>
              </a:lnSpc>
              <a:spcBef>
                <a:spcPts val="420"/>
              </a:spcBef>
              <a:spcAft>
                <a:spcPts val="0"/>
              </a:spcAft>
              <a:buNone/>
            </a:pPr>
            <a:r>
              <a:rPr b="1" i="0" lang="en" sz="950" u="none" cap="none" strike="noStrike">
                <a:latin typeface="Arial"/>
                <a:ea typeface="Arial"/>
                <a:cs typeface="Arial"/>
                <a:sym typeface="Arial"/>
              </a:rPr>
              <a:t>0</a:t>
            </a:r>
            <a:endParaRPr/>
          </a:p>
          <a:p>
            <a:pPr indent="0" lvl="0" marL="0" marR="5689600" rtl="0" algn="r">
              <a:lnSpc>
                <a:spcPct val="219789"/>
              </a:lnSpc>
              <a:spcBef>
                <a:spcPts val="0"/>
              </a:spcBef>
              <a:spcAft>
                <a:spcPts val="0"/>
              </a:spcAft>
              <a:buNone/>
            </a:pPr>
            <a:r>
              <a:rPr b="1" i="0" lang="en" sz="850" u="none" cap="none" strike="noStrike">
                <a:latin typeface="Arial"/>
                <a:ea typeface="Arial"/>
                <a:cs typeface="Arial"/>
                <a:sym typeface="Arial"/>
              </a:rPr>
              <a:t>order_id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customer_id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restaurant_name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cuisine_type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cost_of_the_order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day_of_the_week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rating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food_preparation_time </a:t>
            </a:r>
            <a:r>
              <a:rPr b="0" i="0" lang="en" sz="950" u="none" cap="none" strike="noStrike">
                <a:latin typeface="Arial"/>
                <a:ea typeface="Arial"/>
                <a:cs typeface="Arial"/>
                <a:sym typeface="Arial"/>
              </a:rPr>
              <a:t>0 </a:t>
            </a:r>
            <a:r>
              <a:rPr b="1" i="0" lang="en" sz="850" u="none" cap="none" strike="noStrike">
                <a:latin typeface="Arial"/>
                <a:ea typeface="Arial"/>
                <a:cs typeface="Arial"/>
                <a:sym typeface="Arial"/>
              </a:rPr>
              <a:t>delivery_time </a:t>
            </a:r>
            <a:r>
              <a:rPr b="0" i="0" lang="en" sz="950" u="none" cap="none" strike="noStrike">
                <a:latin typeface="Arial"/>
                <a:ea typeface="Arial"/>
                <a:cs typeface="Arial"/>
                <a:sym typeface="Arial"/>
              </a:rPr>
              <a:t>0</a:t>
            </a:r>
            <a:endParaRPr/>
          </a:p>
          <a:p>
            <a:pPr indent="0" lvl="0" marL="0" marR="6438900" rtl="0" algn="l">
              <a:lnSpc>
                <a:spcPct val="252631"/>
              </a:lnSpc>
              <a:spcBef>
                <a:spcPts val="840"/>
              </a:spcBef>
              <a:spcAft>
                <a:spcPts val="0"/>
              </a:spcAft>
              <a:buNone/>
            </a:pPr>
            <a:r>
              <a:rPr b="1" i="0" lang="en" sz="850" u="none" cap="none" strike="noStrike">
                <a:latin typeface="Arial"/>
                <a:ea typeface="Arial"/>
                <a:cs typeface="Arial"/>
                <a:sym typeface="Arial"/>
              </a:rPr>
              <a:t>dtype: </a:t>
            </a:r>
            <a:r>
              <a:rPr b="0" i="0" lang="en" sz="950" u="none" cap="none" strike="noStrike">
                <a:latin typeface="Arial"/>
                <a:ea typeface="Arial"/>
                <a:cs typeface="Arial"/>
                <a:sym typeface="Arial"/>
              </a:rPr>
              <a:t>int64 </a:t>
            </a:r>
            <a:r>
              <a:rPr b="1" i="0" lang="en" sz="850" u="none" cap="none" strike="noStrike">
                <a:latin typeface="Arial"/>
                <a:ea typeface="Arial"/>
                <a:cs typeface="Arial"/>
                <a:sym typeface="Arial"/>
              </a:rPr>
              <a:t>Observations:</a:t>
            </a:r>
            <a:endParaRPr/>
          </a:p>
          <a:p>
            <a:pPr indent="0" lvl="0" marL="0" marR="0" rtl="0" algn="just">
              <a:lnSpc>
                <a:spcPct val="252631"/>
              </a:lnSpc>
              <a:spcBef>
                <a:spcPts val="0"/>
              </a:spcBef>
              <a:spcAft>
                <a:spcPts val="0"/>
              </a:spcAft>
              <a:buNone/>
            </a:pPr>
            <a:r>
              <a:rPr b="0" i="0" lang="en" sz="950" u="none" cap="none" strike="noStrike">
                <a:latin typeface="Arial"/>
                <a:ea typeface="Arial"/>
                <a:cs typeface="Arial"/>
                <a:sym typeface="Arial"/>
              </a:rPr>
              <a:t>No missing value found</a:t>
            </a:r>
            <a:endParaRPr/>
          </a:p>
          <a:p>
            <a:pPr indent="0" lvl="0" marL="0" marR="0" rtl="0" algn="just">
              <a:lnSpc>
                <a:spcPct val="124363"/>
              </a:lnSpc>
              <a:spcBef>
                <a:spcPts val="0"/>
              </a:spcBef>
              <a:spcAft>
                <a:spcPts val="0"/>
              </a:spcAft>
              <a:buNone/>
            </a:pPr>
            <a:r>
              <a:rPr b="1" i="0" lang="en" sz="1100" u="none" cap="none" strike="noStrike">
                <a:latin typeface="Arial"/>
                <a:ea typeface="Arial"/>
                <a:cs typeface="Arial"/>
                <a:sym typeface="Arial"/>
              </a:rPr>
              <a:t>Question 4: Check the statistical summary of the data. What is the minimum, average, and maximum time it takes for food to be prepared once an order is placed? [2 marks]</a:t>
            </a:r>
            <a:endParaRPr/>
          </a:p>
          <a:p>
            <a:pPr indent="0" lvl="0" marL="0" marR="0" rtl="0" algn="just">
              <a:lnSpc>
                <a:spcPct val="121263"/>
              </a:lnSpc>
              <a:spcBef>
                <a:spcPts val="0"/>
              </a:spcBef>
              <a:spcAft>
                <a:spcPts val="0"/>
              </a:spcAft>
              <a:buNone/>
            </a:pPr>
            <a:r>
              <a:rPr b="0" i="0" lang="en" sz="950" u="none" cap="none" strike="noStrike">
                <a:latin typeface="Arial"/>
                <a:ea typeface="Arial"/>
                <a:cs typeface="Arial"/>
                <a:sym typeface="Arial"/>
              </a:rPr>
              <a:t>In [14]:</a:t>
            </a:r>
            <a:endParaRPr/>
          </a:p>
          <a:p>
            <a:pPr indent="0" lvl="0" marL="0" marR="6007100" rtl="0" algn="l">
              <a:lnSpc>
                <a:spcPct val="121263"/>
              </a:lnSpc>
              <a:spcBef>
                <a:spcPts val="0"/>
              </a:spcBef>
              <a:spcAft>
                <a:spcPts val="0"/>
              </a:spcAft>
              <a:buNone/>
            </a:pPr>
            <a:r>
              <a:rPr b="0" i="1" lang="en" sz="950" u="none" cap="none" strike="noStrike">
                <a:latin typeface="Arial"/>
                <a:ea typeface="Arial"/>
                <a:cs typeface="Arial"/>
                <a:sym typeface="Arial"/>
              </a:rPr>
              <a:t>#    Write your code here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describe()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g377b8bda5b4_2_21"/>
          <p:cNvSpPr/>
          <p:nvPr/>
        </p:nvSpPr>
        <p:spPr>
          <a:xfrm>
            <a:off x="59017" y="0"/>
            <a:ext cx="553289" cy="6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Out[14]:</a:t>
            </a:r>
            <a:endParaRPr/>
          </a:p>
        </p:txBody>
      </p:sp>
      <p:graphicFrame>
        <p:nvGraphicFramePr>
          <p:cNvPr id="393" name="Google Shape;393;g377b8bda5b4_2_21"/>
          <p:cNvGraphicFramePr/>
          <p:nvPr/>
        </p:nvGraphicFramePr>
        <p:xfrm>
          <a:off x="129101" y="95304"/>
          <a:ext cx="3000000" cy="3000000"/>
        </p:xfrm>
        <a:graphic>
          <a:graphicData uri="http://schemas.openxmlformats.org/drawingml/2006/table">
            <a:tbl>
              <a:tblPr>
                <a:noFill/>
                <a:tableStyleId>{027568D1-9BE7-4ABE-AB64-776F8D02060C}</a:tableStyleId>
              </a:tblPr>
              <a:tblGrid>
                <a:gridCol w="497950"/>
                <a:gridCol w="1099175"/>
                <a:gridCol w="1172975"/>
                <a:gridCol w="1427475"/>
                <a:gridCol w="1744675"/>
                <a:gridCol w="1032800"/>
              </a:tblGrid>
              <a:tr h="98225">
                <a:tc>
                  <a:txBody>
                    <a:bodyPr/>
                    <a:lstStyle/>
                    <a:p>
                      <a:pPr indent="0" lvl="0" marL="0" marR="0" rtl="0" algn="l">
                        <a:spcBef>
                          <a:spcPts val="0"/>
                        </a:spcBef>
                        <a:spcAft>
                          <a:spcPts val="0"/>
                        </a:spcAft>
                        <a:buNone/>
                      </a:pPr>
                      <a:r>
                        <a:t/>
                      </a:r>
                      <a:endParaRPr sz="5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order_id</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customer_id</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cost_of_the_order</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food_preparation_time</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delivery_time</a:t>
                      </a:r>
                      <a:endParaRPr sz="700"/>
                    </a:p>
                  </a:txBody>
                  <a:tcPr marT="0" marB="0" marR="0" marL="0"/>
                </a:tc>
              </a:tr>
              <a:tr h="124625">
                <a:tc>
                  <a:txBody>
                    <a:bodyPr/>
                    <a:lstStyle/>
                    <a:p>
                      <a:pPr indent="0" lvl="0" marL="0" marR="0" rtl="0" algn="l">
                        <a:spcBef>
                          <a:spcPts val="0"/>
                        </a:spcBef>
                        <a:spcAft>
                          <a:spcPts val="0"/>
                        </a:spcAft>
                        <a:buNone/>
                      </a:pPr>
                      <a:r>
                        <a:rPr b="1" lang="en" sz="400">
                          <a:latin typeface="Arial"/>
                          <a:ea typeface="Arial"/>
                          <a:cs typeface="Arial"/>
                          <a:sym typeface="Arial"/>
                        </a:rPr>
                        <a:t>count</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1.898000e+03</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1898.000000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1898.000000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1898.000000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1898.000000</a:t>
                      </a:r>
                      <a:endParaRPr sz="700"/>
                    </a:p>
                  </a:txBody>
                  <a:tcPr marT="0" marB="0" marR="0" marL="0" anchor="ctr"/>
                </a:tc>
              </a:tr>
              <a:tr h="129025">
                <a:tc>
                  <a:txBody>
                    <a:bodyPr/>
                    <a:lstStyle/>
                    <a:p>
                      <a:pPr indent="0" lvl="0" marL="0" marR="0" rtl="0" algn="l">
                        <a:spcBef>
                          <a:spcPts val="0"/>
                        </a:spcBef>
                        <a:spcAft>
                          <a:spcPts val="0"/>
                        </a:spcAft>
                        <a:buNone/>
                      </a:pPr>
                      <a:r>
                        <a:rPr b="1" lang="en" sz="400">
                          <a:latin typeface="Arial"/>
                          <a:ea typeface="Arial"/>
                          <a:cs typeface="Arial"/>
                          <a:sym typeface="Arial"/>
                        </a:rPr>
                        <a:t>mean</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1.477496e+06</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171168.478398</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16.498851</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27.371970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24.161749</a:t>
                      </a:r>
                      <a:endParaRPr sz="700"/>
                    </a:p>
                  </a:txBody>
                  <a:tcPr marT="0" marB="0" marR="0" marL="0" anchor="ctr"/>
                </a:tc>
              </a:tr>
              <a:tr h="127550">
                <a:tc>
                  <a:txBody>
                    <a:bodyPr/>
                    <a:lstStyle/>
                    <a:p>
                      <a:pPr indent="0" lvl="0" marL="76200" marR="0" rtl="0" algn="l">
                        <a:spcBef>
                          <a:spcPts val="0"/>
                        </a:spcBef>
                        <a:spcAft>
                          <a:spcPts val="0"/>
                        </a:spcAft>
                        <a:buNone/>
                      </a:pPr>
                      <a:r>
                        <a:rPr b="1" lang="en" sz="400">
                          <a:latin typeface="Arial"/>
                          <a:ea typeface="Arial"/>
                          <a:cs typeface="Arial"/>
                          <a:sym typeface="Arial"/>
                        </a:rPr>
                        <a:t>std</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5.480497e+02</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113698.139743</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7.483812</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4.632481</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4.972637</a:t>
                      </a:r>
                      <a:endParaRPr sz="700"/>
                    </a:p>
                  </a:txBody>
                  <a:tcPr marT="0" marB="0" marR="0" marL="0" anchor="ctr"/>
                </a:tc>
              </a:tr>
              <a:tr h="129025">
                <a:tc>
                  <a:txBody>
                    <a:bodyPr/>
                    <a:lstStyle/>
                    <a:p>
                      <a:pPr indent="0" lvl="0" marL="76200" marR="0" rtl="0" algn="l">
                        <a:spcBef>
                          <a:spcPts val="0"/>
                        </a:spcBef>
                        <a:spcAft>
                          <a:spcPts val="0"/>
                        </a:spcAft>
                        <a:buNone/>
                      </a:pPr>
                      <a:r>
                        <a:rPr b="1" lang="en" sz="400">
                          <a:latin typeface="Arial"/>
                          <a:ea typeface="Arial"/>
                          <a:cs typeface="Arial"/>
                          <a:sym typeface="Arial"/>
                        </a:rPr>
                        <a:t>min</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1.476547e+06</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1311.000000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4.470000</a:t>
                      </a:r>
                      <a:endParaRPr sz="700"/>
                    </a:p>
                  </a:txBody>
                  <a:tcPr marT="0" marB="0" marR="0" marL="0" anchor="ctr"/>
                </a:tc>
                <a:tc>
                  <a:txBody>
                    <a:bodyPr/>
                    <a:lstStyle/>
                    <a:p>
                      <a:pPr indent="0" lvl="0" marL="0" marR="0" rtl="0" algn="r">
                        <a:spcBef>
                          <a:spcPts val="0"/>
                        </a:spcBef>
                        <a:spcAft>
                          <a:spcPts val="0"/>
                        </a:spcAft>
                        <a:buNone/>
                      </a:pPr>
                      <a:r>
                        <a:rPr b="1" lang="en" sz="500">
                          <a:latin typeface="Arial"/>
                          <a:ea typeface="Arial"/>
                          <a:cs typeface="Arial"/>
                          <a:sym typeface="Arial"/>
                        </a:rPr>
                        <a:t>20.000000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15.000000</a:t>
                      </a:r>
                      <a:endParaRPr sz="700"/>
                    </a:p>
                  </a:txBody>
                  <a:tcPr marT="0" marB="0" marR="0" marL="0" anchor="ctr"/>
                </a:tc>
              </a:tr>
              <a:tr h="127550">
                <a:tc>
                  <a:txBody>
                    <a:bodyPr/>
                    <a:lstStyle/>
                    <a:p>
                      <a:pPr indent="0" lvl="0" marL="50800" marR="0" rtl="0" algn="l">
                        <a:spcBef>
                          <a:spcPts val="0"/>
                        </a:spcBef>
                        <a:spcAft>
                          <a:spcPts val="0"/>
                        </a:spcAft>
                        <a:buNone/>
                      </a:pPr>
                      <a:r>
                        <a:rPr b="1" lang="en" sz="400">
                          <a:latin typeface="Arial"/>
                          <a:ea typeface="Arial"/>
                          <a:cs typeface="Arial"/>
                          <a:sym typeface="Arial"/>
                        </a:rPr>
                        <a:t>25%</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1.477021e+06</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77787.750000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12.080000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23.000000</a:t>
                      </a:r>
                      <a:endParaRPr sz="700"/>
                    </a:p>
                  </a:txBody>
                  <a:tcPr marT="0" marB="0" marR="0" marL="0" anchor="ctr"/>
                </a:tc>
                <a:tc>
                  <a:txBody>
                    <a:bodyPr/>
                    <a:lstStyle/>
                    <a:p>
                      <a:pPr indent="0" lvl="0" marL="0" marR="0" rtl="0" algn="r">
                        <a:spcBef>
                          <a:spcPts val="0"/>
                        </a:spcBef>
                        <a:spcAft>
                          <a:spcPts val="0"/>
                        </a:spcAft>
                        <a:buNone/>
                      </a:pPr>
                      <a:r>
                        <a:rPr b="1" lang="en" sz="500">
                          <a:latin typeface="Arial"/>
                          <a:ea typeface="Arial"/>
                          <a:cs typeface="Arial"/>
                          <a:sym typeface="Arial"/>
                        </a:rPr>
                        <a:t>20.000000</a:t>
                      </a:r>
                      <a:endParaRPr sz="700"/>
                    </a:p>
                  </a:txBody>
                  <a:tcPr marT="0" marB="0" marR="0" marL="0" anchor="ctr"/>
                </a:tc>
              </a:tr>
              <a:tr h="129025">
                <a:tc>
                  <a:txBody>
                    <a:bodyPr/>
                    <a:lstStyle/>
                    <a:p>
                      <a:pPr indent="0" lvl="0" marL="50800" marR="0" rtl="0" algn="l">
                        <a:spcBef>
                          <a:spcPts val="0"/>
                        </a:spcBef>
                        <a:spcAft>
                          <a:spcPts val="0"/>
                        </a:spcAft>
                        <a:buNone/>
                      </a:pPr>
                      <a:r>
                        <a:rPr b="1" lang="en" sz="400">
                          <a:latin typeface="Arial"/>
                          <a:ea typeface="Arial"/>
                          <a:cs typeface="Arial"/>
                          <a:sym typeface="Arial"/>
                        </a:rPr>
                        <a:t>50%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1.477496e+06</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128600.000000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14.140000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27.000000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25.000000</a:t>
                      </a:r>
                      <a:endParaRPr sz="700"/>
                    </a:p>
                  </a:txBody>
                  <a:tcPr marT="0" marB="0" marR="0" marL="0" anchor="ctr"/>
                </a:tc>
              </a:tr>
              <a:tr h="127550">
                <a:tc>
                  <a:txBody>
                    <a:bodyPr/>
                    <a:lstStyle/>
                    <a:p>
                      <a:pPr indent="0" lvl="0" marL="50800" marR="0" rtl="0" algn="l">
                        <a:spcBef>
                          <a:spcPts val="0"/>
                        </a:spcBef>
                        <a:spcAft>
                          <a:spcPts val="0"/>
                        </a:spcAft>
                        <a:buNone/>
                      </a:pPr>
                      <a:r>
                        <a:rPr b="1" lang="en" sz="400">
                          <a:latin typeface="Arial"/>
                          <a:ea typeface="Arial"/>
                          <a:cs typeface="Arial"/>
                          <a:sym typeface="Arial"/>
                        </a:rPr>
                        <a:t>75%</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1.477970e+06</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270525.000000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22.297500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31.000000</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28.000000</a:t>
                      </a:r>
                      <a:endParaRPr sz="700"/>
                    </a:p>
                  </a:txBody>
                  <a:tcPr marT="0" marB="0" marR="0" marL="0" anchor="ctr"/>
                </a:tc>
              </a:tr>
              <a:tr h="95300">
                <a:tc>
                  <a:txBody>
                    <a:bodyPr/>
                    <a:lstStyle/>
                    <a:p>
                      <a:pPr indent="0" lvl="0" marL="50800" marR="0" rtl="0" algn="l">
                        <a:spcBef>
                          <a:spcPts val="0"/>
                        </a:spcBef>
                        <a:spcAft>
                          <a:spcPts val="0"/>
                        </a:spcAft>
                        <a:buNone/>
                      </a:pPr>
                      <a:r>
                        <a:rPr b="1" lang="en" sz="400">
                          <a:latin typeface="Arial"/>
                          <a:ea typeface="Arial"/>
                          <a:cs typeface="Arial"/>
                          <a:sym typeface="Arial"/>
                        </a:rPr>
                        <a:t>max</a:t>
                      </a:r>
                      <a:endParaRPr sz="700"/>
                    </a:p>
                  </a:txBody>
                  <a:tcPr marT="0" marB="0" marR="0" marL="0" anchor="b"/>
                </a:tc>
                <a:tc>
                  <a:txBody>
                    <a:bodyPr/>
                    <a:lstStyle/>
                    <a:p>
                      <a:pPr indent="0" lvl="0" marL="0" marR="0" rtl="0" algn="r">
                        <a:spcBef>
                          <a:spcPts val="0"/>
                        </a:spcBef>
                        <a:spcAft>
                          <a:spcPts val="0"/>
                        </a:spcAft>
                        <a:buNone/>
                      </a:pPr>
                      <a:r>
                        <a:rPr b="1" lang="en" sz="500">
                          <a:latin typeface="Arial"/>
                          <a:ea typeface="Arial"/>
                          <a:cs typeface="Arial"/>
                          <a:sym typeface="Arial"/>
                        </a:rPr>
                        <a:t>1</a:t>
                      </a:r>
                      <a:r>
                        <a:rPr b="1" lang="en" sz="400">
                          <a:latin typeface="Arial"/>
                          <a:ea typeface="Arial"/>
                          <a:cs typeface="Arial"/>
                          <a:sym typeface="Arial"/>
                        </a:rPr>
                        <a:t>.478444e+06</a:t>
                      </a:r>
                      <a:endParaRPr sz="700"/>
                    </a:p>
                  </a:txBody>
                  <a:tcPr marT="0" marB="0" marR="0" marL="0" anchor="b"/>
                </a:tc>
                <a:tc>
                  <a:txBody>
                    <a:bodyPr/>
                    <a:lstStyle/>
                    <a:p>
                      <a:pPr indent="0" lvl="0" marL="0" marR="0" rtl="0" algn="r">
                        <a:spcBef>
                          <a:spcPts val="0"/>
                        </a:spcBef>
                        <a:spcAft>
                          <a:spcPts val="0"/>
                        </a:spcAft>
                        <a:buNone/>
                      </a:pPr>
                      <a:r>
                        <a:rPr b="1" lang="en" sz="400">
                          <a:latin typeface="Arial"/>
                          <a:ea typeface="Arial"/>
                          <a:cs typeface="Arial"/>
                          <a:sym typeface="Arial"/>
                        </a:rPr>
                        <a:t>405334.000000</a:t>
                      </a:r>
                      <a:endParaRPr sz="700"/>
                    </a:p>
                  </a:txBody>
                  <a:tcPr marT="0" marB="0" marR="0" marL="0" anchor="b"/>
                </a:tc>
                <a:tc>
                  <a:txBody>
                    <a:bodyPr/>
                    <a:lstStyle/>
                    <a:p>
                      <a:pPr indent="0" lvl="0" marL="0" marR="0" rtl="0" algn="r">
                        <a:spcBef>
                          <a:spcPts val="0"/>
                        </a:spcBef>
                        <a:spcAft>
                          <a:spcPts val="0"/>
                        </a:spcAft>
                        <a:buNone/>
                      </a:pPr>
                      <a:r>
                        <a:rPr b="1" lang="en" sz="400">
                          <a:latin typeface="Arial"/>
                          <a:ea typeface="Arial"/>
                          <a:cs typeface="Arial"/>
                          <a:sym typeface="Arial"/>
                        </a:rPr>
                        <a:t>35.410000</a:t>
                      </a:r>
                      <a:endParaRPr sz="700"/>
                    </a:p>
                  </a:txBody>
                  <a:tcPr marT="0" marB="0" marR="0" marL="0" anchor="b"/>
                </a:tc>
                <a:tc>
                  <a:txBody>
                    <a:bodyPr/>
                    <a:lstStyle/>
                    <a:p>
                      <a:pPr indent="0" lvl="0" marL="0" marR="0" rtl="0" algn="r">
                        <a:spcBef>
                          <a:spcPts val="0"/>
                        </a:spcBef>
                        <a:spcAft>
                          <a:spcPts val="0"/>
                        </a:spcAft>
                        <a:buNone/>
                      </a:pPr>
                      <a:r>
                        <a:rPr b="1" lang="en" sz="400">
                          <a:latin typeface="Arial"/>
                          <a:ea typeface="Arial"/>
                          <a:cs typeface="Arial"/>
                          <a:sym typeface="Arial"/>
                        </a:rPr>
                        <a:t>35.000000</a:t>
                      </a:r>
                      <a:endParaRPr sz="700"/>
                    </a:p>
                  </a:txBody>
                  <a:tcPr marT="0" marB="0" marR="0" marL="0" anchor="b"/>
                </a:tc>
                <a:tc>
                  <a:txBody>
                    <a:bodyPr/>
                    <a:lstStyle/>
                    <a:p>
                      <a:pPr indent="0" lvl="0" marL="0" marR="0" rtl="0" algn="r">
                        <a:spcBef>
                          <a:spcPts val="0"/>
                        </a:spcBef>
                        <a:spcAft>
                          <a:spcPts val="0"/>
                        </a:spcAft>
                        <a:buNone/>
                      </a:pPr>
                      <a:r>
                        <a:rPr b="1" lang="en" sz="400">
                          <a:latin typeface="Arial"/>
                          <a:ea typeface="Arial"/>
                          <a:cs typeface="Arial"/>
                          <a:sym typeface="Arial"/>
                        </a:rPr>
                        <a:t>33.000000</a:t>
                      </a:r>
                      <a:endParaRPr sz="700"/>
                    </a:p>
                  </a:txBody>
                  <a:tcPr marT="0" marB="0" marR="0" marL="0" anchor="b"/>
                </a:tc>
              </a:tr>
            </a:tbl>
          </a:graphicData>
        </a:graphic>
      </p:graphicFrame>
      <p:sp>
        <p:nvSpPr>
          <p:cNvPr id="394" name="Google Shape;394;g377b8bda5b4_2_21"/>
          <p:cNvSpPr/>
          <p:nvPr/>
        </p:nvSpPr>
        <p:spPr>
          <a:xfrm>
            <a:off x="55329" y="1354788"/>
            <a:ext cx="4452131" cy="16187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Observations:</a:t>
            </a:r>
            <a:endParaRPr/>
          </a:p>
          <a:p>
            <a:pPr indent="0" lvl="0" marL="215900" marR="1499108" rtl="0" algn="l">
              <a:lnSpc>
                <a:spcPct val="124800"/>
              </a:lnSpc>
              <a:spcBef>
                <a:spcPts val="1050"/>
              </a:spcBef>
              <a:spcAft>
                <a:spcPts val="0"/>
              </a:spcAft>
              <a:buNone/>
            </a:pPr>
            <a:r>
              <a:rPr b="0" i="0" lang="en" sz="750" u="none" cap="none" strike="noStrike">
                <a:latin typeface="Arial"/>
                <a:ea typeface="Arial"/>
                <a:cs typeface="Arial"/>
                <a:sym typeface="Arial"/>
              </a:rPr>
              <a:t>Food preparation time ( once order is placed) minimum: 20 min average: 27.37 min maximum: 35 min</a:t>
            </a:r>
            <a:endParaRPr/>
          </a:p>
          <a:p>
            <a:pPr indent="0" lvl="0" marL="0" marR="0" rtl="0" algn="l">
              <a:spcBef>
                <a:spcPts val="1050"/>
              </a:spcBef>
              <a:spcAft>
                <a:spcPts val="0"/>
              </a:spcAft>
              <a:buNone/>
            </a:pPr>
            <a:r>
              <a:rPr b="1" i="0" lang="en" sz="1100" u="none" cap="none" strike="noStrike">
                <a:latin typeface="Arial"/>
                <a:ea typeface="Arial"/>
                <a:cs typeface="Arial"/>
                <a:sym typeface="Arial"/>
              </a:rPr>
              <a:t>Question 5: How many orders are not rated? [1 mark]</a:t>
            </a:r>
            <a:endParaRPr/>
          </a:p>
          <a:p>
            <a:pPr indent="0" lvl="0" marL="0" marR="0" rtl="0" algn="l">
              <a:lnSpc>
                <a:spcPct val="135529"/>
              </a:lnSpc>
              <a:spcBef>
                <a:spcPts val="420"/>
              </a:spcBef>
              <a:spcAft>
                <a:spcPts val="0"/>
              </a:spcAft>
              <a:buNone/>
            </a:pPr>
            <a:r>
              <a:rPr b="1" i="0" lang="en" sz="850" u="none" cap="none" strike="noStrike">
                <a:latin typeface="Arial"/>
                <a:ea typeface="Arial"/>
                <a:cs typeface="Arial"/>
                <a:sym typeface="Arial"/>
              </a:rPr>
              <a:t>In [15]:</a:t>
            </a:r>
            <a:endParaRPr/>
          </a:p>
          <a:p>
            <a:pPr indent="0" lvl="0" marL="0" marR="0" rtl="0" algn="l">
              <a:lnSpc>
                <a:spcPct val="121263"/>
              </a:lnSpc>
              <a:spcBef>
                <a:spcPts val="0"/>
              </a:spcBef>
              <a:spcAft>
                <a:spcPts val="0"/>
              </a:spcAft>
              <a:buNone/>
            </a:pPr>
            <a:r>
              <a:rPr b="0" i="1" lang="en" sz="950" u="none" cap="none" strike="noStrike">
                <a:latin typeface="Arial"/>
                <a:ea typeface="Arial"/>
                <a:cs typeface="Arial"/>
                <a:sym typeface="Arial"/>
              </a:rPr>
              <a:t># Write the code </a:t>
            </a:r>
            <a:r>
              <a:rPr b="1" i="0" lang="en" sz="850" u="none" cap="none" strike="noStrike">
                <a:latin typeface="Arial"/>
                <a:ea typeface="Arial"/>
                <a:cs typeface="Arial"/>
                <a:sym typeface="Arial"/>
              </a:rPr>
              <a:t>df['rating'].value_counts()</a:t>
            </a:r>
            <a:endParaRPr/>
          </a:p>
          <a:p>
            <a:pPr indent="0" lvl="0" marL="0" marR="0" rtl="0" algn="l">
              <a:spcBef>
                <a:spcPts val="0"/>
              </a:spcBef>
              <a:spcAft>
                <a:spcPts val="0"/>
              </a:spcAft>
              <a:buNone/>
            </a:pPr>
            <a:r>
              <a:rPr b="1" i="0" lang="en" sz="850" u="none" cap="none" strike="noStrike">
                <a:latin typeface="Arial"/>
                <a:ea typeface="Arial"/>
                <a:cs typeface="Arial"/>
                <a:sym typeface="Arial"/>
              </a:rPr>
              <a:t>Out[15]:</a:t>
            </a:r>
            <a:endParaRPr/>
          </a:p>
          <a:p>
            <a:pPr indent="0" lvl="0" marL="762000" marR="0" rtl="0" algn="l">
              <a:lnSpc>
                <a:spcPct val="245647"/>
              </a:lnSpc>
              <a:spcBef>
                <a:spcPts val="420"/>
              </a:spcBef>
              <a:spcAft>
                <a:spcPts val="0"/>
              </a:spcAft>
              <a:buNone/>
            </a:pPr>
            <a:r>
              <a:rPr b="1" i="0" lang="en" sz="850" u="none" cap="none" strike="noStrike">
                <a:latin typeface="Arial"/>
                <a:ea typeface="Arial"/>
                <a:cs typeface="Arial"/>
                <a:sym typeface="Arial"/>
              </a:rPr>
              <a:t>count</a:t>
            </a:r>
            <a:endParaRPr/>
          </a:p>
          <a:p>
            <a:pPr indent="0" lvl="0" marL="304800" marR="0" rtl="0" algn="l">
              <a:lnSpc>
                <a:spcPct val="245647"/>
              </a:lnSpc>
              <a:spcBef>
                <a:spcPts val="0"/>
              </a:spcBef>
              <a:spcAft>
                <a:spcPts val="0"/>
              </a:spcAft>
              <a:buNone/>
            </a:pPr>
            <a:r>
              <a:rPr b="1" i="0" lang="en" sz="850" u="none" cap="none" strike="noStrike">
                <a:latin typeface="Arial"/>
                <a:ea typeface="Arial"/>
                <a:cs typeface="Arial"/>
                <a:sym typeface="Arial"/>
              </a:rPr>
              <a:t>rating</a:t>
            </a:r>
            <a:endParaRPr/>
          </a:p>
          <a:p>
            <a:pPr indent="0" lvl="0" marL="0" marR="0" rtl="0" algn="just">
              <a:lnSpc>
                <a:spcPct val="245647"/>
              </a:lnSpc>
              <a:spcBef>
                <a:spcPts val="0"/>
              </a:spcBef>
              <a:spcAft>
                <a:spcPts val="0"/>
              </a:spcAft>
              <a:buNone/>
            </a:pPr>
            <a:r>
              <a:rPr b="1" i="0" lang="en" sz="850" u="none" cap="none" strike="noStrike">
                <a:latin typeface="Arial"/>
                <a:ea typeface="Arial"/>
                <a:cs typeface="Arial"/>
                <a:sym typeface="Arial"/>
              </a:rPr>
              <a:t>Not given    736</a:t>
            </a:r>
            <a:endParaRPr/>
          </a:p>
          <a:p>
            <a:pPr indent="0" lvl="0" marL="571500" marR="0" rtl="0" algn="just">
              <a:lnSpc>
                <a:spcPct val="245647"/>
              </a:lnSpc>
              <a:spcBef>
                <a:spcPts val="0"/>
              </a:spcBef>
              <a:spcAft>
                <a:spcPts val="0"/>
              </a:spcAft>
              <a:buNone/>
            </a:pPr>
            <a:r>
              <a:rPr b="1" i="0" lang="en" sz="850" u="none" cap="none" strike="noStrike">
                <a:latin typeface="Arial"/>
                <a:ea typeface="Arial"/>
                <a:cs typeface="Arial"/>
                <a:sym typeface="Arial"/>
              </a:rPr>
              <a:t>5    588</a:t>
            </a:r>
            <a:endParaRPr/>
          </a:p>
          <a:p>
            <a:pPr indent="0" lvl="0" marL="571500" marR="0" rtl="0" algn="just">
              <a:lnSpc>
                <a:spcPct val="245647"/>
              </a:lnSpc>
              <a:spcBef>
                <a:spcPts val="0"/>
              </a:spcBef>
              <a:spcAft>
                <a:spcPts val="0"/>
              </a:spcAft>
              <a:buNone/>
            </a:pPr>
            <a:r>
              <a:rPr b="1" i="0" lang="en" sz="850" u="none" cap="none" strike="noStrike">
                <a:latin typeface="Arial"/>
                <a:ea typeface="Arial"/>
                <a:cs typeface="Arial"/>
                <a:sym typeface="Arial"/>
              </a:rPr>
              <a:t>4    386</a:t>
            </a:r>
            <a:endParaRPr/>
          </a:p>
          <a:p>
            <a:pPr indent="0" lvl="0" marL="571500" marR="0" rtl="0" algn="just">
              <a:lnSpc>
                <a:spcPct val="245647"/>
              </a:lnSpc>
              <a:spcBef>
                <a:spcPts val="0"/>
              </a:spcBef>
              <a:spcAft>
                <a:spcPts val="0"/>
              </a:spcAft>
              <a:buNone/>
            </a:pPr>
            <a:r>
              <a:rPr b="1" i="0" lang="en" sz="850" u="none" cap="none" strike="noStrike">
                <a:latin typeface="Arial"/>
                <a:ea typeface="Arial"/>
                <a:cs typeface="Arial"/>
                <a:sym typeface="Arial"/>
              </a:rPr>
              <a:t>3    188</a:t>
            </a:r>
            <a:endParaRPr/>
          </a:p>
        </p:txBody>
      </p:sp>
      <p:sp>
        <p:nvSpPr>
          <p:cNvPr id="395" name="Google Shape;395;g377b8bda5b4_2_21"/>
          <p:cNvSpPr/>
          <p:nvPr/>
        </p:nvSpPr>
        <p:spPr>
          <a:xfrm>
            <a:off x="55329" y="3139180"/>
            <a:ext cx="1143464" cy="354826"/>
          </a:xfrm>
          <a:prstGeom prst="rect">
            <a:avLst/>
          </a:prstGeom>
          <a:noFill/>
          <a:ln>
            <a:noFill/>
          </a:ln>
        </p:spPr>
        <p:txBody>
          <a:bodyPr anchorCtr="0" anchor="t" bIns="0" lIns="0" spcFirstLastPara="1" rIns="0" wrap="square" tIns="0">
            <a:noAutofit/>
          </a:bodyPr>
          <a:lstStyle/>
          <a:p>
            <a:pPr indent="0" lvl="0" marL="0" marR="0" rtl="0" algn="l">
              <a:lnSpc>
                <a:spcPct val="282352"/>
              </a:lnSpc>
              <a:spcBef>
                <a:spcPts val="0"/>
              </a:spcBef>
              <a:spcAft>
                <a:spcPts val="0"/>
              </a:spcAft>
              <a:buNone/>
            </a:pPr>
            <a:r>
              <a:rPr b="1" i="0" lang="en" sz="850" u="none" cap="none" strike="noStrike">
                <a:latin typeface="Arial"/>
                <a:ea typeface="Arial"/>
                <a:cs typeface="Arial"/>
                <a:sym typeface="Arial"/>
              </a:rPr>
              <a:t>dtype: int64 Observations:</a:t>
            </a:r>
            <a:endParaRPr/>
          </a:p>
          <a:p>
            <a:pPr indent="0" lvl="0" marL="0" marR="0" rtl="0" algn="l">
              <a:lnSpc>
                <a:spcPct val="282352"/>
              </a:lnSpc>
              <a:spcBef>
                <a:spcPts val="0"/>
              </a:spcBef>
              <a:spcAft>
                <a:spcPts val="0"/>
              </a:spcAft>
              <a:buNone/>
            </a:pPr>
            <a:r>
              <a:rPr b="1" i="0" lang="en" sz="850" u="none" cap="none" strike="noStrike">
                <a:latin typeface="Arial"/>
                <a:ea typeface="Arial"/>
                <a:cs typeface="Arial"/>
                <a:sym typeface="Arial"/>
              </a:rPr>
              <a:t>No rated are 736</a:t>
            </a:r>
            <a:endParaRPr/>
          </a:p>
        </p:txBody>
      </p:sp>
      <p:sp>
        <p:nvSpPr>
          <p:cNvPr id="396" name="Google Shape;396;g377b8bda5b4_2_21"/>
          <p:cNvSpPr/>
          <p:nvPr/>
        </p:nvSpPr>
        <p:spPr>
          <a:xfrm>
            <a:off x="55329" y="3595175"/>
            <a:ext cx="8026377" cy="1499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1100" u="none" cap="none" strike="noStrike">
                <a:latin typeface="Arial"/>
                <a:ea typeface="Arial"/>
                <a:cs typeface="Arial"/>
                <a:sym typeface="Arial"/>
              </a:rPr>
              <a:t>Exploratory Data Analysis (EDA)</a:t>
            </a:r>
            <a:endParaRPr/>
          </a:p>
          <a:p>
            <a:pPr indent="0" lvl="0" marL="0" marR="0" rtl="0" algn="l">
              <a:spcBef>
                <a:spcPts val="1260"/>
              </a:spcBef>
              <a:spcAft>
                <a:spcPts val="0"/>
              </a:spcAft>
              <a:buNone/>
            </a:pPr>
            <a:r>
              <a:rPr b="1" i="0" lang="en" sz="1100" u="none" cap="none" strike="noStrike">
                <a:latin typeface="Arial"/>
                <a:ea typeface="Arial"/>
                <a:cs typeface="Arial"/>
                <a:sym typeface="Arial"/>
              </a:rPr>
              <a:t>Univariate Analysis</a:t>
            </a:r>
            <a:endParaRPr/>
          </a:p>
          <a:p>
            <a:pPr indent="0" lvl="0" marL="0" marR="0" rtl="0" algn="l">
              <a:lnSpc>
                <a:spcPct val="126545"/>
              </a:lnSpc>
              <a:spcBef>
                <a:spcPts val="1260"/>
              </a:spcBef>
              <a:spcAft>
                <a:spcPts val="0"/>
              </a:spcAft>
              <a:buNone/>
            </a:pPr>
            <a:r>
              <a:rPr b="1" i="0" lang="en" sz="1100" u="none" cap="none" strike="noStrike">
                <a:latin typeface="Arial"/>
                <a:ea typeface="Arial"/>
                <a:cs typeface="Arial"/>
                <a:sym typeface="Arial"/>
              </a:rPr>
              <a:t>Question 6: Explore all the variables and provide observations on their distributions. (Generally, histograms, boxplots, countplots, etc. are used for univariate exploration.) [9 marks]</a:t>
            </a:r>
            <a:endParaRPr/>
          </a:p>
          <a:p>
            <a:pPr indent="0" lvl="0" marL="0" marR="0" rtl="0" algn="l">
              <a:spcBef>
                <a:spcPts val="0"/>
              </a:spcBef>
              <a:spcAft>
                <a:spcPts val="0"/>
              </a:spcAft>
              <a:buNone/>
            </a:pPr>
            <a:r>
              <a:rPr b="1" i="0" lang="en" sz="850" u="none" cap="none" strike="noStrike">
                <a:latin typeface="Arial"/>
                <a:ea typeface="Arial"/>
                <a:cs typeface="Arial"/>
                <a:sym typeface="Arial"/>
              </a:rPr>
              <a:t>In [16]:</a:t>
            </a:r>
            <a:endParaRPr/>
          </a:p>
          <a:p>
            <a:pPr indent="0" lvl="0" marL="0" marR="0" rtl="0" algn="l">
              <a:spcBef>
                <a:spcPts val="0"/>
              </a:spcBef>
              <a:spcAft>
                <a:spcPts val="0"/>
              </a:spcAft>
              <a:buNone/>
            </a:pPr>
            <a:r>
              <a:rPr b="1" i="0" lang="en" sz="850" u="none" cap="none" strike="noStrike">
                <a:latin typeface="Arial"/>
                <a:ea typeface="Arial"/>
                <a:cs typeface="Arial"/>
                <a:sym typeface="Arial"/>
              </a:rPr>
              <a:t>df['order_id'].nunique()</a:t>
            </a:r>
            <a:endParaRPr/>
          </a:p>
          <a:p>
            <a:pPr indent="0" lvl="0" marL="0" marR="0" rtl="0" algn="l">
              <a:lnSpc>
                <a:spcPct val="121411"/>
              </a:lnSpc>
              <a:spcBef>
                <a:spcPts val="420"/>
              </a:spcBef>
              <a:spcAft>
                <a:spcPts val="0"/>
              </a:spcAft>
              <a:buNone/>
            </a:pPr>
            <a:r>
              <a:rPr b="1" i="0" lang="en" sz="850" u="none" cap="none" strike="noStrike">
                <a:latin typeface="Arial"/>
                <a:ea typeface="Arial"/>
                <a:cs typeface="Arial"/>
                <a:sym typeface="Arial"/>
              </a:rPr>
              <a:t>Out[16]:</a:t>
            </a:r>
            <a:endParaRPr/>
          </a:p>
          <a:p>
            <a:pPr indent="0" lvl="0" marL="0" marR="0" rtl="0" algn="l">
              <a:lnSpc>
                <a:spcPct val="121411"/>
              </a:lnSpc>
              <a:spcBef>
                <a:spcPts val="0"/>
              </a:spcBef>
              <a:spcAft>
                <a:spcPts val="0"/>
              </a:spcAft>
              <a:buNone/>
            </a:pPr>
            <a:r>
              <a:rPr b="0" i="0" lang="en" sz="750" u="none" cap="none" strike="noStrike">
                <a:latin typeface="Arial"/>
                <a:ea typeface="Arial"/>
                <a:cs typeface="Arial"/>
                <a:sym typeface="Arial"/>
              </a:rPr>
              <a:t>1898 </a:t>
            </a:r>
            <a:r>
              <a:rPr b="1" i="0" lang="en" sz="850" u="none" cap="none" strike="noStrike">
                <a:latin typeface="Arial"/>
                <a:ea typeface="Arial"/>
                <a:cs typeface="Arial"/>
                <a:sym typeface="Arial"/>
              </a:rPr>
              <a:t>In [17]:</a:t>
            </a:r>
            <a:endParaRPr/>
          </a:p>
          <a:p>
            <a:pPr indent="0" lvl="0" marL="0" marR="0" rtl="0" algn="l">
              <a:spcBef>
                <a:spcPts val="0"/>
              </a:spcBef>
              <a:spcAft>
                <a:spcPts val="0"/>
              </a:spcAft>
              <a:buNone/>
            </a:pPr>
            <a:r>
              <a:rPr b="1" i="0" lang="en" sz="850" u="none" cap="none" strike="noStrike">
                <a:latin typeface="Arial"/>
                <a:ea typeface="Arial"/>
                <a:cs typeface="Arial"/>
                <a:sym typeface="Arial"/>
              </a:rPr>
              <a:t>df['customer_id'].nunique()</a:t>
            </a:r>
            <a:endParaRPr/>
          </a:p>
          <a:p>
            <a:pPr indent="0" lvl="0" marL="0" marR="0" rtl="0" algn="l">
              <a:lnSpc>
                <a:spcPct val="121411"/>
              </a:lnSpc>
              <a:spcBef>
                <a:spcPts val="420"/>
              </a:spcBef>
              <a:spcAft>
                <a:spcPts val="0"/>
              </a:spcAft>
              <a:buNone/>
            </a:pPr>
            <a:r>
              <a:rPr b="1" i="0" lang="en" sz="850" u="none" cap="none" strike="noStrike">
                <a:latin typeface="Arial"/>
                <a:ea typeface="Arial"/>
                <a:cs typeface="Arial"/>
                <a:sym typeface="Arial"/>
              </a:rPr>
              <a:t>Out[17]:</a:t>
            </a:r>
            <a:endParaRPr/>
          </a:p>
          <a:p>
            <a:pPr indent="0" lvl="0" marL="0" marR="0" rtl="0" algn="l">
              <a:lnSpc>
                <a:spcPct val="121411"/>
              </a:lnSpc>
              <a:spcBef>
                <a:spcPts val="0"/>
              </a:spcBef>
              <a:spcAft>
                <a:spcPts val="0"/>
              </a:spcAft>
              <a:buNone/>
            </a:pPr>
            <a:r>
              <a:rPr b="0" i="0" lang="en" sz="750" u="none" cap="none" strike="noStrike">
                <a:latin typeface="Arial"/>
                <a:ea typeface="Arial"/>
                <a:cs typeface="Arial"/>
                <a:sym typeface="Arial"/>
              </a:rPr>
              <a:t>1200 </a:t>
            </a:r>
            <a:r>
              <a:rPr b="1" i="0" lang="en" sz="850" u="none" cap="none" strike="noStrike">
                <a:latin typeface="Arial"/>
                <a:ea typeface="Arial"/>
                <a:cs typeface="Arial"/>
                <a:sym typeface="Arial"/>
              </a:rPr>
              <a:t>In [18]:</a:t>
            </a:r>
            <a:endParaRPr/>
          </a:p>
          <a:p>
            <a:pPr indent="0" lvl="0" marL="0" marR="0" rtl="0" algn="l">
              <a:spcBef>
                <a:spcPts val="0"/>
              </a:spcBef>
              <a:spcAft>
                <a:spcPts val="0"/>
              </a:spcAft>
              <a:buNone/>
            </a:pPr>
            <a:r>
              <a:rPr b="1" i="0" lang="en" sz="850" u="none" cap="none" strike="noStrike">
                <a:latin typeface="Arial"/>
                <a:ea typeface="Arial"/>
                <a:cs typeface="Arial"/>
                <a:sym typeface="Arial"/>
              </a:rPr>
              <a:t>df['restaurant_name'].nunique()</a:t>
            </a:r>
            <a:endParaRPr/>
          </a:p>
          <a:p>
            <a:pPr indent="0" lvl="0" marL="0" marR="0" rtl="0" algn="l">
              <a:lnSpc>
                <a:spcPct val="121411"/>
              </a:lnSpc>
              <a:spcBef>
                <a:spcPts val="420"/>
              </a:spcBef>
              <a:spcAft>
                <a:spcPts val="0"/>
              </a:spcAft>
              <a:buNone/>
            </a:pPr>
            <a:r>
              <a:rPr b="1" i="0" lang="en" sz="850" u="none" cap="none" strike="noStrike">
                <a:latin typeface="Arial"/>
                <a:ea typeface="Arial"/>
                <a:cs typeface="Arial"/>
                <a:sym typeface="Arial"/>
              </a:rPr>
              <a:t>Out[18]:</a:t>
            </a:r>
            <a:endParaRPr/>
          </a:p>
          <a:p>
            <a:pPr indent="0" lvl="0" marL="0" marR="0" rtl="0" algn="l">
              <a:lnSpc>
                <a:spcPct val="137600"/>
              </a:lnSpc>
              <a:spcBef>
                <a:spcPts val="0"/>
              </a:spcBef>
              <a:spcAft>
                <a:spcPts val="0"/>
              </a:spcAft>
              <a:buNone/>
            </a:pPr>
            <a:r>
              <a:rPr b="0" i="0" lang="en" sz="750" u="none" cap="none" strike="noStrike">
                <a:latin typeface="Arial"/>
                <a:ea typeface="Arial"/>
                <a:cs typeface="Arial"/>
                <a:sym typeface="Arial"/>
              </a:rPr>
              <a:t>178</a:t>
            </a:r>
            <a:endParaRPr/>
          </a:p>
          <a:p>
            <a:pPr indent="0" lvl="0" marL="0" marR="0" rtl="0" algn="l">
              <a:lnSpc>
                <a:spcPct val="121411"/>
              </a:lnSpc>
              <a:spcBef>
                <a:spcPts val="0"/>
              </a:spcBef>
              <a:spcAft>
                <a:spcPts val="0"/>
              </a:spcAft>
              <a:buNone/>
            </a:pPr>
            <a:r>
              <a:rPr b="1" i="0" lang="en" sz="850" u="none" cap="none" strike="noStrike">
                <a:latin typeface="Arial"/>
                <a:ea typeface="Arial"/>
                <a:cs typeface="Arial"/>
                <a:sym typeface="Arial"/>
              </a:rPr>
              <a:t>In [19]:</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pic>
        <p:nvPicPr>
          <p:cNvPr id="401" name="Google Shape;401;g377b8bda5b4_2_29"/>
          <p:cNvPicPr preferRelativeResize="0"/>
          <p:nvPr/>
        </p:nvPicPr>
        <p:blipFill rotWithShape="1">
          <a:blip r:embed="rId3">
            <a:alphaModFix/>
          </a:blip>
          <a:srcRect b="0" l="0" r="0" t="0"/>
          <a:stretch/>
        </p:blipFill>
        <p:spPr>
          <a:xfrm>
            <a:off x="154921" y="700854"/>
            <a:ext cx="3515999" cy="1073274"/>
          </a:xfrm>
          <a:prstGeom prst="rect">
            <a:avLst/>
          </a:prstGeom>
          <a:noFill/>
          <a:ln>
            <a:noFill/>
          </a:ln>
        </p:spPr>
      </p:pic>
      <p:sp>
        <p:nvSpPr>
          <p:cNvPr id="402" name="Google Shape;402;g377b8bda5b4_2_29"/>
          <p:cNvSpPr/>
          <p:nvPr/>
        </p:nvSpPr>
        <p:spPr>
          <a:xfrm>
            <a:off x="55329" y="0"/>
            <a:ext cx="5252556" cy="615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df['cuisine_type'].nuniqueO</a:t>
            </a:r>
            <a:endParaRPr/>
          </a:p>
        </p:txBody>
      </p:sp>
      <p:sp>
        <p:nvSpPr>
          <p:cNvPr id="403" name="Google Shape;403;g377b8bda5b4_2_29"/>
          <p:cNvSpPr/>
          <p:nvPr/>
        </p:nvSpPr>
        <p:spPr>
          <a:xfrm>
            <a:off x="55329" y="139291"/>
            <a:ext cx="5252556" cy="480921"/>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 sz="850" u="none" cap="none" strike="noStrike">
                <a:latin typeface="Arial"/>
                <a:ea typeface="Arial"/>
                <a:cs typeface="Arial"/>
                <a:sym typeface="Arial"/>
              </a:rPr>
              <a:t>Out[19]:</a:t>
            </a:r>
            <a:endParaRPr/>
          </a:p>
          <a:p>
            <a:pPr indent="0" lvl="0" marL="0" marR="0" rtl="0" algn="l">
              <a:lnSpc>
                <a:spcPct val="137600"/>
              </a:lnSpc>
              <a:spcBef>
                <a:spcPts val="0"/>
              </a:spcBef>
              <a:spcAft>
                <a:spcPts val="0"/>
              </a:spcAft>
              <a:buNone/>
            </a:pPr>
            <a:r>
              <a:rPr b="0" i="0" lang="en" sz="750" u="none" cap="none" strike="noStrike">
                <a:latin typeface="Arial"/>
                <a:ea typeface="Arial"/>
                <a:cs typeface="Arial"/>
                <a:sym typeface="Arial"/>
              </a:rPr>
              <a:t>14</a:t>
            </a:r>
            <a:endParaRPr/>
          </a:p>
          <a:p>
            <a:pPr indent="0" lvl="0" marL="0" marR="0" rtl="0" algn="l">
              <a:lnSpc>
                <a:spcPct val="121411"/>
              </a:lnSpc>
              <a:spcBef>
                <a:spcPts val="0"/>
              </a:spcBef>
              <a:spcAft>
                <a:spcPts val="0"/>
              </a:spcAft>
              <a:buNone/>
            </a:pPr>
            <a:r>
              <a:rPr b="1" i="0" lang="en" sz="850" u="none" cap="none" strike="noStrike">
                <a:latin typeface="Arial"/>
                <a:ea typeface="Arial"/>
                <a:cs typeface="Arial"/>
                <a:sym typeface="Arial"/>
              </a:rPr>
              <a:t>In [20]:</a:t>
            </a:r>
            <a:endParaRPr/>
          </a:p>
          <a:p>
            <a:pPr indent="0" lvl="0" marL="0" marR="0" rtl="0" algn="l">
              <a:spcBef>
                <a:spcPts val="0"/>
              </a:spcBef>
              <a:spcAft>
                <a:spcPts val="0"/>
              </a:spcAft>
              <a:buNone/>
            </a:pPr>
            <a:r>
              <a:rPr b="1" i="0" lang="en" sz="850" u="none" cap="none" strike="noStrike">
                <a:latin typeface="Arial"/>
                <a:ea typeface="Arial"/>
                <a:cs typeface="Arial"/>
                <a:sym typeface="Arial"/>
              </a:rPr>
              <a:t>plt.figure(figsize = (15,5))</a:t>
            </a:r>
            <a:endParaRPr/>
          </a:p>
          <a:p>
            <a:pPr indent="0" lvl="0" marL="0" marR="0" rtl="0" algn="l">
              <a:lnSpc>
                <a:spcPct val="151578"/>
              </a:lnSpc>
              <a:spcBef>
                <a:spcPts val="0"/>
              </a:spcBef>
              <a:spcAft>
                <a:spcPts val="0"/>
              </a:spcAft>
              <a:buNone/>
            </a:pPr>
            <a:r>
              <a:rPr b="1" i="0" lang="en" sz="850" u="none" cap="none" strike="noStrike">
                <a:latin typeface="Arial"/>
                <a:ea typeface="Arial"/>
                <a:cs typeface="Arial"/>
                <a:sym typeface="Arial"/>
              </a:rPr>
              <a:t>sns.countplot(data = df, x = 'cuisine_type') </a:t>
            </a:r>
            <a:r>
              <a:rPr b="0" i="1" lang="en" sz="950" u="none" cap="none" strike="noStrike">
                <a:latin typeface="Arial"/>
                <a:ea typeface="Arial"/>
                <a:cs typeface="Arial"/>
                <a:sym typeface="Arial"/>
              </a:rPr>
              <a:t>## Create a countplot for cuisine type. </a:t>
            </a:r>
            <a:r>
              <a:rPr b="1" i="0" lang="en" sz="850" u="none" cap="none" strike="noStrike">
                <a:latin typeface="Arial"/>
                <a:ea typeface="Arial"/>
                <a:cs typeface="Arial"/>
                <a:sym typeface="Arial"/>
              </a:rPr>
              <a:t>Out[20]:</a:t>
            </a:r>
            <a:endParaRPr/>
          </a:p>
          <a:p>
            <a:pPr indent="0" lvl="0" marL="0" marR="0" rtl="0" algn="l">
              <a:spcBef>
                <a:spcPts val="0"/>
              </a:spcBef>
              <a:spcAft>
                <a:spcPts val="0"/>
              </a:spcAft>
              <a:buNone/>
            </a:pPr>
            <a:r>
              <a:rPr b="0" i="0" lang="en" sz="750" u="none" cap="none" strike="noStrike">
                <a:latin typeface="Arial"/>
                <a:ea typeface="Arial"/>
                <a:cs typeface="Arial"/>
                <a:sym typeface="Arial"/>
              </a:rPr>
              <a:t>&lt;Axes: xlabel='cuisine_type', ylabel='count'&gt;</a:t>
            </a:r>
            <a:endParaRPr/>
          </a:p>
        </p:txBody>
      </p:sp>
      <p:sp>
        <p:nvSpPr>
          <p:cNvPr id="404" name="Google Shape;404;g377b8bda5b4_2_29"/>
          <p:cNvSpPr/>
          <p:nvPr/>
        </p:nvSpPr>
        <p:spPr>
          <a:xfrm>
            <a:off x="276644" y="651002"/>
            <a:ext cx="225004" cy="469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u="none" cap="none" strike="noStrike">
                <a:solidFill>
                  <a:srgbClr val="3F3F3F"/>
                </a:solidFill>
                <a:latin typeface="Arial"/>
                <a:ea typeface="Arial"/>
                <a:cs typeface="Arial"/>
                <a:sym typeface="Arial"/>
              </a:rPr>
              <a:t>600</a:t>
            </a:r>
            <a:endParaRPr/>
          </a:p>
        </p:txBody>
      </p:sp>
      <p:sp>
        <p:nvSpPr>
          <p:cNvPr id="405" name="Google Shape;405;g377b8bda5b4_2_29"/>
          <p:cNvSpPr/>
          <p:nvPr/>
        </p:nvSpPr>
        <p:spPr>
          <a:xfrm>
            <a:off x="55329" y="1777060"/>
            <a:ext cx="8952214" cy="10410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 sz="650" u="none" cap="none" strike="noStrike">
                <a:solidFill>
                  <a:srgbClr val="3F3F3F"/>
                </a:solidFill>
                <a:latin typeface="Arial"/>
                <a:ea typeface="Arial"/>
                <a:cs typeface="Arial"/>
                <a:sym typeface="Arial"/>
              </a:rPr>
              <a:t>Korean Japanese Mexican American Indian Italian Mediterranean Chinese Middle Eastern Thai Southern French Spanish Vietnamese</a:t>
            </a:r>
            <a:endParaRPr/>
          </a:p>
          <a:p>
            <a:pPr indent="0" lvl="0" marL="3644900" marR="0" rtl="0" algn="l">
              <a:spcBef>
                <a:spcPts val="0"/>
              </a:spcBef>
              <a:spcAft>
                <a:spcPts val="0"/>
              </a:spcAft>
              <a:buNone/>
            </a:pPr>
            <a:r>
              <a:rPr b="1" i="0" lang="en" sz="650" u="none" cap="none" strike="noStrike">
                <a:solidFill>
                  <a:srgbClr val="3F3F3F"/>
                </a:solidFill>
                <a:latin typeface="Arial"/>
                <a:ea typeface="Arial"/>
                <a:cs typeface="Arial"/>
                <a:sym typeface="Arial"/>
              </a:rPr>
              <a:t>cuisine_type</a:t>
            </a:r>
            <a:endParaRPr/>
          </a:p>
        </p:txBody>
      </p:sp>
      <p:sp>
        <p:nvSpPr>
          <p:cNvPr id="406" name="Google Shape;406;g377b8bda5b4_2_29"/>
          <p:cNvSpPr/>
          <p:nvPr/>
        </p:nvSpPr>
        <p:spPr>
          <a:xfrm>
            <a:off x="55329" y="1936878"/>
            <a:ext cx="8952214" cy="343096"/>
          </a:xfrm>
          <a:prstGeom prst="rect">
            <a:avLst/>
          </a:prstGeom>
          <a:noFill/>
          <a:ln>
            <a:noFill/>
          </a:ln>
        </p:spPr>
        <p:txBody>
          <a:bodyPr anchorCtr="0" anchor="t" bIns="0" lIns="0" spcFirstLastPara="1" rIns="0" wrap="square" tIns="0">
            <a:noAutofit/>
          </a:bodyPr>
          <a:lstStyle/>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In [21]:</a:t>
            </a:r>
            <a:endParaRPr/>
          </a:p>
          <a:p>
            <a:pPr indent="0" lvl="0" marL="0" marR="3073400" rtl="0" algn="l">
              <a:lnSpc>
                <a:spcPct val="118736"/>
              </a:lnSpc>
              <a:spcBef>
                <a:spcPts val="0"/>
              </a:spcBef>
              <a:spcAft>
                <a:spcPts val="0"/>
              </a:spcAft>
              <a:buNone/>
            </a:pPr>
            <a:r>
              <a:rPr b="1" i="0" lang="en" sz="850" u="none" cap="none" strike="noStrike">
                <a:latin typeface="Arial"/>
                <a:ea typeface="Arial"/>
                <a:cs typeface="Arial"/>
                <a:sym typeface="Arial"/>
              </a:rPr>
              <a:t>sns.histplot(data=df,x='cost_of_the_order') </a:t>
            </a:r>
            <a:r>
              <a:rPr b="0" i="1" lang="en" sz="950" u="none" cap="none" strike="noStrike">
                <a:latin typeface="Arial"/>
                <a:ea typeface="Arial"/>
                <a:cs typeface="Arial"/>
                <a:sym typeface="Arial"/>
              </a:rPr>
              <a:t>## Histogram for the cost of order </a:t>
            </a:r>
            <a:r>
              <a:rPr b="1" i="0" lang="en" sz="850" u="none" cap="none" strike="noStrike">
                <a:latin typeface="Arial"/>
                <a:ea typeface="Arial"/>
                <a:cs typeface="Arial"/>
                <a:sym typeface="Arial"/>
              </a:rPr>
              <a:t>plt.show()</a:t>
            </a:r>
            <a:endParaRPr/>
          </a:p>
          <a:p>
            <a:pPr indent="0" lvl="0" marL="0" marR="3073400" rtl="0" algn="l">
              <a:lnSpc>
                <a:spcPct val="118736"/>
              </a:lnSpc>
              <a:spcBef>
                <a:spcPts val="0"/>
              </a:spcBef>
              <a:spcAft>
                <a:spcPts val="0"/>
              </a:spcAft>
              <a:buNone/>
            </a:pPr>
            <a:r>
              <a:rPr b="1" i="0" lang="en" sz="850" u="none" cap="none" strike="noStrike">
                <a:latin typeface="Arial"/>
                <a:ea typeface="Arial"/>
                <a:cs typeface="Arial"/>
                <a:sym typeface="Arial"/>
              </a:rPr>
              <a:t>sns.boxplot(data=df,x='cost_of_the_order') </a:t>
            </a:r>
            <a:r>
              <a:rPr b="0" i="1" lang="en" sz="950" u="none" cap="none" strike="noStrike">
                <a:latin typeface="Arial"/>
                <a:ea typeface="Arial"/>
                <a:cs typeface="Arial"/>
                <a:sym typeface="Arial"/>
              </a:rPr>
              <a:t>## Boxplot for the cost of order </a:t>
            </a:r>
            <a:r>
              <a:rPr b="1" i="0" lang="en" sz="850" u="none" cap="none" strike="noStrike">
                <a:latin typeface="Arial"/>
                <a:ea typeface="Arial"/>
                <a:cs typeface="Arial"/>
                <a:sym typeface="Arial"/>
              </a:rPr>
              <a:t>plt.show()</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pic>
        <p:nvPicPr>
          <p:cNvPr id="411" name="Google Shape;411;g377b8bda5b4_2_38"/>
          <p:cNvPicPr preferRelativeResize="0"/>
          <p:nvPr/>
        </p:nvPicPr>
        <p:blipFill rotWithShape="1">
          <a:blip r:embed="rId3">
            <a:alphaModFix/>
          </a:blip>
          <a:srcRect b="0" l="0" r="0" t="0"/>
          <a:stretch/>
        </p:blipFill>
        <p:spPr>
          <a:xfrm>
            <a:off x="73772" y="0"/>
            <a:ext cx="2093764" cy="1587918"/>
          </a:xfrm>
          <a:prstGeom prst="rect">
            <a:avLst/>
          </a:prstGeom>
          <a:noFill/>
          <a:ln>
            <a:noFill/>
          </a:ln>
        </p:spPr>
      </p:pic>
      <p:pic>
        <p:nvPicPr>
          <p:cNvPr id="412" name="Google Shape;412;g377b8bda5b4_2_38"/>
          <p:cNvPicPr preferRelativeResize="0"/>
          <p:nvPr/>
        </p:nvPicPr>
        <p:blipFill rotWithShape="1">
          <a:blip r:embed="rId4">
            <a:alphaModFix/>
          </a:blip>
          <a:srcRect b="0" l="0" r="0" t="0"/>
          <a:stretch/>
        </p:blipFill>
        <p:spPr>
          <a:xfrm>
            <a:off x="416811" y="1775594"/>
            <a:ext cx="1656830" cy="1102598"/>
          </a:xfrm>
          <a:prstGeom prst="rect">
            <a:avLst/>
          </a:prstGeom>
          <a:noFill/>
          <a:ln>
            <a:noFill/>
          </a:ln>
        </p:spPr>
      </p:pic>
      <p:sp>
        <p:nvSpPr>
          <p:cNvPr id="413" name="Google Shape;413;g377b8bda5b4_2_38"/>
          <p:cNvSpPr/>
          <p:nvPr/>
        </p:nvSpPr>
        <p:spPr>
          <a:xfrm>
            <a:off x="55329" y="2994024"/>
            <a:ext cx="7358742" cy="168615"/>
          </a:xfrm>
          <a:prstGeom prst="rect">
            <a:avLst/>
          </a:prstGeom>
          <a:noFill/>
          <a:ln>
            <a:noFill/>
          </a:ln>
        </p:spPr>
        <p:txBody>
          <a:bodyPr anchorCtr="0" anchor="t" bIns="0" lIns="0" spcFirstLastPara="1" rIns="0" wrap="square" tIns="0">
            <a:noAutofit/>
          </a:bodyPr>
          <a:lstStyle/>
          <a:p>
            <a:pPr indent="0" lvl="0" marL="139700" marR="0" rtl="0" algn="just">
              <a:spcBef>
                <a:spcPts val="0"/>
              </a:spcBef>
              <a:spcAft>
                <a:spcPts val="0"/>
              </a:spcAft>
              <a:buNone/>
            </a:pP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r>
              <a:rPr b="0" i="0" lang="en" sz="400" u="none" cap="none" strike="noStrike">
                <a:latin typeface="Arial"/>
                <a:ea typeface="Arial"/>
                <a:cs typeface="Arial"/>
                <a:sym typeface="Arial"/>
              </a:rPr>
              <a:t>1</a:t>
            </a:r>
            <a:r>
              <a:rPr b="0" i="0" lang="en" sz="1000" u="none" cap="none" strike="noStrike">
                <a:latin typeface="Arial"/>
                <a:ea typeface="Arial"/>
                <a:cs typeface="Arial"/>
                <a:sym typeface="Arial"/>
              </a:rPr>
              <a:t>-</a:t>
            </a:r>
            <a:endParaRPr/>
          </a:p>
          <a:p>
            <a:pPr indent="0" lvl="0" marL="330200" marR="0" rtl="0" algn="just">
              <a:spcBef>
                <a:spcPts val="210"/>
              </a:spcBef>
              <a:spcAft>
                <a:spcPts val="0"/>
              </a:spcAft>
              <a:buNone/>
            </a:pPr>
            <a:r>
              <a:rPr b="0" i="0" lang="en" sz="1000" u="none" cap="none" strike="noStrike">
                <a:solidFill>
                  <a:srgbClr val="2D2D2D"/>
                </a:solidFill>
                <a:latin typeface="Calibri"/>
                <a:ea typeface="Calibri"/>
                <a:cs typeface="Calibri"/>
                <a:sym typeface="Calibri"/>
              </a:rPr>
              <a:t>5</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10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15</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20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25</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30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35</a:t>
            </a:r>
            <a:endParaRPr/>
          </a:p>
          <a:p>
            <a:pPr indent="0" lvl="0" marL="1562100" marR="0" rtl="0" algn="l">
              <a:spcBef>
                <a:spcPts val="210"/>
              </a:spcBef>
              <a:spcAft>
                <a:spcPts val="0"/>
              </a:spcAft>
              <a:buNone/>
            </a:pPr>
            <a:r>
              <a:rPr b="1" i="0" lang="en" sz="850" u="none" cap="none" strike="noStrike">
                <a:solidFill>
                  <a:srgbClr val="2D2D2D"/>
                </a:solidFill>
                <a:latin typeface="Arial"/>
                <a:ea typeface="Arial"/>
                <a:cs typeface="Arial"/>
                <a:sym typeface="Arial"/>
              </a:rPr>
              <a:t>cost_of_the_order</a:t>
            </a:r>
            <a:endParaRPr/>
          </a:p>
        </p:txBody>
      </p:sp>
      <p:sp>
        <p:nvSpPr>
          <p:cNvPr id="414" name="Google Shape;414;g377b8bda5b4_2_38"/>
          <p:cNvSpPr/>
          <p:nvPr/>
        </p:nvSpPr>
        <p:spPr>
          <a:xfrm>
            <a:off x="55329" y="3224221"/>
            <a:ext cx="7358742" cy="629009"/>
          </a:xfrm>
          <a:prstGeom prst="rect">
            <a:avLst/>
          </a:prstGeom>
          <a:noFill/>
          <a:ln>
            <a:noFill/>
          </a:ln>
        </p:spPr>
        <p:txBody>
          <a:bodyPr anchorCtr="0" anchor="t" bIns="0" lIns="0" spcFirstLastPara="1" rIns="0" wrap="square" tIns="0">
            <a:noAutofit/>
          </a:bodyPr>
          <a:lstStyle/>
          <a:p>
            <a:pPr indent="0" lvl="0" marL="0" marR="0" rtl="0" algn="just">
              <a:lnSpc>
                <a:spcPct val="135529"/>
              </a:lnSpc>
              <a:spcBef>
                <a:spcPts val="0"/>
              </a:spcBef>
              <a:spcAft>
                <a:spcPts val="0"/>
              </a:spcAft>
              <a:buNone/>
            </a:pPr>
            <a:r>
              <a:rPr b="1" i="0" lang="en" sz="850" u="none" cap="none" strike="noStrike">
                <a:latin typeface="Arial"/>
                <a:ea typeface="Arial"/>
                <a:cs typeface="Arial"/>
                <a:sym typeface="Arial"/>
              </a:rPr>
              <a:t>In [27]:</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 Check the unique values</a:t>
            </a:r>
            <a:endParaRPr/>
          </a:p>
          <a:p>
            <a:pPr indent="0" lvl="0" marL="0" marR="0" rtl="0" algn="just">
              <a:lnSpc>
                <a:spcPct val="121263"/>
              </a:lnSpc>
              <a:spcBef>
                <a:spcPts val="0"/>
              </a:spcBef>
              <a:spcAft>
                <a:spcPts val="0"/>
              </a:spcAft>
              <a:buNone/>
            </a:pPr>
            <a:r>
              <a:rPr b="1" i="0" lang="en" sz="850" u="none" cap="none" strike="noStrike">
                <a:latin typeface="Arial"/>
                <a:ea typeface="Arial"/>
                <a:cs typeface="Arial"/>
                <a:sym typeface="Arial"/>
              </a:rPr>
              <a:t>df['day_of_the_week'].nunique() </a:t>
            </a:r>
            <a:r>
              <a:rPr b="0" i="1" lang="en" sz="950" u="none" cap="none" strike="noStrike">
                <a:latin typeface="Arial"/>
                <a:ea typeface="Arial"/>
                <a:cs typeface="Arial"/>
                <a:sym typeface="Arial"/>
              </a:rPr>
              <a:t>## Complete the code to check unique values for the 'day_of_the_week' column</a:t>
            </a:r>
            <a:endParaRPr/>
          </a:p>
          <a:p>
            <a:pPr indent="0" lvl="0" marL="0" marR="0" rtl="0" algn="just">
              <a:spcBef>
                <a:spcPts val="0"/>
              </a:spcBef>
              <a:spcAft>
                <a:spcPts val="0"/>
              </a:spcAft>
              <a:buNone/>
            </a:pPr>
            <a:r>
              <a:rPr b="1" i="0" lang="en" sz="850" u="none" cap="none" strike="noStrike">
                <a:latin typeface="Arial"/>
                <a:ea typeface="Arial"/>
                <a:cs typeface="Arial"/>
                <a:sym typeface="Arial"/>
              </a:rPr>
              <a:t>Out[27]:</a:t>
            </a:r>
            <a:endParaRPr/>
          </a:p>
          <a:p>
            <a:pPr indent="0" lvl="0" marL="0" marR="0" rtl="0" algn="just">
              <a:lnSpc>
                <a:spcPct val="147200"/>
              </a:lnSpc>
              <a:spcBef>
                <a:spcPts val="0"/>
              </a:spcBef>
              <a:spcAft>
                <a:spcPts val="0"/>
              </a:spcAft>
              <a:buNone/>
            </a:pPr>
            <a:r>
              <a:rPr b="0" i="0" lang="en" sz="750" u="none" cap="none" strike="noStrike">
                <a:latin typeface="Arial"/>
                <a:ea typeface="Arial"/>
                <a:cs typeface="Arial"/>
                <a:sym typeface="Arial"/>
              </a:rPr>
              <a:t>2</a:t>
            </a:r>
            <a:endParaRPr/>
          </a:p>
          <a:p>
            <a:pPr indent="0" lvl="0" marL="0" marR="0" rtl="0" algn="just">
              <a:lnSpc>
                <a:spcPct val="129882"/>
              </a:lnSpc>
              <a:spcBef>
                <a:spcPts val="0"/>
              </a:spcBef>
              <a:spcAft>
                <a:spcPts val="0"/>
              </a:spcAft>
              <a:buNone/>
            </a:pPr>
            <a:r>
              <a:rPr b="1" i="0" lang="en" sz="850" u="none" cap="none" strike="noStrike">
                <a:latin typeface="Arial"/>
                <a:ea typeface="Arial"/>
                <a:cs typeface="Arial"/>
                <a:sym typeface="Arial"/>
              </a:rPr>
              <a:t>In [28]:</a:t>
            </a:r>
            <a:endParaRPr/>
          </a:p>
          <a:p>
            <a:pPr indent="0" lvl="0" marL="0" marR="0" rtl="0" algn="just">
              <a:lnSpc>
                <a:spcPct val="116210"/>
              </a:lnSpc>
              <a:spcBef>
                <a:spcPts val="0"/>
              </a:spcBef>
              <a:spcAft>
                <a:spcPts val="0"/>
              </a:spcAft>
              <a:buNone/>
            </a:pPr>
            <a:r>
              <a:rPr b="0" i="1" lang="en" sz="950" u="none" cap="none" strike="noStrike">
                <a:latin typeface="Arial"/>
                <a:ea typeface="Arial"/>
                <a:cs typeface="Arial"/>
                <a:sym typeface="Arial"/>
              </a:rPr>
              <a:t>#    Write the code here</a:t>
            </a:r>
            <a:endParaRPr/>
          </a:p>
          <a:p>
            <a:pPr indent="0" lvl="0" marL="0" marR="3560064" rtl="0" algn="l">
              <a:lnSpc>
                <a:spcPct val="129882"/>
              </a:lnSpc>
              <a:spcBef>
                <a:spcPts val="0"/>
              </a:spcBef>
              <a:spcAft>
                <a:spcPts val="0"/>
              </a:spcAft>
              <a:buNone/>
            </a:pPr>
            <a:r>
              <a:rPr b="1" i="0" lang="en" sz="850" u="none" cap="none" strike="noStrike">
                <a:latin typeface="Arial"/>
                <a:ea typeface="Arial"/>
                <a:cs typeface="Arial"/>
                <a:sym typeface="Arial"/>
              </a:rPr>
              <a:t>sns.countplot(data = df, x = 'day_of_the_week') plt.show()</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pic>
        <p:nvPicPr>
          <p:cNvPr id="419" name="Google Shape;419;g377b8bda5b4_2_45"/>
          <p:cNvPicPr preferRelativeResize="0"/>
          <p:nvPr/>
        </p:nvPicPr>
        <p:blipFill rotWithShape="1">
          <a:blip r:embed="rId3">
            <a:alphaModFix/>
          </a:blip>
          <a:srcRect b="0" l="0" r="0" t="0"/>
          <a:stretch/>
        </p:blipFill>
        <p:spPr>
          <a:xfrm>
            <a:off x="638126" y="2067372"/>
            <a:ext cx="1840108" cy="1384113"/>
          </a:xfrm>
          <a:prstGeom prst="rect">
            <a:avLst/>
          </a:prstGeom>
          <a:noFill/>
          <a:ln>
            <a:noFill/>
          </a:ln>
        </p:spPr>
      </p:pic>
      <p:pic>
        <p:nvPicPr>
          <p:cNvPr id="420" name="Google Shape;420;g377b8bda5b4_2_45"/>
          <p:cNvPicPr preferRelativeResize="0"/>
          <p:nvPr/>
        </p:nvPicPr>
        <p:blipFill rotWithShape="1">
          <a:blip r:embed="rId4">
            <a:alphaModFix/>
          </a:blip>
          <a:srcRect b="0" l="0" r="0" t="0"/>
          <a:stretch/>
        </p:blipFill>
        <p:spPr>
          <a:xfrm>
            <a:off x="711898" y="36656"/>
            <a:ext cx="1840108" cy="1382647"/>
          </a:xfrm>
          <a:prstGeom prst="rect">
            <a:avLst/>
          </a:prstGeom>
          <a:noFill/>
          <a:ln>
            <a:noFill/>
          </a:ln>
        </p:spPr>
      </p:pic>
      <p:sp>
        <p:nvSpPr>
          <p:cNvPr id="421" name="Google Shape;421;g377b8bda5b4_2_45"/>
          <p:cNvSpPr/>
          <p:nvPr/>
        </p:nvSpPr>
        <p:spPr>
          <a:xfrm>
            <a:off x="346728" y="32257"/>
            <a:ext cx="331973"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Calibri"/>
                <a:ea typeface="Calibri"/>
                <a:cs typeface="Calibri"/>
                <a:sym typeface="Calibri"/>
              </a:rPr>
              <a:t>1400</a:t>
            </a:r>
            <a:endParaRPr/>
          </a:p>
        </p:txBody>
      </p:sp>
      <p:sp>
        <p:nvSpPr>
          <p:cNvPr id="422" name="Google Shape;422;g377b8bda5b4_2_45"/>
          <p:cNvSpPr/>
          <p:nvPr/>
        </p:nvSpPr>
        <p:spPr>
          <a:xfrm>
            <a:off x="346728" y="222866"/>
            <a:ext cx="331973"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00" u="none" cap="none" strike="noStrike">
                <a:latin typeface="Calibri"/>
                <a:ea typeface="Calibri"/>
                <a:cs typeface="Calibri"/>
                <a:sym typeface="Calibri"/>
              </a:rPr>
              <a:t>1200</a:t>
            </a:r>
            <a:endParaRPr/>
          </a:p>
        </p:txBody>
      </p:sp>
      <p:sp>
        <p:nvSpPr>
          <p:cNvPr id="423" name="Google Shape;423;g377b8bda5b4_2_45"/>
          <p:cNvSpPr/>
          <p:nvPr/>
        </p:nvSpPr>
        <p:spPr>
          <a:xfrm>
            <a:off x="346728" y="413474"/>
            <a:ext cx="331973"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00" u="none" cap="none" strike="noStrike">
                <a:solidFill>
                  <a:srgbClr val="2D2D2D"/>
                </a:solidFill>
                <a:latin typeface="Calibri"/>
                <a:ea typeface="Calibri"/>
                <a:cs typeface="Calibri"/>
                <a:sym typeface="Calibri"/>
              </a:rPr>
              <a:t>1000</a:t>
            </a:r>
            <a:endParaRPr/>
          </a:p>
        </p:txBody>
      </p:sp>
      <p:sp>
        <p:nvSpPr>
          <p:cNvPr id="424" name="Google Shape;424;g377b8bda5b4_2_45"/>
          <p:cNvSpPr/>
          <p:nvPr/>
        </p:nvSpPr>
        <p:spPr>
          <a:xfrm>
            <a:off x="173364" y="604083"/>
            <a:ext cx="505337" cy="244859"/>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 sz="750" u="none" cap="none" strike="noStrike">
                <a:solidFill>
                  <a:srgbClr val="2D2D2D"/>
                </a:solidFill>
                <a:latin typeface="Arial"/>
                <a:ea typeface="Arial"/>
                <a:cs typeface="Arial"/>
                <a:sym typeface="Arial"/>
              </a:rPr>
              <a:t>BOO</a:t>
            </a:r>
            <a:endParaRPr/>
          </a:p>
          <a:p>
            <a:pPr indent="0" lvl="0" marL="0" marR="0" rtl="0" algn="l">
              <a:spcBef>
                <a:spcPts val="0"/>
              </a:spcBef>
              <a:spcAft>
                <a:spcPts val="0"/>
              </a:spcAft>
              <a:buNone/>
            </a:pPr>
            <a:r>
              <a:rPr b="1" i="0" lang="en" sz="650" u="none" cap="none" strike="noStrike">
                <a:solidFill>
                  <a:srgbClr val="2D2D2D"/>
                </a:solidFill>
                <a:latin typeface="Arial"/>
                <a:ea typeface="Arial"/>
                <a:cs typeface="Arial"/>
                <a:sym typeface="Arial"/>
              </a:rPr>
              <a:t>-M</a:t>
            </a:r>
            <a:endParaRPr/>
          </a:p>
          <a:p>
            <a:pPr indent="0" lvl="0" marL="0" marR="0" rtl="0" algn="l">
              <a:spcBef>
                <a:spcPts val="0"/>
              </a:spcBef>
              <a:spcAft>
                <a:spcPts val="0"/>
              </a:spcAft>
              <a:buNone/>
            </a:pPr>
            <a:r>
              <a:rPr b="0" i="0" lang="en" sz="750" u="none" cap="none" strike="noStrike">
                <a:solidFill>
                  <a:srgbClr val="2D2D2D"/>
                </a:solidFill>
                <a:latin typeface="Arial"/>
                <a:ea typeface="Arial"/>
                <a:cs typeface="Arial"/>
                <a:sym typeface="Arial"/>
              </a:rPr>
              <a:t>c</a:t>
            </a:r>
            <a:endParaRPr/>
          </a:p>
          <a:p>
            <a:pPr indent="0" lvl="0" marL="0" marR="0" rtl="0" algn="l">
              <a:spcBef>
                <a:spcPts val="210"/>
              </a:spcBef>
              <a:spcAft>
                <a:spcPts val="0"/>
              </a:spcAft>
              <a:buNone/>
            </a:pPr>
            <a:r>
              <a:rPr b="0" i="0" lang="en" sz="950" u="none" cap="none" strike="noStrike">
                <a:latin typeface="Arial"/>
                <a:ea typeface="Arial"/>
                <a:cs typeface="Arial"/>
                <a:sym typeface="Arial"/>
              </a:rPr>
              <a:t>s</a:t>
            </a:r>
            <a:endParaRPr/>
          </a:p>
          <a:p>
            <a:pPr indent="0" lvl="0" marL="0" marR="0" rtl="0" algn="r">
              <a:spcBef>
                <a:spcPts val="0"/>
              </a:spcBef>
              <a:spcAft>
                <a:spcPts val="0"/>
              </a:spcAft>
              <a:buNone/>
            </a:pPr>
            <a:r>
              <a:rPr b="1" i="0" lang="en" sz="850" u="none" cap="none" strike="noStrike">
                <a:solidFill>
                  <a:srgbClr val="2D2D2D"/>
                </a:solidFill>
                <a:latin typeface="Arial"/>
                <a:ea typeface="Arial"/>
                <a:cs typeface="Arial"/>
                <a:sym typeface="Arial"/>
              </a:rPr>
              <a:t>600</a:t>
            </a:r>
            <a:endParaRPr/>
          </a:p>
        </p:txBody>
      </p:sp>
      <p:sp>
        <p:nvSpPr>
          <p:cNvPr id="425" name="Google Shape;425;g377b8bda5b4_2_45"/>
          <p:cNvSpPr/>
          <p:nvPr/>
        </p:nvSpPr>
        <p:spPr>
          <a:xfrm>
            <a:off x="420500" y="988233"/>
            <a:ext cx="258201"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400</a:t>
            </a:r>
            <a:endParaRPr/>
          </a:p>
        </p:txBody>
      </p:sp>
      <p:sp>
        <p:nvSpPr>
          <p:cNvPr id="426" name="Google Shape;426;g377b8bda5b4_2_45"/>
          <p:cNvSpPr/>
          <p:nvPr/>
        </p:nvSpPr>
        <p:spPr>
          <a:xfrm>
            <a:off x="413122" y="1178842"/>
            <a:ext cx="265579"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800" u="none" cap="none" strike="noStrike">
                <a:latin typeface="Arial"/>
                <a:ea typeface="Arial"/>
                <a:cs typeface="Arial"/>
                <a:sym typeface="Arial"/>
              </a:rPr>
              <a:t>200</a:t>
            </a:r>
            <a:endParaRPr/>
          </a:p>
        </p:txBody>
      </p:sp>
      <p:sp>
        <p:nvSpPr>
          <p:cNvPr id="427" name="Google Shape;427;g377b8bda5b4_2_45"/>
          <p:cNvSpPr/>
          <p:nvPr/>
        </p:nvSpPr>
        <p:spPr>
          <a:xfrm>
            <a:off x="608618" y="1378248"/>
            <a:ext cx="66395" cy="36656"/>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 sz="950" u="none" cap="none" strike="noStrike">
                <a:solidFill>
                  <a:srgbClr val="2D2D2D"/>
                </a:solidFill>
                <a:latin typeface="Arial"/>
                <a:ea typeface="Arial"/>
                <a:cs typeface="Arial"/>
                <a:sym typeface="Arial"/>
              </a:rPr>
              <a:t>0</a:t>
            </a:r>
            <a:endParaRPr/>
          </a:p>
        </p:txBody>
      </p:sp>
      <p:sp>
        <p:nvSpPr>
          <p:cNvPr id="428" name="Google Shape;428;g377b8bda5b4_2_45"/>
          <p:cNvSpPr/>
          <p:nvPr/>
        </p:nvSpPr>
        <p:spPr>
          <a:xfrm>
            <a:off x="1619292" y="1429566"/>
            <a:ext cx="2858659" cy="51318"/>
          </a:xfrm>
          <a:prstGeom prst="rect">
            <a:avLst/>
          </a:prstGeom>
          <a:noFill/>
          <a:ln>
            <a:noFill/>
          </a:ln>
        </p:spPr>
        <p:txBody>
          <a:bodyPr anchorCtr="0" anchor="t" bIns="0" lIns="0" spcFirstLastPara="1" rIns="0" wrap="square" tIns="0">
            <a:noAutofit/>
          </a:bodyPr>
          <a:lstStyle/>
          <a:p>
            <a:pPr indent="0" lvl="0" marL="0" marR="0" rtl="0" algn="just">
              <a:lnSpc>
                <a:spcPct val="141176"/>
              </a:lnSpc>
              <a:spcBef>
                <a:spcPts val="0"/>
              </a:spcBef>
              <a:spcAft>
                <a:spcPts val="0"/>
              </a:spcAft>
              <a:buNone/>
            </a:pPr>
            <a:r>
              <a:rPr b="1" i="0" lang="en" sz="850" u="none" cap="none" strike="noStrike">
                <a:solidFill>
                  <a:srgbClr val="2D2D2D"/>
                </a:solidFill>
                <a:latin typeface="Arial"/>
                <a:ea typeface="Arial"/>
                <a:cs typeface="Arial"/>
                <a:sym typeface="Arial"/>
              </a:rPr>
              <a:t>Weekend    Weekday</a:t>
            </a:r>
            <a:endParaRPr/>
          </a:p>
        </p:txBody>
      </p:sp>
      <p:sp>
        <p:nvSpPr>
          <p:cNvPr id="429" name="Google Shape;429;g377b8bda5b4_2_45"/>
          <p:cNvSpPr/>
          <p:nvPr/>
        </p:nvSpPr>
        <p:spPr>
          <a:xfrm>
            <a:off x="2504554" y="1502877"/>
            <a:ext cx="1084446" cy="51318"/>
          </a:xfrm>
          <a:prstGeom prst="rect">
            <a:avLst/>
          </a:prstGeom>
          <a:noFill/>
          <a:ln>
            <a:noFill/>
          </a:ln>
        </p:spPr>
        <p:txBody>
          <a:bodyPr anchorCtr="0" anchor="t" bIns="0" lIns="0" spcFirstLastPara="1" rIns="0" wrap="square" tIns="0">
            <a:noAutofit/>
          </a:bodyPr>
          <a:lstStyle/>
          <a:p>
            <a:pPr indent="0" lvl="0" marL="0" marR="0" rtl="0" algn="ctr">
              <a:lnSpc>
                <a:spcPct val="141176"/>
              </a:lnSpc>
              <a:spcBef>
                <a:spcPts val="0"/>
              </a:spcBef>
              <a:spcAft>
                <a:spcPts val="0"/>
              </a:spcAft>
              <a:buNone/>
            </a:pPr>
            <a:r>
              <a:rPr b="1" i="0" lang="en" sz="850" u="none" cap="none" strike="noStrike">
                <a:solidFill>
                  <a:srgbClr val="2D2D2D"/>
                </a:solidFill>
                <a:latin typeface="Arial"/>
                <a:ea typeface="Arial"/>
                <a:cs typeface="Arial"/>
                <a:sym typeface="Arial"/>
              </a:rPr>
              <a:t>dayoftheweek</a:t>
            </a:r>
            <a:endParaRPr/>
          </a:p>
        </p:txBody>
      </p:sp>
      <p:sp>
        <p:nvSpPr>
          <p:cNvPr id="430" name="Google Shape;430;g377b8bda5b4_2_45"/>
          <p:cNvSpPr/>
          <p:nvPr/>
        </p:nvSpPr>
        <p:spPr>
          <a:xfrm>
            <a:off x="88526" y="1614310"/>
            <a:ext cx="427877"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In [24]:</a:t>
            </a:r>
            <a:endParaRPr/>
          </a:p>
        </p:txBody>
      </p:sp>
      <p:sp>
        <p:nvSpPr>
          <p:cNvPr id="431" name="Google Shape;431;g377b8bda5b4_2_45"/>
          <p:cNvSpPr/>
          <p:nvPr/>
        </p:nvSpPr>
        <p:spPr>
          <a:xfrm>
            <a:off x="81149" y="1683222"/>
            <a:ext cx="1733638" cy="571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 sz="950" u="none" cap="none" strike="noStrike">
                <a:latin typeface="Arial"/>
                <a:ea typeface="Arial"/>
                <a:cs typeface="Arial"/>
                <a:sym typeface="Arial"/>
              </a:rPr>
              <a:t># Check the unique values</a:t>
            </a:r>
            <a:endParaRPr/>
          </a:p>
        </p:txBody>
      </p:sp>
      <p:sp>
        <p:nvSpPr>
          <p:cNvPr id="432" name="Google Shape;432;g377b8bda5b4_2_45"/>
          <p:cNvSpPr/>
          <p:nvPr/>
        </p:nvSpPr>
        <p:spPr>
          <a:xfrm>
            <a:off x="77460" y="1752134"/>
            <a:ext cx="6038226" cy="214068"/>
          </a:xfrm>
          <a:prstGeom prst="rect">
            <a:avLst/>
          </a:prstGeom>
          <a:noFill/>
          <a:ln>
            <a:noFill/>
          </a:ln>
        </p:spPr>
        <p:txBody>
          <a:bodyPr anchorCtr="0" anchor="t" bIns="0" lIns="0" spcFirstLastPara="1" rIns="0" wrap="square" tIns="0">
            <a:noAutofit/>
          </a:bodyPr>
          <a:lstStyle/>
          <a:p>
            <a:pPr indent="0" lvl="0" marL="0" marR="0" rtl="0" algn="l">
              <a:lnSpc>
                <a:spcPct val="136421"/>
              </a:lnSpc>
              <a:spcBef>
                <a:spcPts val="0"/>
              </a:spcBef>
              <a:spcAft>
                <a:spcPts val="0"/>
              </a:spcAft>
              <a:buNone/>
            </a:pPr>
            <a:r>
              <a:rPr b="1" i="0" lang="en" sz="850" u="none" cap="none" strike="noStrike">
                <a:latin typeface="Arial"/>
                <a:ea typeface="Arial"/>
                <a:cs typeface="Arial"/>
                <a:sym typeface="Arial"/>
              </a:rPr>
              <a:t>df['rating'].nunique() </a:t>
            </a:r>
            <a:r>
              <a:rPr b="0" i="1" lang="en" sz="950" u="none" cap="none" strike="noStrike">
                <a:latin typeface="Arial"/>
                <a:ea typeface="Arial"/>
                <a:cs typeface="Arial"/>
                <a:sym typeface="Arial"/>
              </a:rPr>
              <a:t>## Complete the code to check unique values for the 'rating' column </a:t>
            </a:r>
            <a:r>
              <a:rPr b="1" i="0" lang="en" sz="850" u="none" cap="none" strike="noStrike">
                <a:latin typeface="Arial"/>
                <a:ea typeface="Arial"/>
                <a:cs typeface="Arial"/>
                <a:sym typeface="Arial"/>
              </a:rPr>
              <a:t>sns.countplot(data = df, x = 'rating') </a:t>
            </a:r>
            <a:r>
              <a:rPr b="0" i="1" lang="en" sz="950" u="none" cap="none" strike="noStrike">
                <a:latin typeface="Arial"/>
                <a:ea typeface="Arial"/>
                <a:cs typeface="Arial"/>
                <a:sym typeface="Arial"/>
              </a:rPr>
              <a:t>## Complete the code to plot bar graph for 'rating' column </a:t>
            </a:r>
            <a:r>
              <a:rPr b="1" i="0" lang="en" sz="850" u="none" cap="none" strike="noStrike">
                <a:latin typeface="Arial"/>
                <a:ea typeface="Arial"/>
                <a:cs typeface="Arial"/>
                <a:sym typeface="Arial"/>
              </a:rPr>
              <a:t>Out[24]:</a:t>
            </a:r>
            <a:endParaRPr/>
          </a:p>
        </p:txBody>
      </p:sp>
      <p:sp>
        <p:nvSpPr>
          <p:cNvPr id="433" name="Google Shape;433;g377b8bda5b4_2_45"/>
          <p:cNvSpPr/>
          <p:nvPr/>
        </p:nvSpPr>
        <p:spPr>
          <a:xfrm>
            <a:off x="77460" y="1980865"/>
            <a:ext cx="1980774" cy="454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750" u="none" cap="none" strike="noStrike">
                <a:latin typeface="Arial"/>
                <a:ea typeface="Arial"/>
                <a:cs typeface="Arial"/>
                <a:sym typeface="Arial"/>
              </a:rPr>
              <a:t>&lt;Axes: xlabel='rating', ylabel='count'&gt;</a:t>
            </a:r>
            <a:endParaRPr/>
          </a:p>
        </p:txBody>
      </p:sp>
      <p:sp>
        <p:nvSpPr>
          <p:cNvPr id="434" name="Google Shape;434;g377b8bda5b4_2_45"/>
          <p:cNvSpPr/>
          <p:nvPr/>
        </p:nvSpPr>
        <p:spPr>
          <a:xfrm>
            <a:off x="195495" y="2181737"/>
            <a:ext cx="387302" cy="582090"/>
          </a:xfrm>
          <a:prstGeom prst="rect">
            <a:avLst/>
          </a:prstGeom>
          <a:noFill/>
          <a:ln>
            <a:noFill/>
          </a:ln>
        </p:spPr>
        <p:txBody>
          <a:bodyPr anchorCtr="0" anchor="t" bIns="0" lIns="0" spcFirstLastPara="1" rIns="0" wrap="square" tIns="0">
            <a:noAutofit/>
          </a:bodyPr>
          <a:lstStyle/>
          <a:p>
            <a:pPr indent="0" lvl="0" marL="0" marR="0" rtl="0" algn="r">
              <a:lnSpc>
                <a:spcPct val="338823"/>
              </a:lnSpc>
              <a:spcBef>
                <a:spcPts val="0"/>
              </a:spcBef>
              <a:spcAft>
                <a:spcPts val="0"/>
              </a:spcAft>
              <a:buNone/>
            </a:pPr>
            <a:r>
              <a:rPr b="1" i="0" lang="en" sz="850" u="none" cap="none" strike="noStrike">
                <a:solidFill>
                  <a:srgbClr val="2D2D2D"/>
                </a:solidFill>
                <a:latin typeface="Arial"/>
                <a:ea typeface="Arial"/>
                <a:cs typeface="Arial"/>
                <a:sym typeface="Arial"/>
              </a:rPr>
              <a:t>700 600 500 {= 400</a:t>
            </a:r>
            <a:endParaRPr/>
          </a:p>
        </p:txBody>
      </p:sp>
      <p:sp>
        <p:nvSpPr>
          <p:cNvPr id="435" name="Google Shape;435;g377b8bda5b4_2_45"/>
          <p:cNvSpPr/>
          <p:nvPr/>
        </p:nvSpPr>
        <p:spPr>
          <a:xfrm>
            <a:off x="195495" y="2771158"/>
            <a:ext cx="73772" cy="4838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S</a:t>
            </a:r>
            <a:endParaRPr/>
          </a:p>
        </p:txBody>
      </p:sp>
      <p:sp>
        <p:nvSpPr>
          <p:cNvPr id="436" name="Google Shape;436;g377b8bda5b4_2_45"/>
          <p:cNvSpPr/>
          <p:nvPr/>
        </p:nvSpPr>
        <p:spPr>
          <a:xfrm>
            <a:off x="361482" y="2885524"/>
            <a:ext cx="228693" cy="561563"/>
          </a:xfrm>
          <a:prstGeom prst="rect">
            <a:avLst/>
          </a:prstGeom>
          <a:noFill/>
          <a:ln>
            <a:noFill/>
          </a:ln>
        </p:spPr>
        <p:txBody>
          <a:bodyPr anchorCtr="0" anchor="t" bIns="0" lIns="0" spcFirstLastPara="1" rIns="0" wrap="square" tIns="0">
            <a:noAutofit/>
          </a:bodyPr>
          <a:lstStyle/>
          <a:p>
            <a:pPr indent="0" lvl="0" marL="0" marR="0" rtl="0" algn="r">
              <a:lnSpc>
                <a:spcPct val="300631"/>
              </a:lnSpc>
              <a:spcBef>
                <a:spcPts val="0"/>
              </a:spcBef>
              <a:spcAft>
                <a:spcPts val="0"/>
              </a:spcAft>
              <a:buNone/>
            </a:pPr>
            <a:r>
              <a:rPr b="1" i="0" lang="en" sz="850" u="none" cap="none" strike="noStrike">
                <a:solidFill>
                  <a:srgbClr val="2D2D2D"/>
                </a:solidFill>
                <a:latin typeface="Arial"/>
                <a:ea typeface="Arial"/>
                <a:cs typeface="Arial"/>
                <a:sym typeface="Arial"/>
              </a:rPr>
              <a:t>300 </a:t>
            </a:r>
            <a:r>
              <a:rPr b="0" i="0" lang="en" sz="800" u="none" cap="none" strike="noStrike">
                <a:solidFill>
                  <a:srgbClr val="2D2D2D"/>
                </a:solidFill>
                <a:latin typeface="Arial"/>
                <a:ea typeface="Arial"/>
                <a:cs typeface="Arial"/>
                <a:sym typeface="Arial"/>
              </a:rPr>
              <a:t>200 </a:t>
            </a:r>
            <a:r>
              <a:rPr b="0" i="0" lang="en" sz="900" u="none" cap="none" strike="noStrike">
                <a:solidFill>
                  <a:srgbClr val="2D2D2D"/>
                </a:solidFill>
                <a:latin typeface="Calibri"/>
                <a:ea typeface="Calibri"/>
                <a:cs typeface="Calibri"/>
                <a:sym typeface="Calibri"/>
              </a:rPr>
              <a:t>100 </a:t>
            </a:r>
            <a:r>
              <a:rPr b="0" i="0" lang="en" sz="950" u="none" cap="none" strike="noStrike">
                <a:solidFill>
                  <a:srgbClr val="2D2D2D"/>
                </a:solidFill>
                <a:latin typeface="Arial"/>
                <a:ea typeface="Arial"/>
                <a:cs typeface="Arial"/>
                <a:sym typeface="Arial"/>
              </a:rPr>
              <a:t>0</a:t>
            </a:r>
            <a:endParaRPr/>
          </a:p>
        </p:txBody>
      </p:sp>
      <p:sp>
        <p:nvSpPr>
          <p:cNvPr id="437" name="Google Shape;437;g377b8bda5b4_2_45"/>
          <p:cNvSpPr/>
          <p:nvPr/>
        </p:nvSpPr>
        <p:spPr>
          <a:xfrm>
            <a:off x="951657" y="3461748"/>
            <a:ext cx="3769741" cy="51318"/>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i="0" lang="en" sz="850" u="none" cap="none" strike="noStrike">
                <a:solidFill>
                  <a:srgbClr val="2D2D2D"/>
                </a:solidFill>
                <a:latin typeface="Arial"/>
                <a:ea typeface="Arial"/>
                <a:cs typeface="Arial"/>
                <a:sym typeface="Arial"/>
              </a:rPr>
              <a:t>Not </a:t>
            </a:r>
            <a:r>
              <a:rPr b="1" i="0" lang="en" sz="850" u="none" cap="none" strike="noStrike">
                <a:solidFill>
                  <a:srgbClr val="3F3F3F"/>
                </a:solidFill>
                <a:latin typeface="Arial"/>
                <a:ea typeface="Arial"/>
                <a:cs typeface="Arial"/>
                <a:sym typeface="Arial"/>
              </a:rPr>
              <a:t>given    5    3    4</a:t>
            </a:r>
            <a:endParaRPr/>
          </a:p>
        </p:txBody>
      </p:sp>
      <p:sp>
        <p:nvSpPr>
          <p:cNvPr id="438" name="Google Shape;438;g377b8bda5b4_2_45"/>
          <p:cNvSpPr/>
          <p:nvPr/>
        </p:nvSpPr>
        <p:spPr>
          <a:xfrm>
            <a:off x="2784887" y="3535060"/>
            <a:ext cx="350416" cy="513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solidFill>
                  <a:srgbClr val="2D2D2D"/>
                </a:solidFill>
                <a:latin typeface="Arial"/>
                <a:ea typeface="Arial"/>
                <a:cs typeface="Arial"/>
                <a:sym typeface="Arial"/>
              </a:rPr>
              <a:t>rating</a:t>
            </a:r>
            <a:endParaRPr/>
          </a:p>
        </p:txBody>
      </p:sp>
      <p:sp>
        <p:nvSpPr>
          <p:cNvPr id="439" name="Google Shape;439;g377b8bda5b4_2_45"/>
          <p:cNvSpPr/>
          <p:nvPr/>
        </p:nvSpPr>
        <p:spPr>
          <a:xfrm>
            <a:off x="88526" y="3646492"/>
            <a:ext cx="427877" cy="54250"/>
          </a:xfrm>
          <a:prstGeom prst="rect">
            <a:avLst/>
          </a:prstGeom>
          <a:noFill/>
          <a:ln>
            <a:noFill/>
          </a:ln>
        </p:spPr>
        <p:txBody>
          <a:bodyPr anchorCtr="0" anchor="t" bIns="0" lIns="0" spcFirstLastPara="1" rIns="0" wrap="square" tIns="0">
            <a:noAutofit/>
          </a:bodyPr>
          <a:lstStyle/>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In [29]:</a:t>
            </a:r>
            <a:endParaRPr/>
          </a:p>
        </p:txBody>
      </p:sp>
      <p:sp>
        <p:nvSpPr>
          <p:cNvPr id="440" name="Google Shape;440;g377b8bda5b4_2_45"/>
          <p:cNvSpPr/>
          <p:nvPr/>
        </p:nvSpPr>
        <p:spPr>
          <a:xfrm>
            <a:off x="77460" y="3713939"/>
            <a:ext cx="7229641" cy="127561"/>
          </a:xfrm>
          <a:prstGeom prst="rect">
            <a:avLst/>
          </a:prstGeom>
          <a:noFill/>
          <a:ln>
            <a:noFill/>
          </a:ln>
        </p:spPr>
        <p:txBody>
          <a:bodyPr anchorCtr="0" anchor="t" bIns="0" lIns="0" spcFirstLastPara="1" rIns="0" wrap="square" tIns="0">
            <a:noAutofit/>
          </a:bodyPr>
          <a:lstStyle/>
          <a:p>
            <a:pPr indent="0" lvl="0" marL="0" marR="0" rtl="0" algn="just">
              <a:lnSpc>
                <a:spcPct val="118736"/>
              </a:lnSpc>
              <a:spcBef>
                <a:spcPts val="0"/>
              </a:spcBef>
              <a:spcAft>
                <a:spcPts val="0"/>
              </a:spcAft>
              <a:buNone/>
            </a:pPr>
            <a:r>
              <a:rPr b="1" i="0" lang="en" sz="850" u="none" cap="none" strike="noStrike">
                <a:latin typeface="Arial"/>
                <a:ea typeface="Arial"/>
                <a:cs typeface="Arial"/>
                <a:sym typeface="Arial"/>
              </a:rPr>
              <a:t>sns.histplot(data=df,x='food_preparation_time') </a:t>
            </a:r>
            <a:r>
              <a:rPr b="0" i="1" lang="en" sz="950" u="none" cap="none" strike="noStrike">
                <a:latin typeface="Arial"/>
                <a:ea typeface="Arial"/>
                <a:cs typeface="Arial"/>
                <a:sym typeface="Arial"/>
              </a:rPr>
              <a:t>## Complete the code to plot the histogram for the cost of order </a:t>
            </a:r>
            <a:r>
              <a:rPr b="1" i="0" lang="en" sz="850" u="none" cap="none" strike="noStrike">
                <a:latin typeface="Arial"/>
                <a:ea typeface="Arial"/>
                <a:cs typeface="Arial"/>
                <a:sym typeface="Arial"/>
              </a:rPr>
              <a:t>plt.show()</a:t>
            </a:r>
            <a:endParaRPr/>
          </a:p>
        </p:txBody>
      </p:sp>
      <p:sp>
        <p:nvSpPr>
          <p:cNvPr id="441" name="Google Shape;441;g377b8bda5b4_2_45"/>
          <p:cNvSpPr/>
          <p:nvPr/>
        </p:nvSpPr>
        <p:spPr>
          <a:xfrm>
            <a:off x="77460" y="3853230"/>
            <a:ext cx="7067343" cy="127561"/>
          </a:xfrm>
          <a:prstGeom prst="rect">
            <a:avLst/>
          </a:prstGeom>
          <a:noFill/>
          <a:ln>
            <a:noFill/>
          </a:ln>
        </p:spPr>
        <p:txBody>
          <a:bodyPr anchorCtr="0" anchor="t" bIns="0" lIns="0" spcFirstLastPara="1" rIns="0" wrap="square" tIns="0">
            <a:noAutofit/>
          </a:bodyPr>
          <a:lstStyle/>
          <a:p>
            <a:pPr indent="0" lvl="0" marL="0" marR="0" rtl="0" algn="just">
              <a:lnSpc>
                <a:spcPct val="118736"/>
              </a:lnSpc>
              <a:spcBef>
                <a:spcPts val="0"/>
              </a:spcBef>
              <a:spcAft>
                <a:spcPts val="0"/>
              </a:spcAft>
              <a:buNone/>
            </a:pPr>
            <a:r>
              <a:rPr b="1" i="0" lang="en" sz="850" u="none" cap="none" strike="noStrike">
                <a:latin typeface="Arial"/>
                <a:ea typeface="Arial"/>
                <a:cs typeface="Arial"/>
                <a:sym typeface="Arial"/>
              </a:rPr>
              <a:t>sns.boxplot(data=df,x='food_preparation_time') </a:t>
            </a:r>
            <a:r>
              <a:rPr b="0" i="1" lang="en" sz="950" u="none" cap="none" strike="noStrike">
                <a:latin typeface="Arial"/>
                <a:ea typeface="Arial"/>
                <a:cs typeface="Arial"/>
                <a:sym typeface="Arial"/>
              </a:rPr>
              <a:t>## Complete the code to plot the boxplot for the cost of order </a:t>
            </a:r>
            <a:r>
              <a:rPr b="1" i="0" lang="en" sz="850" u="none" cap="none" strike="noStrike">
                <a:latin typeface="Arial"/>
                <a:ea typeface="Arial"/>
                <a:cs typeface="Arial"/>
                <a:sym typeface="Arial"/>
              </a:rPr>
              <a:t>plt.show()</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 name="Shape 445"/>
        <p:cNvGrpSpPr/>
        <p:nvPr/>
      </p:nvGrpSpPr>
      <p:grpSpPr>
        <a:xfrm>
          <a:off x="0" y="0"/>
          <a:ext cx="0" cy="0"/>
          <a:chOff x="0" y="0"/>
          <a:chExt cx="0" cy="0"/>
        </a:xfrm>
      </p:grpSpPr>
      <p:pic>
        <p:nvPicPr>
          <p:cNvPr id="446" name="Google Shape;446;g377b8bda5b4_2_71"/>
          <p:cNvPicPr preferRelativeResize="0"/>
          <p:nvPr/>
        </p:nvPicPr>
        <p:blipFill rotWithShape="1">
          <a:blip r:embed="rId3">
            <a:alphaModFix/>
          </a:blip>
          <a:srcRect b="0" l="0" r="0" t="0"/>
          <a:stretch/>
        </p:blipFill>
        <p:spPr>
          <a:xfrm>
            <a:off x="73772" y="0"/>
            <a:ext cx="2093764" cy="1587918"/>
          </a:xfrm>
          <a:prstGeom prst="rect">
            <a:avLst/>
          </a:prstGeom>
          <a:noFill/>
          <a:ln>
            <a:noFill/>
          </a:ln>
        </p:spPr>
      </p:pic>
      <p:pic>
        <p:nvPicPr>
          <p:cNvPr id="447" name="Google Shape;447;g377b8bda5b4_2_71"/>
          <p:cNvPicPr preferRelativeResize="0"/>
          <p:nvPr/>
        </p:nvPicPr>
        <p:blipFill rotWithShape="1">
          <a:blip r:embed="rId4">
            <a:alphaModFix/>
          </a:blip>
          <a:srcRect b="0" l="0" r="0" t="0"/>
          <a:stretch/>
        </p:blipFill>
        <p:spPr>
          <a:xfrm>
            <a:off x="165987" y="1642168"/>
            <a:ext cx="1840108" cy="1438363"/>
          </a:xfrm>
          <a:prstGeom prst="rect">
            <a:avLst/>
          </a:prstGeom>
          <a:noFill/>
          <a:ln>
            <a:noFill/>
          </a:ln>
        </p:spPr>
      </p:pic>
      <p:sp>
        <p:nvSpPr>
          <p:cNvPr id="448" name="Google Shape;448;g377b8bda5b4_2_71"/>
          <p:cNvSpPr/>
          <p:nvPr/>
        </p:nvSpPr>
        <p:spPr>
          <a:xfrm>
            <a:off x="1748393" y="3101058"/>
            <a:ext cx="1482814" cy="6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solidFill>
                  <a:srgbClr val="2D2D2D"/>
                </a:solidFill>
                <a:latin typeface="Arial"/>
                <a:ea typeface="Arial"/>
                <a:cs typeface="Arial"/>
                <a:sym typeface="Arial"/>
              </a:rPr>
              <a:t>food_preparation_time</a:t>
            </a:r>
            <a:endParaRPr/>
          </a:p>
        </p:txBody>
      </p:sp>
      <p:sp>
        <p:nvSpPr>
          <p:cNvPr id="449" name="Google Shape;449;g377b8bda5b4_2_71"/>
          <p:cNvSpPr/>
          <p:nvPr/>
        </p:nvSpPr>
        <p:spPr>
          <a:xfrm>
            <a:off x="55329" y="3215423"/>
            <a:ext cx="6661598" cy="351893"/>
          </a:xfrm>
          <a:prstGeom prst="rect">
            <a:avLst/>
          </a:prstGeom>
          <a:noFill/>
          <a:ln>
            <a:noFill/>
          </a:ln>
        </p:spPr>
        <p:txBody>
          <a:bodyPr anchorCtr="0" anchor="t" bIns="0" lIns="0" spcFirstLastPara="1" rIns="0" wrap="square" tIns="0">
            <a:noAutofit/>
          </a:bodyPr>
          <a:lstStyle/>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In [26]:</a:t>
            </a:r>
            <a:endParaRPr/>
          </a:p>
          <a:p>
            <a:pPr indent="0" lvl="0" marL="0" marR="0" rtl="0" algn="l">
              <a:lnSpc>
                <a:spcPct val="118736"/>
              </a:lnSpc>
              <a:spcBef>
                <a:spcPts val="0"/>
              </a:spcBef>
              <a:spcAft>
                <a:spcPts val="0"/>
              </a:spcAft>
              <a:buNone/>
            </a:pPr>
            <a:r>
              <a:rPr b="1" i="0" lang="en" sz="850" u="none" cap="none" strike="noStrike">
                <a:latin typeface="Arial"/>
                <a:ea typeface="Arial"/>
                <a:cs typeface="Arial"/>
                <a:sym typeface="Arial"/>
              </a:rPr>
              <a:t>sns.histplot(data=df,x='delivery_time') </a:t>
            </a:r>
            <a:r>
              <a:rPr b="0" i="1" lang="en" sz="950" u="none" cap="none" strike="noStrike">
                <a:latin typeface="Arial"/>
                <a:ea typeface="Arial"/>
                <a:cs typeface="Arial"/>
                <a:sym typeface="Arial"/>
              </a:rPr>
              <a:t>## Complete the code to plot the histogram for the delivery time </a:t>
            </a:r>
            <a:r>
              <a:rPr b="1" i="0" lang="en" sz="850" u="none" cap="none" strike="noStrike">
                <a:latin typeface="Arial"/>
                <a:ea typeface="Arial"/>
                <a:cs typeface="Arial"/>
                <a:sym typeface="Arial"/>
              </a:rPr>
              <a:t>plt.show()</a:t>
            </a:r>
            <a:endParaRPr/>
          </a:p>
          <a:p>
            <a:pPr indent="0" lvl="0" marL="0" marR="0" rtl="0" algn="l">
              <a:lnSpc>
                <a:spcPct val="118736"/>
              </a:lnSpc>
              <a:spcBef>
                <a:spcPts val="0"/>
              </a:spcBef>
              <a:spcAft>
                <a:spcPts val="0"/>
              </a:spcAft>
              <a:buNone/>
            </a:pPr>
            <a:r>
              <a:rPr b="1" i="0" lang="en" sz="850" u="none" cap="none" strike="noStrike">
                <a:latin typeface="Arial"/>
                <a:ea typeface="Arial"/>
                <a:cs typeface="Arial"/>
                <a:sym typeface="Arial"/>
              </a:rPr>
              <a:t>sns.boxplot(data=df,x='delivery_time') </a:t>
            </a:r>
            <a:r>
              <a:rPr b="0" i="1" lang="en" sz="950" u="none" cap="none" strike="noStrike">
                <a:latin typeface="Arial"/>
                <a:ea typeface="Arial"/>
                <a:cs typeface="Arial"/>
                <a:sym typeface="Arial"/>
              </a:rPr>
              <a:t>## Complete the code to plot the boxplot for the delivery time </a:t>
            </a:r>
            <a:r>
              <a:rPr b="1" i="0" lang="en" sz="850" u="none" cap="none" strike="noStrike">
                <a:latin typeface="Arial"/>
                <a:ea typeface="Arial"/>
                <a:cs typeface="Arial"/>
                <a:sym typeface="Arial"/>
              </a:rPr>
              <a:t>plt.show()</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pic>
        <p:nvPicPr>
          <p:cNvPr id="454" name="Google Shape;454;g377b8bda5b4_2_78"/>
          <p:cNvPicPr preferRelativeResize="0"/>
          <p:nvPr/>
        </p:nvPicPr>
        <p:blipFill rotWithShape="1">
          <a:blip r:embed="rId3">
            <a:alphaModFix/>
          </a:blip>
          <a:srcRect b="0" l="0" r="0" t="0"/>
          <a:stretch/>
        </p:blipFill>
        <p:spPr>
          <a:xfrm>
            <a:off x="165987" y="102635"/>
            <a:ext cx="2027784" cy="2775557"/>
          </a:xfrm>
          <a:prstGeom prst="rect">
            <a:avLst/>
          </a:prstGeom>
          <a:noFill/>
          <a:ln>
            <a:noFill/>
          </a:ln>
        </p:spPr>
      </p:pic>
      <p:sp>
        <p:nvSpPr>
          <p:cNvPr id="455" name="Google Shape;455;g377b8bda5b4_2_78"/>
          <p:cNvSpPr/>
          <p:nvPr/>
        </p:nvSpPr>
        <p:spPr>
          <a:xfrm>
            <a:off x="339351" y="57183"/>
            <a:ext cx="254513" cy="5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Calibri"/>
                <a:ea typeface="Calibri"/>
                <a:cs typeface="Calibri"/>
                <a:sym typeface="Calibri"/>
              </a:rPr>
              <a:t>300</a:t>
            </a:r>
            <a:endParaRPr/>
          </a:p>
        </p:txBody>
      </p:sp>
      <p:sp>
        <p:nvSpPr>
          <p:cNvPr id="456" name="Google Shape;456;g377b8bda5b4_2_78"/>
          <p:cNvSpPr/>
          <p:nvPr/>
        </p:nvSpPr>
        <p:spPr>
          <a:xfrm>
            <a:off x="55329" y="2994024"/>
            <a:ext cx="8004246" cy="168615"/>
          </a:xfrm>
          <a:prstGeom prst="rect">
            <a:avLst/>
          </a:prstGeom>
          <a:noFill/>
          <a:ln>
            <a:noFill/>
          </a:ln>
        </p:spPr>
        <p:txBody>
          <a:bodyPr anchorCtr="0" anchor="t" bIns="0" lIns="0" spcFirstLastPara="1" rIns="0" wrap="square" tIns="0">
            <a:noAutofit/>
          </a:bodyPr>
          <a:lstStyle/>
          <a:p>
            <a:pPr indent="0" lvl="0" marL="203200" marR="0" rtl="0" algn="just">
              <a:spcBef>
                <a:spcPts val="0"/>
              </a:spcBef>
              <a:spcAft>
                <a:spcPts val="0"/>
              </a:spcAft>
              <a:buNone/>
            </a:pPr>
            <a:r>
              <a:rPr b="0" i="0" lang="en" sz="1000" u="none" cap="none" strike="noStrike">
                <a:solidFill>
                  <a:srgbClr val="2D2D2D"/>
                </a:solidFill>
                <a:latin typeface="Calibri"/>
                <a:ea typeface="Calibri"/>
                <a:cs typeface="Calibri"/>
                <a:sym typeface="Calibri"/>
              </a:rPr>
              <a:t>15.0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17.5</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20.0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22.5</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25.0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27.5</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30.0</a:t>
            </a:r>
            <a:r>
              <a:rPr b="0" i="0" lang="en" sz="900" u="none" cap="none" strike="noStrike">
                <a:solidFill>
                  <a:srgbClr val="2D2D2D"/>
                </a:solidFill>
                <a:latin typeface="Arial"/>
                <a:ea typeface="Arial"/>
                <a:cs typeface="Arial"/>
                <a:sym typeface="Arial"/>
              </a:rPr>
              <a:t>    </a:t>
            </a:r>
            <a:r>
              <a:rPr b="0" i="0" lang="en" sz="1000" u="none" cap="none" strike="noStrike">
                <a:solidFill>
                  <a:srgbClr val="2D2D2D"/>
                </a:solidFill>
                <a:latin typeface="Calibri"/>
                <a:ea typeface="Calibri"/>
                <a:cs typeface="Calibri"/>
                <a:sym typeface="Calibri"/>
              </a:rPr>
              <a:t>32.5</a:t>
            </a:r>
            <a:endParaRPr/>
          </a:p>
          <a:p>
            <a:pPr indent="0" lvl="0" marL="1663700" marR="0" rtl="0" algn="l">
              <a:spcBef>
                <a:spcPts val="210"/>
              </a:spcBef>
              <a:spcAft>
                <a:spcPts val="0"/>
              </a:spcAft>
              <a:buNone/>
            </a:pPr>
            <a:r>
              <a:rPr b="1" i="0" lang="en" sz="850" u="none" cap="none" strike="noStrike">
                <a:solidFill>
                  <a:srgbClr val="2D2D2D"/>
                </a:solidFill>
                <a:latin typeface="Arial"/>
                <a:ea typeface="Arial"/>
                <a:cs typeface="Arial"/>
                <a:sym typeface="Arial"/>
              </a:rPr>
              <a:t>delivery_time</a:t>
            </a:r>
            <a:endParaRPr/>
          </a:p>
        </p:txBody>
      </p:sp>
      <p:sp>
        <p:nvSpPr>
          <p:cNvPr id="457" name="Google Shape;457;g377b8bda5b4_2_78"/>
          <p:cNvSpPr/>
          <p:nvPr/>
        </p:nvSpPr>
        <p:spPr>
          <a:xfrm>
            <a:off x="55329" y="3288734"/>
            <a:ext cx="8004246" cy="3211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1100" u="none" cap="none" strike="noStrike">
                <a:latin typeface="Arial"/>
                <a:ea typeface="Arial"/>
                <a:cs typeface="Arial"/>
                <a:sym typeface="Arial"/>
              </a:rPr>
              <a:t>Question </a:t>
            </a:r>
            <a:r>
              <a:rPr b="1" i="1" lang="en" sz="1100" u="none" cap="none" strike="noStrike">
                <a:latin typeface="Arial"/>
                <a:ea typeface="Arial"/>
                <a:cs typeface="Arial"/>
                <a:sym typeface="Arial"/>
              </a:rPr>
              <a:t>7</a:t>
            </a:r>
            <a:r>
              <a:rPr b="1" i="1" lang="en" sz="600" u="none" cap="none" strike="noStrike">
                <a:latin typeface="Arial"/>
                <a:ea typeface="Arial"/>
                <a:cs typeface="Arial"/>
                <a:sym typeface="Arial"/>
              </a:rPr>
              <a:t>:</a:t>
            </a:r>
            <a:r>
              <a:rPr b="1" i="0" lang="en" sz="1100" u="none" cap="none" strike="noStrike">
                <a:latin typeface="Arial"/>
                <a:ea typeface="Arial"/>
                <a:cs typeface="Arial"/>
                <a:sym typeface="Arial"/>
              </a:rPr>
              <a:t> Which are the top 5 restaurants in terms of the number of orders received? [1 mark]</a:t>
            </a:r>
            <a:endParaRPr/>
          </a:p>
          <a:p>
            <a:pPr indent="0" lvl="0" marL="0" marR="0" rtl="0" algn="l">
              <a:lnSpc>
                <a:spcPct val="135529"/>
              </a:lnSpc>
              <a:spcBef>
                <a:spcPts val="630"/>
              </a:spcBef>
              <a:spcAft>
                <a:spcPts val="0"/>
              </a:spcAft>
              <a:buNone/>
            </a:pPr>
            <a:r>
              <a:rPr b="1" i="0" lang="en" sz="850" u="none" cap="none" strike="noStrike">
                <a:latin typeface="Arial"/>
                <a:ea typeface="Arial"/>
                <a:cs typeface="Arial"/>
                <a:sym typeface="Arial"/>
              </a:rPr>
              <a:t>In [30]:</a:t>
            </a:r>
            <a:endParaRPr/>
          </a:p>
          <a:p>
            <a:pPr indent="0" lvl="0" marL="0" marR="0" rtl="0" algn="l">
              <a:lnSpc>
                <a:spcPct val="121263"/>
              </a:lnSpc>
              <a:spcBef>
                <a:spcPts val="0"/>
              </a:spcBef>
              <a:spcAft>
                <a:spcPts val="0"/>
              </a:spcAft>
              <a:buNone/>
            </a:pPr>
            <a:r>
              <a:rPr b="0" i="1" lang="en" sz="950" u="none" cap="none" strike="noStrike">
                <a:latin typeface="Arial"/>
                <a:ea typeface="Arial"/>
                <a:cs typeface="Arial"/>
                <a:sym typeface="Arial"/>
              </a:rPr>
              <a:t># Write the code here </a:t>
            </a:r>
            <a:r>
              <a:rPr b="1" i="0" lang="en" sz="850" u="none" cap="none" strike="noStrike">
                <a:latin typeface="Arial"/>
                <a:ea typeface="Arial"/>
                <a:cs typeface="Arial"/>
                <a:sym typeface="Arial"/>
              </a:rPr>
              <a:t>df['restaurant_name'].value_counts()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g377b8bda5b4_2_85"/>
          <p:cNvSpPr/>
          <p:nvPr/>
        </p:nvSpPr>
        <p:spPr>
          <a:xfrm>
            <a:off x="59017" y="0"/>
            <a:ext cx="553289" cy="6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Out[30]:</a:t>
            </a:r>
            <a:endParaRPr/>
          </a:p>
        </p:txBody>
      </p:sp>
      <p:sp>
        <p:nvSpPr>
          <p:cNvPr id="463" name="Google Shape;463;g377b8bda5b4_2_85"/>
          <p:cNvSpPr/>
          <p:nvPr/>
        </p:nvSpPr>
        <p:spPr>
          <a:xfrm>
            <a:off x="2150449" y="98237"/>
            <a:ext cx="435254" cy="586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count</a:t>
            </a:r>
            <a:endParaRPr/>
          </a:p>
        </p:txBody>
      </p:sp>
      <p:sp>
        <p:nvSpPr>
          <p:cNvPr id="464" name="Google Shape;464;g377b8bda5b4_2_85"/>
          <p:cNvSpPr/>
          <p:nvPr/>
        </p:nvSpPr>
        <p:spPr>
          <a:xfrm>
            <a:off x="66395" y="227264"/>
            <a:ext cx="2522997" cy="1696418"/>
          </a:xfrm>
          <a:prstGeom prst="rect">
            <a:avLst/>
          </a:prstGeom>
          <a:noFill/>
          <a:ln>
            <a:noFill/>
          </a:ln>
        </p:spPr>
        <p:txBody>
          <a:bodyPr anchorCtr="0" anchor="t" bIns="0" lIns="0" spcFirstLastPara="1" rIns="0" wrap="square" tIns="0">
            <a:noAutofit/>
          </a:bodyPr>
          <a:lstStyle/>
          <a:p>
            <a:pPr indent="0" lvl="0" marL="638556" marR="0" rtl="0" algn="just">
              <a:lnSpc>
                <a:spcPct val="245647"/>
              </a:lnSpc>
              <a:spcBef>
                <a:spcPts val="0"/>
              </a:spcBef>
              <a:spcAft>
                <a:spcPts val="0"/>
              </a:spcAft>
              <a:buNone/>
            </a:pPr>
            <a:r>
              <a:rPr b="1" i="0" lang="en" sz="850" u="none" cap="none" strike="noStrike">
                <a:latin typeface="Arial"/>
                <a:ea typeface="Arial"/>
                <a:cs typeface="Arial"/>
                <a:sym typeface="Arial"/>
              </a:rPr>
              <a:t>restaurant_name</a:t>
            </a:r>
            <a:endParaRPr/>
          </a:p>
          <a:p>
            <a:pPr indent="0" lvl="0" marL="867156" marR="0" rtl="0" algn="just">
              <a:lnSpc>
                <a:spcPct val="245647"/>
              </a:lnSpc>
              <a:spcBef>
                <a:spcPts val="0"/>
              </a:spcBef>
              <a:spcAft>
                <a:spcPts val="0"/>
              </a:spcAft>
              <a:buNone/>
            </a:pPr>
            <a:r>
              <a:rPr b="1" i="0" lang="en" sz="850" u="none" cap="none" strike="noStrike">
                <a:latin typeface="Arial"/>
                <a:ea typeface="Arial"/>
                <a:cs typeface="Arial"/>
                <a:sym typeface="Arial"/>
              </a:rPr>
              <a:t>Shake Shack    219</a:t>
            </a:r>
            <a:endParaRPr/>
          </a:p>
          <a:p>
            <a:pPr indent="0" lvl="0" marL="549656" marR="0" rtl="0" algn="just">
              <a:lnSpc>
                <a:spcPct val="245647"/>
              </a:lnSpc>
              <a:spcBef>
                <a:spcPts val="0"/>
              </a:spcBef>
              <a:spcAft>
                <a:spcPts val="0"/>
              </a:spcAft>
              <a:buNone/>
            </a:pPr>
            <a:r>
              <a:rPr b="1" i="0" lang="en" sz="850" u="none" cap="none" strike="noStrike">
                <a:latin typeface="Arial"/>
                <a:ea typeface="Arial"/>
                <a:cs typeface="Arial"/>
                <a:sym typeface="Arial"/>
              </a:rPr>
              <a:t>The Meatball Shop    132</a:t>
            </a:r>
            <a:endParaRPr/>
          </a:p>
          <a:p>
            <a:pPr indent="0" lvl="0" marL="549656" marR="0" rtl="0" algn="just">
              <a:lnSpc>
                <a:spcPct val="245647"/>
              </a:lnSpc>
              <a:spcBef>
                <a:spcPts val="0"/>
              </a:spcBef>
              <a:spcAft>
                <a:spcPts val="0"/>
              </a:spcAft>
              <a:buNone/>
            </a:pPr>
            <a:r>
              <a:rPr b="1" i="0" lang="en" sz="850" u="none" cap="none" strike="noStrike">
                <a:latin typeface="Arial"/>
                <a:ea typeface="Arial"/>
                <a:cs typeface="Arial"/>
                <a:sym typeface="Arial"/>
              </a:rPr>
              <a:t>Blue Ribbon Sushi    119</a:t>
            </a:r>
            <a:endParaRPr/>
          </a:p>
          <a:p>
            <a:pPr indent="0" lvl="0" marL="549656" marR="0" rtl="0" algn="just">
              <a:lnSpc>
                <a:spcPct val="116210"/>
              </a:lnSpc>
              <a:spcBef>
                <a:spcPts val="0"/>
              </a:spcBef>
              <a:spcAft>
                <a:spcPts val="0"/>
              </a:spcAft>
              <a:buNone/>
            </a:pPr>
            <a:r>
              <a:rPr b="1" i="0" lang="en" sz="850" u="none" cap="none" strike="noStrike">
                <a:latin typeface="Arial"/>
                <a:ea typeface="Arial"/>
                <a:cs typeface="Arial"/>
                <a:sym typeface="Arial"/>
              </a:rPr>
              <a:t>Blue Ribbon Fried    </a:t>
            </a:r>
            <a:r>
              <a:rPr b="1" i="0" lang="en" sz="950" u="none" cap="none" strike="noStrike">
                <a:latin typeface="Arial"/>
                <a:ea typeface="Arial"/>
                <a:cs typeface="Arial"/>
                <a:sym typeface="Arial"/>
              </a:rPr>
              <a:t>96</a:t>
            </a:r>
            <a:endParaRPr/>
          </a:p>
          <a:p>
            <a:pPr indent="0" lvl="0" marL="1146556" marR="0" rtl="0" algn="l">
              <a:lnSpc>
                <a:spcPct val="129882"/>
              </a:lnSpc>
              <a:spcBef>
                <a:spcPts val="0"/>
              </a:spcBef>
              <a:spcAft>
                <a:spcPts val="0"/>
              </a:spcAft>
              <a:buNone/>
            </a:pPr>
            <a:r>
              <a:rPr b="1" i="0" lang="en" sz="850" u="none" cap="none" strike="noStrike">
                <a:latin typeface="Arial"/>
                <a:ea typeface="Arial"/>
                <a:cs typeface="Arial"/>
                <a:sym typeface="Arial"/>
              </a:rPr>
              <a:t>Chicken</a:t>
            </a:r>
            <a:endParaRPr/>
          </a:p>
          <a:p>
            <a:pPr indent="0" lvl="0" marL="1324356" marR="0" rtl="0" algn="just">
              <a:spcBef>
                <a:spcPts val="630"/>
              </a:spcBef>
              <a:spcAft>
                <a:spcPts val="0"/>
              </a:spcAft>
              <a:buNone/>
            </a:pPr>
            <a:r>
              <a:rPr b="1" i="0" lang="en" sz="850" u="none" cap="none" strike="noStrike">
                <a:latin typeface="Arial"/>
                <a:ea typeface="Arial"/>
                <a:cs typeface="Arial"/>
                <a:sym typeface="Arial"/>
              </a:rPr>
              <a:t>Parm    </a:t>
            </a:r>
            <a:r>
              <a:rPr b="1" i="0" lang="en" sz="950" u="none" cap="none" strike="noStrike">
                <a:latin typeface="Arial"/>
                <a:ea typeface="Arial"/>
                <a:cs typeface="Arial"/>
                <a:sym typeface="Arial"/>
              </a:rPr>
              <a:t>68</a:t>
            </a:r>
            <a:endParaRPr/>
          </a:p>
          <a:p>
            <a:pPr indent="0" lvl="0" marL="994156" marR="0" rtl="0" algn="just">
              <a:lnSpc>
                <a:spcPct val="245647"/>
              </a:lnSpc>
              <a:spcBef>
                <a:spcPts val="2310"/>
              </a:spcBef>
              <a:spcAft>
                <a:spcPts val="0"/>
              </a:spcAft>
              <a:buNone/>
            </a:pPr>
            <a:r>
              <a:rPr b="1" i="0" lang="en" sz="850" u="none" cap="none" strike="noStrike">
                <a:latin typeface="Arial"/>
                <a:ea typeface="Arial"/>
                <a:cs typeface="Arial"/>
                <a:sym typeface="Arial"/>
              </a:rPr>
              <a:t>Rye House    1</a:t>
            </a:r>
            <a:endParaRPr/>
          </a:p>
          <a:p>
            <a:pPr indent="0" lvl="0" marL="790956" marR="0" rtl="0" algn="just">
              <a:lnSpc>
                <a:spcPct val="245647"/>
              </a:lnSpc>
              <a:spcBef>
                <a:spcPts val="0"/>
              </a:spcBef>
              <a:spcAft>
                <a:spcPts val="0"/>
              </a:spcAft>
              <a:buNone/>
            </a:pPr>
            <a:r>
              <a:rPr b="1" i="0" lang="en" sz="850" u="none" cap="none" strike="noStrike">
                <a:latin typeface="Arial"/>
                <a:ea typeface="Arial"/>
                <a:cs typeface="Arial"/>
                <a:sym typeface="Arial"/>
              </a:rPr>
              <a:t>Hiroko's Place    1</a:t>
            </a:r>
            <a:endParaRPr/>
          </a:p>
          <a:p>
            <a:pPr indent="0" lvl="0" marL="638556" marR="0" rtl="0" algn="just">
              <a:lnSpc>
                <a:spcPct val="245647"/>
              </a:lnSpc>
              <a:spcBef>
                <a:spcPts val="0"/>
              </a:spcBef>
              <a:spcAft>
                <a:spcPts val="0"/>
              </a:spcAft>
              <a:buNone/>
            </a:pPr>
            <a:r>
              <a:rPr b="1" i="0" lang="en" sz="850" u="none" cap="none" strike="noStrike">
                <a:latin typeface="Arial"/>
                <a:ea typeface="Arial"/>
                <a:cs typeface="Arial"/>
                <a:sym typeface="Arial"/>
              </a:rPr>
              <a:t>Frank Restaurant    1</a:t>
            </a:r>
            <a:endParaRPr/>
          </a:p>
          <a:p>
            <a:pPr indent="0" lvl="0" marL="676656" marR="0" rtl="0" algn="just">
              <a:lnSpc>
                <a:spcPct val="245647"/>
              </a:lnSpc>
              <a:spcBef>
                <a:spcPts val="0"/>
              </a:spcBef>
              <a:spcAft>
                <a:spcPts val="0"/>
              </a:spcAft>
              <a:buNone/>
            </a:pPr>
            <a:r>
              <a:rPr b="1" i="0" lang="en" sz="850" u="none" cap="none" strike="noStrike">
                <a:latin typeface="Arial"/>
                <a:ea typeface="Arial"/>
                <a:cs typeface="Arial"/>
                <a:sym typeface="Arial"/>
              </a:rPr>
              <a:t>Sarabeth's West    1</a:t>
            </a:r>
            <a:endParaRPr/>
          </a:p>
          <a:p>
            <a:pPr indent="0" lvl="0" marL="1057656" marR="0" rtl="0" algn="l">
              <a:lnSpc>
                <a:spcPct val="219789"/>
              </a:lnSpc>
              <a:spcBef>
                <a:spcPts val="0"/>
              </a:spcBef>
              <a:spcAft>
                <a:spcPts val="0"/>
              </a:spcAft>
              <a:buNone/>
            </a:pPr>
            <a:r>
              <a:rPr b="1" i="0" lang="en" sz="850" u="none" cap="none" strike="noStrike">
                <a:latin typeface="Arial"/>
                <a:ea typeface="Arial"/>
                <a:cs typeface="Arial"/>
                <a:sym typeface="Arial"/>
              </a:rPr>
              <a:t>'wichcraft </a:t>
            </a:r>
            <a:r>
              <a:rPr b="1" i="0" lang="en" sz="950" u="none" cap="none" strike="noStrike">
                <a:latin typeface="Arial"/>
                <a:ea typeface="Arial"/>
                <a:cs typeface="Arial"/>
                <a:sym typeface="Arial"/>
              </a:rPr>
              <a:t>1</a:t>
            </a:r>
            <a:endParaRPr/>
          </a:p>
          <a:p>
            <a:pPr indent="0" lvl="0" marL="0" marR="0" rtl="0" algn="just">
              <a:spcBef>
                <a:spcPts val="210"/>
              </a:spcBef>
              <a:spcAft>
                <a:spcPts val="0"/>
              </a:spcAft>
              <a:buNone/>
            </a:pPr>
            <a:r>
              <a:rPr b="1" i="0" lang="en" sz="850" u="none" cap="none" strike="noStrike">
                <a:latin typeface="Arial"/>
                <a:ea typeface="Arial"/>
                <a:cs typeface="Arial"/>
                <a:sym typeface="Arial"/>
              </a:rPr>
              <a:t>178 rows x 1 columns</a:t>
            </a:r>
            <a:endParaRPr/>
          </a:p>
        </p:txBody>
      </p:sp>
      <p:sp>
        <p:nvSpPr>
          <p:cNvPr id="465" name="Google Shape;465;g377b8bda5b4_2_85"/>
          <p:cNvSpPr/>
          <p:nvPr/>
        </p:nvSpPr>
        <p:spPr>
          <a:xfrm>
            <a:off x="55329" y="2060041"/>
            <a:ext cx="1696753" cy="545434"/>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i="0" lang="en" sz="850" u="none" cap="none" strike="noStrike">
                <a:latin typeface="Arial"/>
                <a:ea typeface="Arial"/>
                <a:cs typeface="Arial"/>
                <a:sym typeface="Arial"/>
              </a:rPr>
              <a:t>dtype: int64</a:t>
            </a:r>
            <a:endParaRPr/>
          </a:p>
          <a:p>
            <a:pPr indent="0" lvl="0" marL="215900" marR="0" rtl="0" algn="l">
              <a:lnSpc>
                <a:spcPct val="124800"/>
              </a:lnSpc>
              <a:spcBef>
                <a:spcPts val="840"/>
              </a:spcBef>
              <a:spcAft>
                <a:spcPts val="0"/>
              </a:spcAft>
              <a:buNone/>
            </a:pPr>
            <a:r>
              <a:rPr b="0" i="0" lang="en" sz="750" u="none" cap="none" strike="noStrike">
                <a:latin typeface="Arial"/>
                <a:ea typeface="Arial"/>
                <a:cs typeface="Arial"/>
                <a:sym typeface="Arial"/>
              </a:rPr>
              <a:t>#### Observations:</a:t>
            </a:r>
            <a:endParaRPr/>
          </a:p>
          <a:p>
            <a:pPr indent="0" lvl="0" marL="215900" marR="0" rtl="0" algn="l">
              <a:lnSpc>
                <a:spcPct val="124800"/>
              </a:lnSpc>
              <a:spcBef>
                <a:spcPts val="0"/>
              </a:spcBef>
              <a:spcAft>
                <a:spcPts val="0"/>
              </a:spcAft>
              <a:buNone/>
            </a:pPr>
            <a:r>
              <a:rPr b="0" i="0" lang="en" sz="750" u="none" cap="none" strike="noStrike">
                <a:latin typeface="Arial"/>
                <a:ea typeface="Arial"/>
                <a:cs typeface="Arial"/>
                <a:sym typeface="Arial"/>
              </a:rPr>
              <a:t>Yop5 restaurant are Shake Shack The Meatball Shop Blue Ribbon Sushi Blue Ribbon Fried Chicken Parm</a:t>
            </a:r>
            <a:endParaRPr/>
          </a:p>
        </p:txBody>
      </p:sp>
      <p:sp>
        <p:nvSpPr>
          <p:cNvPr id="466" name="Google Shape;466;g377b8bda5b4_2_85"/>
          <p:cNvSpPr/>
          <p:nvPr/>
        </p:nvSpPr>
        <p:spPr>
          <a:xfrm>
            <a:off x="55329" y="2755030"/>
            <a:ext cx="6270607" cy="472123"/>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i="0" lang="en" sz="1100" u="none" cap="none" strike="noStrike">
                <a:latin typeface="Arial"/>
                <a:ea typeface="Arial"/>
                <a:cs typeface="Arial"/>
                <a:sym typeface="Arial"/>
              </a:rPr>
              <a:t>Question 8: Which is the most popular cuisine on weekends? [1 mark]</a:t>
            </a:r>
            <a:endParaRPr/>
          </a:p>
          <a:p>
            <a:pPr indent="0" lvl="0" marL="0" marR="0" rtl="0" algn="just">
              <a:lnSpc>
                <a:spcPct val="132705"/>
              </a:lnSpc>
              <a:spcBef>
                <a:spcPts val="630"/>
              </a:spcBef>
              <a:spcAft>
                <a:spcPts val="0"/>
              </a:spcAft>
              <a:buNone/>
            </a:pPr>
            <a:r>
              <a:rPr b="1" i="0" lang="en" sz="850" u="none" cap="none" strike="noStrike">
                <a:latin typeface="Arial"/>
                <a:ea typeface="Arial"/>
                <a:cs typeface="Arial"/>
                <a:sym typeface="Arial"/>
              </a:rPr>
              <a:t>In [31]:</a:t>
            </a:r>
            <a:endParaRPr/>
          </a:p>
          <a:p>
            <a:pPr indent="0" lvl="0" marL="0" marR="0" rtl="0" algn="just">
              <a:lnSpc>
                <a:spcPct val="118736"/>
              </a:lnSpc>
              <a:spcBef>
                <a:spcPts val="0"/>
              </a:spcBef>
              <a:spcAft>
                <a:spcPts val="0"/>
              </a:spcAft>
              <a:buNone/>
            </a:pPr>
            <a:r>
              <a:rPr b="0" i="1" lang="en" sz="950" u="none" cap="none" strike="noStrike">
                <a:latin typeface="Arial"/>
                <a:ea typeface="Arial"/>
                <a:cs typeface="Arial"/>
                <a:sym typeface="Arial"/>
              </a:rPr>
              <a:t>#    Write the code here</a:t>
            </a:r>
            <a:endParaRPr/>
          </a:p>
          <a:p>
            <a:pPr indent="0" lvl="0" marL="0" marR="2301240" rtl="0" algn="l">
              <a:lnSpc>
                <a:spcPct val="118736"/>
              </a:lnSpc>
              <a:spcBef>
                <a:spcPts val="0"/>
              </a:spcBef>
              <a:spcAft>
                <a:spcPts val="0"/>
              </a:spcAft>
              <a:buNone/>
            </a:pPr>
            <a:r>
              <a:rPr b="0" i="1" lang="en" sz="950" u="none" cap="none" strike="noStrike">
                <a:latin typeface="Arial"/>
                <a:ea typeface="Arial"/>
                <a:cs typeface="Arial"/>
                <a:sym typeface="Arial"/>
              </a:rPr>
              <a:t>#    Get most popular cuisine on weekends </a:t>
            </a:r>
            <a:r>
              <a:rPr b="1" i="0" lang="en" sz="850" u="none" cap="none" strike="noStrike">
                <a:latin typeface="Arial"/>
                <a:ea typeface="Arial"/>
                <a:cs typeface="Arial"/>
                <a:sym typeface="Arial"/>
              </a:rPr>
              <a:t>df_weekend = df[df['day_of_the_week'] == 'Weekend']</a:t>
            </a:r>
            <a:endParaRPr/>
          </a:p>
          <a:p>
            <a:pPr indent="0" lvl="0" marL="0" marR="0" rtl="0" algn="just">
              <a:lnSpc>
                <a:spcPct val="118736"/>
              </a:lnSpc>
              <a:spcBef>
                <a:spcPts val="0"/>
              </a:spcBef>
              <a:spcAft>
                <a:spcPts val="0"/>
              </a:spcAft>
              <a:buNone/>
            </a:pPr>
            <a:r>
              <a:rPr b="1" i="0" lang="en" sz="850" u="none" cap="none" strike="noStrike">
                <a:latin typeface="Arial"/>
                <a:ea typeface="Arial"/>
                <a:cs typeface="Arial"/>
                <a:sym typeface="Arial"/>
              </a:rPr>
              <a:t>df_weekend['cuisine_type'].value_counts() </a:t>
            </a:r>
            <a:r>
              <a:rPr b="0" i="1" lang="en" sz="950" u="none" cap="none" strike="noStrike">
                <a:latin typeface="Arial"/>
                <a:ea typeface="Arial"/>
                <a:cs typeface="Arial"/>
                <a:sym typeface="Arial"/>
              </a:rPr>
              <a:t>## Complete the code to check unique values for the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0" name="Shape 470"/>
        <p:cNvGrpSpPr/>
        <p:nvPr/>
      </p:nvGrpSpPr>
      <p:grpSpPr>
        <a:xfrm>
          <a:off x="0" y="0"/>
          <a:ext cx="0" cy="0"/>
          <a:chOff x="0" y="0"/>
          <a:chExt cx="0" cy="0"/>
        </a:xfrm>
      </p:grpSpPr>
      <p:sp>
        <p:nvSpPr>
          <p:cNvPr id="471" name="Google Shape;471;g377b8bda5b4_2_93"/>
          <p:cNvSpPr/>
          <p:nvPr/>
        </p:nvSpPr>
        <p:spPr>
          <a:xfrm>
            <a:off x="59017" y="0"/>
            <a:ext cx="553289" cy="6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Out[31]:</a:t>
            </a:r>
            <a:endParaRPr/>
          </a:p>
        </p:txBody>
      </p:sp>
      <p:sp>
        <p:nvSpPr>
          <p:cNvPr id="472" name="Google Shape;472;g377b8bda5b4_2_93"/>
          <p:cNvSpPr/>
          <p:nvPr/>
        </p:nvSpPr>
        <p:spPr>
          <a:xfrm>
            <a:off x="1327893" y="98237"/>
            <a:ext cx="438942" cy="586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count</a:t>
            </a:r>
            <a:endParaRPr/>
          </a:p>
        </p:txBody>
      </p:sp>
      <p:graphicFrame>
        <p:nvGraphicFramePr>
          <p:cNvPr id="473" name="Google Shape;473;g377b8bda5b4_2_93"/>
          <p:cNvGraphicFramePr/>
          <p:nvPr/>
        </p:nvGraphicFramePr>
        <p:xfrm>
          <a:off x="136478" y="227264"/>
          <a:ext cx="3000000" cy="3000000"/>
        </p:xfrm>
        <a:graphic>
          <a:graphicData uri="http://schemas.openxmlformats.org/drawingml/2006/table">
            <a:tbl>
              <a:tblPr>
                <a:noFill/>
                <a:tableStyleId>{027568D1-9BE7-4ABE-AB64-776F8D02060C}</a:tableStyleId>
              </a:tblPr>
              <a:tblGrid>
                <a:gridCol w="1217225"/>
                <a:gridCol w="416800"/>
              </a:tblGrid>
              <a:tr h="95300">
                <a:tc>
                  <a:txBody>
                    <a:bodyPr/>
                    <a:lstStyle/>
                    <a:p>
                      <a:pPr indent="0" lvl="0" marL="0" marR="63500" rtl="0" algn="r">
                        <a:spcBef>
                          <a:spcPts val="0"/>
                        </a:spcBef>
                        <a:spcAft>
                          <a:spcPts val="0"/>
                        </a:spcAft>
                        <a:buNone/>
                      </a:pPr>
                      <a:r>
                        <a:rPr b="1" lang="en" sz="400">
                          <a:latin typeface="Arial"/>
                          <a:ea typeface="Arial"/>
                          <a:cs typeface="Arial"/>
                          <a:sym typeface="Arial"/>
                        </a:rPr>
                        <a:t>cuisine_type</a:t>
                      </a:r>
                      <a:endParaRPr sz="700"/>
                    </a:p>
                  </a:txBody>
                  <a:tcPr marT="0" marB="0" marR="0" marL="0"/>
                </a:tc>
                <a:tc>
                  <a:txBody>
                    <a:bodyPr/>
                    <a:lstStyle/>
                    <a:p>
                      <a:pPr indent="0" lvl="0" marL="0" marR="0" rtl="0" algn="l">
                        <a:spcBef>
                          <a:spcPts val="0"/>
                        </a:spcBef>
                        <a:spcAft>
                          <a:spcPts val="0"/>
                        </a:spcAft>
                        <a:buNone/>
                      </a:pPr>
                      <a:r>
                        <a:t/>
                      </a:r>
                      <a:endParaRPr sz="500"/>
                    </a:p>
                  </a:txBody>
                  <a:tcPr marT="0" marB="0" marR="0" marL="0"/>
                </a:tc>
              </a:tr>
              <a:tr h="124625">
                <a:tc>
                  <a:txBody>
                    <a:bodyPr/>
                    <a:lstStyle/>
                    <a:p>
                      <a:pPr indent="0" lvl="0" marL="0" marR="63500" rtl="0" algn="r">
                        <a:spcBef>
                          <a:spcPts val="0"/>
                        </a:spcBef>
                        <a:spcAft>
                          <a:spcPts val="0"/>
                        </a:spcAft>
                        <a:buNone/>
                      </a:pPr>
                      <a:r>
                        <a:rPr b="1" lang="en" sz="400">
                          <a:latin typeface="Arial"/>
                          <a:ea typeface="Arial"/>
                          <a:cs typeface="Arial"/>
                          <a:sym typeface="Arial"/>
                        </a:rPr>
                        <a:t>American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415</a:t>
                      </a:r>
                      <a:endParaRPr sz="700"/>
                    </a:p>
                  </a:txBody>
                  <a:tcPr marT="0" marB="0" marR="0" marL="0" anchor="ctr"/>
                </a:tc>
              </a:tr>
              <a:tr h="133425">
                <a:tc>
                  <a:txBody>
                    <a:bodyPr/>
                    <a:lstStyle/>
                    <a:p>
                      <a:pPr indent="0" lvl="0" marL="0" marR="63500" rtl="0" algn="r">
                        <a:spcBef>
                          <a:spcPts val="0"/>
                        </a:spcBef>
                        <a:spcAft>
                          <a:spcPts val="0"/>
                        </a:spcAft>
                        <a:buNone/>
                      </a:pPr>
                      <a:r>
                        <a:rPr b="1" lang="en" sz="400">
                          <a:latin typeface="Arial"/>
                          <a:ea typeface="Arial"/>
                          <a:cs typeface="Arial"/>
                          <a:sym typeface="Arial"/>
                        </a:rPr>
                        <a:t>Japanese</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335</a:t>
                      </a:r>
                      <a:endParaRPr sz="700"/>
                    </a:p>
                  </a:txBody>
                  <a:tcPr marT="0" marB="0" marR="0" marL="0" anchor="ctr"/>
                </a:tc>
              </a:tr>
              <a:tr h="123150">
                <a:tc>
                  <a:txBody>
                    <a:bodyPr/>
                    <a:lstStyle/>
                    <a:p>
                      <a:pPr indent="0" lvl="0" marL="0" marR="63500" rtl="0" algn="r">
                        <a:spcBef>
                          <a:spcPts val="0"/>
                        </a:spcBef>
                        <a:spcAft>
                          <a:spcPts val="0"/>
                        </a:spcAft>
                        <a:buNone/>
                      </a:pPr>
                      <a:r>
                        <a:rPr b="1" lang="en" sz="400">
                          <a:latin typeface="Arial"/>
                          <a:ea typeface="Arial"/>
                          <a:cs typeface="Arial"/>
                          <a:sym typeface="Arial"/>
                        </a:rPr>
                        <a:t>Italian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207</a:t>
                      </a:r>
                      <a:endParaRPr sz="700"/>
                    </a:p>
                  </a:txBody>
                  <a:tcPr marT="0" marB="0" marR="0" marL="0" anchor="ctr"/>
                </a:tc>
              </a:tr>
              <a:tr h="127550">
                <a:tc>
                  <a:txBody>
                    <a:bodyPr/>
                    <a:lstStyle/>
                    <a:p>
                      <a:pPr indent="0" lvl="0" marL="0" marR="63500" rtl="0" algn="r">
                        <a:spcBef>
                          <a:spcPts val="0"/>
                        </a:spcBef>
                        <a:spcAft>
                          <a:spcPts val="0"/>
                        </a:spcAft>
                        <a:buNone/>
                      </a:pPr>
                      <a:r>
                        <a:rPr b="1" lang="en" sz="400">
                          <a:latin typeface="Arial"/>
                          <a:ea typeface="Arial"/>
                          <a:cs typeface="Arial"/>
                          <a:sym typeface="Arial"/>
                        </a:rPr>
                        <a:t>Chinese</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163</a:t>
                      </a:r>
                      <a:endParaRPr sz="700"/>
                    </a:p>
                  </a:txBody>
                  <a:tcPr marT="0" marB="0" marR="0" marL="0" anchor="ctr"/>
                </a:tc>
              </a:tr>
              <a:tr h="129025">
                <a:tc>
                  <a:txBody>
                    <a:bodyPr/>
                    <a:lstStyle/>
                    <a:p>
                      <a:pPr indent="0" lvl="0" marL="0" marR="63500" rtl="0" algn="r">
                        <a:spcBef>
                          <a:spcPts val="0"/>
                        </a:spcBef>
                        <a:spcAft>
                          <a:spcPts val="0"/>
                        </a:spcAft>
                        <a:buNone/>
                      </a:pPr>
                      <a:r>
                        <a:rPr b="1" lang="en" sz="400">
                          <a:latin typeface="Arial"/>
                          <a:ea typeface="Arial"/>
                          <a:cs typeface="Arial"/>
                          <a:sym typeface="Arial"/>
                        </a:rPr>
                        <a:t>Mexican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53</a:t>
                      </a:r>
                      <a:endParaRPr sz="700"/>
                    </a:p>
                  </a:txBody>
                  <a:tcPr marT="0" marB="0" marR="0" marL="0" anchor="ctr"/>
                </a:tc>
              </a:tr>
              <a:tr h="127550">
                <a:tc>
                  <a:txBody>
                    <a:bodyPr/>
                    <a:lstStyle/>
                    <a:p>
                      <a:pPr indent="0" lvl="0" marL="0" marR="63500" rtl="0" algn="r">
                        <a:spcBef>
                          <a:spcPts val="0"/>
                        </a:spcBef>
                        <a:spcAft>
                          <a:spcPts val="0"/>
                        </a:spcAft>
                        <a:buNone/>
                      </a:pPr>
                      <a:r>
                        <a:rPr b="1" lang="en" sz="400">
                          <a:latin typeface="Arial"/>
                          <a:ea typeface="Arial"/>
                          <a:cs typeface="Arial"/>
                          <a:sym typeface="Arial"/>
                        </a:rPr>
                        <a:t>Indian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49</a:t>
                      </a:r>
                      <a:endParaRPr sz="700"/>
                    </a:p>
                  </a:txBody>
                  <a:tcPr marT="0" marB="0" marR="0" marL="0" anchor="ctr"/>
                </a:tc>
              </a:tr>
              <a:tr h="129025">
                <a:tc>
                  <a:txBody>
                    <a:bodyPr/>
                    <a:lstStyle/>
                    <a:p>
                      <a:pPr indent="0" lvl="0" marL="0" marR="63500" rtl="0" algn="r">
                        <a:spcBef>
                          <a:spcPts val="0"/>
                        </a:spcBef>
                        <a:spcAft>
                          <a:spcPts val="0"/>
                        </a:spcAft>
                        <a:buNone/>
                      </a:pPr>
                      <a:r>
                        <a:rPr b="1" lang="en" sz="400">
                          <a:latin typeface="Arial"/>
                          <a:ea typeface="Arial"/>
                          <a:cs typeface="Arial"/>
                          <a:sym typeface="Arial"/>
                        </a:rPr>
                        <a:t>Middle Eastern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32</a:t>
                      </a:r>
                      <a:endParaRPr sz="700"/>
                    </a:p>
                  </a:txBody>
                  <a:tcPr marT="0" marB="0" marR="0" marL="0" anchor="ctr"/>
                </a:tc>
              </a:tr>
              <a:tr h="127550">
                <a:tc>
                  <a:txBody>
                    <a:bodyPr/>
                    <a:lstStyle/>
                    <a:p>
                      <a:pPr indent="0" lvl="0" marL="0" marR="63500" rtl="0" algn="r">
                        <a:spcBef>
                          <a:spcPts val="0"/>
                        </a:spcBef>
                        <a:spcAft>
                          <a:spcPts val="0"/>
                        </a:spcAft>
                        <a:buNone/>
                      </a:pPr>
                      <a:r>
                        <a:rPr b="1" lang="en" sz="400">
                          <a:latin typeface="Arial"/>
                          <a:ea typeface="Arial"/>
                          <a:cs typeface="Arial"/>
                          <a:sym typeface="Arial"/>
                        </a:rPr>
                        <a:t>Mediterranean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32</a:t>
                      </a:r>
                      <a:endParaRPr sz="700"/>
                    </a:p>
                  </a:txBody>
                  <a:tcPr marT="0" marB="0" marR="0" marL="0" anchor="ctr"/>
                </a:tc>
              </a:tr>
              <a:tr h="129025">
                <a:tc>
                  <a:txBody>
                    <a:bodyPr/>
                    <a:lstStyle/>
                    <a:p>
                      <a:pPr indent="0" lvl="0" marL="0" marR="63500" rtl="0" algn="r">
                        <a:spcBef>
                          <a:spcPts val="0"/>
                        </a:spcBef>
                        <a:spcAft>
                          <a:spcPts val="0"/>
                        </a:spcAft>
                        <a:buNone/>
                      </a:pPr>
                      <a:r>
                        <a:rPr b="1" lang="en" sz="400">
                          <a:latin typeface="Arial"/>
                          <a:ea typeface="Arial"/>
                          <a:cs typeface="Arial"/>
                          <a:sym typeface="Arial"/>
                        </a:rPr>
                        <a:t>Thai</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15</a:t>
                      </a:r>
                      <a:endParaRPr sz="700"/>
                    </a:p>
                  </a:txBody>
                  <a:tcPr marT="0" marB="0" marR="0" marL="0" anchor="ctr"/>
                </a:tc>
              </a:tr>
              <a:tr h="127550">
                <a:tc>
                  <a:txBody>
                    <a:bodyPr/>
                    <a:lstStyle/>
                    <a:p>
                      <a:pPr indent="0" lvl="0" marL="0" marR="63500" rtl="0" algn="r">
                        <a:spcBef>
                          <a:spcPts val="0"/>
                        </a:spcBef>
                        <a:spcAft>
                          <a:spcPts val="0"/>
                        </a:spcAft>
                        <a:buNone/>
                      </a:pPr>
                      <a:r>
                        <a:rPr b="1" lang="en" sz="400">
                          <a:latin typeface="Arial"/>
                          <a:ea typeface="Arial"/>
                          <a:cs typeface="Arial"/>
                          <a:sym typeface="Arial"/>
                        </a:rPr>
                        <a:t>French</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13</a:t>
                      </a:r>
                      <a:endParaRPr sz="700"/>
                    </a:p>
                  </a:txBody>
                  <a:tcPr marT="0" marB="0" marR="0" marL="0" anchor="ctr"/>
                </a:tc>
              </a:tr>
              <a:tr h="127550">
                <a:tc>
                  <a:txBody>
                    <a:bodyPr/>
                    <a:lstStyle/>
                    <a:p>
                      <a:pPr indent="0" lvl="0" marL="0" marR="63500" rtl="0" algn="r">
                        <a:spcBef>
                          <a:spcPts val="0"/>
                        </a:spcBef>
                        <a:spcAft>
                          <a:spcPts val="0"/>
                        </a:spcAft>
                        <a:buNone/>
                      </a:pPr>
                      <a:r>
                        <a:rPr b="1" lang="en" sz="400">
                          <a:latin typeface="Arial"/>
                          <a:ea typeface="Arial"/>
                          <a:cs typeface="Arial"/>
                          <a:sym typeface="Arial"/>
                        </a:rPr>
                        <a:t>Korean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11</a:t>
                      </a:r>
                      <a:endParaRPr sz="700"/>
                    </a:p>
                  </a:txBody>
                  <a:tcPr marT="0" marB="0" marR="0" marL="0" anchor="b"/>
                </a:tc>
              </a:tr>
              <a:tr h="129025">
                <a:tc>
                  <a:txBody>
                    <a:bodyPr/>
                    <a:lstStyle/>
                    <a:p>
                      <a:pPr indent="0" lvl="0" marL="0" marR="63500" rtl="0" algn="r">
                        <a:spcBef>
                          <a:spcPts val="0"/>
                        </a:spcBef>
                        <a:spcAft>
                          <a:spcPts val="0"/>
                        </a:spcAft>
                        <a:buNone/>
                      </a:pPr>
                      <a:r>
                        <a:rPr b="1" lang="en" sz="400">
                          <a:latin typeface="Arial"/>
                          <a:ea typeface="Arial"/>
                          <a:cs typeface="Arial"/>
                          <a:sym typeface="Arial"/>
                        </a:rPr>
                        <a:t>Southern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11</a:t>
                      </a:r>
                      <a:endParaRPr sz="700"/>
                    </a:p>
                  </a:txBody>
                  <a:tcPr marT="0" marB="0" marR="0" marL="0" anchor="b"/>
                </a:tc>
              </a:tr>
              <a:tr h="133425">
                <a:tc>
                  <a:txBody>
                    <a:bodyPr/>
                    <a:lstStyle/>
                    <a:p>
                      <a:pPr indent="0" lvl="0" marL="0" marR="63500" rtl="0" algn="r">
                        <a:spcBef>
                          <a:spcPts val="0"/>
                        </a:spcBef>
                        <a:spcAft>
                          <a:spcPts val="0"/>
                        </a:spcAft>
                        <a:buNone/>
                      </a:pPr>
                      <a:r>
                        <a:rPr b="1" lang="en" sz="400">
                          <a:latin typeface="Arial"/>
                          <a:ea typeface="Arial"/>
                          <a:cs typeface="Arial"/>
                          <a:sym typeface="Arial"/>
                        </a:rPr>
                        <a:t>Spanish</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11</a:t>
                      </a:r>
                      <a:endParaRPr sz="700"/>
                    </a:p>
                  </a:txBody>
                  <a:tcPr marT="0" marB="0" marR="0" marL="0" anchor="ctr"/>
                </a:tc>
              </a:tr>
              <a:tr h="90900">
                <a:tc>
                  <a:txBody>
                    <a:bodyPr/>
                    <a:lstStyle/>
                    <a:p>
                      <a:pPr indent="0" lvl="0" marL="0" marR="63500" rtl="0" algn="r">
                        <a:spcBef>
                          <a:spcPts val="0"/>
                        </a:spcBef>
                        <a:spcAft>
                          <a:spcPts val="0"/>
                        </a:spcAft>
                        <a:buNone/>
                      </a:pPr>
                      <a:r>
                        <a:rPr b="1" lang="en" sz="400">
                          <a:latin typeface="Arial"/>
                          <a:ea typeface="Arial"/>
                          <a:cs typeface="Arial"/>
                          <a:sym typeface="Arial"/>
                        </a:rPr>
                        <a:t>Vietnamese</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4</a:t>
                      </a:r>
                      <a:endParaRPr sz="700"/>
                    </a:p>
                  </a:txBody>
                  <a:tcPr marT="0" marB="0" marR="0" marL="0" anchor="b"/>
                </a:tc>
              </a:tr>
            </a:tbl>
          </a:graphicData>
        </a:graphic>
      </p:graphicFrame>
      <p:sp>
        <p:nvSpPr>
          <p:cNvPr id="474" name="Google Shape;474;g377b8bda5b4_2_93"/>
          <p:cNvSpPr/>
          <p:nvPr/>
        </p:nvSpPr>
        <p:spPr>
          <a:xfrm>
            <a:off x="55329" y="2247717"/>
            <a:ext cx="8553846" cy="2809280"/>
          </a:xfrm>
          <a:prstGeom prst="rect">
            <a:avLst/>
          </a:prstGeom>
          <a:noFill/>
          <a:ln>
            <a:noFill/>
          </a:ln>
        </p:spPr>
        <p:txBody>
          <a:bodyPr anchorCtr="0" anchor="t" bIns="0" lIns="0" spcFirstLastPara="1" rIns="0" wrap="square" tIns="0">
            <a:noAutofit/>
          </a:bodyPr>
          <a:lstStyle/>
          <a:p>
            <a:pPr indent="0" lvl="0" marL="0" marR="1574800" rtl="0" algn="l">
              <a:lnSpc>
                <a:spcPct val="252631"/>
              </a:lnSpc>
              <a:spcBef>
                <a:spcPts val="0"/>
              </a:spcBef>
              <a:spcAft>
                <a:spcPts val="0"/>
              </a:spcAft>
              <a:buNone/>
            </a:pPr>
            <a:r>
              <a:rPr b="1" i="0" lang="en" sz="850" u="none" cap="none" strike="noStrike">
                <a:latin typeface="Arial"/>
                <a:ea typeface="Arial"/>
                <a:cs typeface="Arial"/>
                <a:sym typeface="Arial"/>
              </a:rPr>
              <a:t>dtype: </a:t>
            </a:r>
            <a:r>
              <a:rPr b="0" i="0" lang="en" sz="950" u="none" cap="none" strike="noStrike">
                <a:latin typeface="Arial"/>
                <a:ea typeface="Arial"/>
                <a:cs typeface="Arial"/>
                <a:sym typeface="Arial"/>
              </a:rPr>
              <a:t>int64 </a:t>
            </a:r>
            <a:r>
              <a:rPr b="1" i="0" lang="en" sz="850" u="none" cap="none" strike="noStrike">
                <a:latin typeface="Arial"/>
                <a:ea typeface="Arial"/>
                <a:cs typeface="Arial"/>
                <a:sym typeface="Arial"/>
              </a:rPr>
              <a:t>Observations:</a:t>
            </a:r>
            <a:endParaRPr/>
          </a:p>
          <a:p>
            <a:pPr indent="0" lvl="0" marL="0" marR="0" rtl="0" algn="just">
              <a:lnSpc>
                <a:spcPct val="252631"/>
              </a:lnSpc>
              <a:spcBef>
                <a:spcPts val="0"/>
              </a:spcBef>
              <a:spcAft>
                <a:spcPts val="0"/>
              </a:spcAft>
              <a:buNone/>
            </a:pPr>
            <a:r>
              <a:rPr b="0" i="0" lang="en" sz="950" u="none" cap="none" strike="noStrike">
                <a:latin typeface="Arial"/>
                <a:ea typeface="Arial"/>
                <a:cs typeface="Arial"/>
                <a:sym typeface="Arial"/>
              </a:rPr>
              <a:t>most popular for weekend is American</a:t>
            </a:r>
            <a:endParaRPr/>
          </a:p>
          <a:p>
            <a:pPr indent="0" lvl="0" marL="0" marR="0" rtl="0" algn="just">
              <a:spcBef>
                <a:spcPts val="210"/>
              </a:spcBef>
              <a:spcAft>
                <a:spcPts val="0"/>
              </a:spcAft>
              <a:buNone/>
            </a:pPr>
            <a:r>
              <a:rPr b="1" i="0" lang="en" sz="1100" u="none" cap="none" strike="noStrike">
                <a:latin typeface="Arial"/>
                <a:ea typeface="Arial"/>
                <a:cs typeface="Arial"/>
                <a:sym typeface="Arial"/>
              </a:rPr>
              <a:t>Question 9: What percentage of the orders cost more than 20 dollars? [2 marks]</a:t>
            </a:r>
            <a:endParaRPr/>
          </a:p>
          <a:p>
            <a:pPr indent="0" lvl="0" marL="0" marR="0" rtl="0" algn="just">
              <a:lnSpc>
                <a:spcPct val="121263"/>
              </a:lnSpc>
              <a:spcBef>
                <a:spcPts val="630"/>
              </a:spcBef>
              <a:spcAft>
                <a:spcPts val="0"/>
              </a:spcAft>
              <a:buNone/>
            </a:pPr>
            <a:r>
              <a:rPr b="0" i="0" lang="en" sz="950" u="none" cap="none" strike="noStrike">
                <a:latin typeface="Arial"/>
                <a:ea typeface="Arial"/>
                <a:cs typeface="Arial"/>
                <a:sym typeface="Arial"/>
              </a:rPr>
              <a:t>In [32]:</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Write the code here</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Get orders that cost above 20 dollars</a:t>
            </a:r>
            <a:endParaRPr/>
          </a:p>
          <a:p>
            <a:pPr indent="0" lvl="0" marL="0" marR="0" rtl="0" algn="just">
              <a:lnSpc>
                <a:spcPct val="121263"/>
              </a:lnSpc>
              <a:spcBef>
                <a:spcPts val="0"/>
              </a:spcBef>
              <a:spcAft>
                <a:spcPts val="0"/>
              </a:spcAft>
              <a:buNone/>
            </a:pPr>
            <a:r>
              <a:rPr b="0" i="0" lang="en" sz="950" u="none" cap="none" strike="noStrike">
                <a:latin typeface="Arial"/>
                <a:ea typeface="Arial"/>
                <a:cs typeface="Arial"/>
                <a:sym typeface="Arial"/>
              </a:rPr>
              <a:t>df_greater_than_20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df[df['cost_of_the_order']</a:t>
            </a:r>
            <a:r>
              <a:rPr b="1" i="0" lang="en" sz="850" u="none" cap="none" strike="noStrike">
                <a:latin typeface="Arial"/>
                <a:ea typeface="Arial"/>
                <a:cs typeface="Arial"/>
                <a:sym typeface="Arial"/>
              </a:rPr>
              <a:t>&gt;</a:t>
            </a:r>
            <a:r>
              <a:rPr b="0" i="0" lang="en" sz="950" u="none" cap="none" strike="noStrike">
                <a:latin typeface="Arial"/>
                <a:ea typeface="Arial"/>
                <a:cs typeface="Arial"/>
                <a:sym typeface="Arial"/>
              </a:rPr>
              <a:t>20] </a:t>
            </a:r>
            <a:r>
              <a:rPr b="0" i="1" lang="en" sz="950" u="none" cap="none" strike="noStrike">
                <a:latin typeface="Arial"/>
                <a:ea typeface="Arial"/>
                <a:cs typeface="Arial"/>
                <a:sym typeface="Arial"/>
              </a:rPr>
              <a:t>## Write the appropriate column name to get the orders having cost above $20</a:t>
            </a:r>
            <a:endParaRPr/>
          </a:p>
          <a:p>
            <a:pPr indent="0" lvl="0" marL="0" marR="0" rtl="0" algn="just">
              <a:spcBef>
                <a:spcPts val="630"/>
              </a:spcBef>
              <a:spcAft>
                <a:spcPts val="0"/>
              </a:spcAft>
              <a:buNone/>
            </a:pPr>
            <a:r>
              <a:rPr b="0" i="1" lang="en" sz="950" u="none" cap="none" strike="noStrike">
                <a:latin typeface="Arial"/>
                <a:ea typeface="Arial"/>
                <a:cs typeface="Arial"/>
                <a:sym typeface="Arial"/>
              </a:rPr>
              <a:t>#    Calculate the number of total orders where the cost is above 20 dollars</a:t>
            </a:r>
            <a:endParaRPr/>
          </a:p>
          <a:p>
            <a:pPr indent="0" lvl="0" marL="0" marR="0" rtl="0" algn="just">
              <a:spcBef>
                <a:spcPts val="210"/>
              </a:spcBef>
              <a:spcAft>
                <a:spcPts val="0"/>
              </a:spcAft>
              <a:buNone/>
            </a:pPr>
            <a:r>
              <a:rPr b="0" i="0" lang="en" sz="950" u="none" cap="none" strike="noStrike">
                <a:latin typeface="Arial"/>
                <a:ea typeface="Arial"/>
                <a:cs typeface="Arial"/>
                <a:sym typeface="Arial"/>
              </a:rPr>
              <a:t>print('The number of total orders that cost above 20 dollars is:', df_greater_than_20</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shape[0])</a:t>
            </a:r>
            <a:endParaRPr/>
          </a:p>
          <a:p>
            <a:pPr indent="0" lvl="0" marL="0" marR="3683000" rtl="0" algn="l">
              <a:lnSpc>
                <a:spcPct val="118736"/>
              </a:lnSpc>
              <a:spcBef>
                <a:spcPts val="840"/>
              </a:spcBef>
              <a:spcAft>
                <a:spcPts val="0"/>
              </a:spcAft>
              <a:buNone/>
            </a:pPr>
            <a:r>
              <a:rPr b="0" i="1" lang="en" sz="950" u="none" cap="none" strike="noStrike">
                <a:latin typeface="Arial"/>
                <a:ea typeface="Arial"/>
                <a:cs typeface="Arial"/>
                <a:sym typeface="Arial"/>
              </a:rPr>
              <a:t>#    Calculate percentage of such orders in the dataset </a:t>
            </a:r>
            <a:r>
              <a:rPr b="0" i="0" lang="en" sz="950" u="none" cap="none" strike="noStrike">
                <a:latin typeface="Arial"/>
                <a:ea typeface="Arial"/>
                <a:cs typeface="Arial"/>
                <a:sym typeface="Arial"/>
              </a:rPr>
              <a:t>percentage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(df_greater_than_20</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shape[0]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shape[0])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100</a:t>
            </a:r>
            <a:endParaRPr/>
          </a:p>
          <a:p>
            <a:pPr indent="0" lvl="0" marL="0" marR="0" rtl="0" algn="just">
              <a:spcBef>
                <a:spcPts val="630"/>
              </a:spcBef>
              <a:spcAft>
                <a:spcPts val="0"/>
              </a:spcAft>
              <a:buNone/>
            </a:pPr>
            <a:r>
              <a:rPr b="0" i="0" lang="en" sz="950" u="none" cap="none" strike="noStrike">
                <a:latin typeface="Arial"/>
                <a:ea typeface="Arial"/>
                <a:cs typeface="Arial"/>
                <a:sym typeface="Arial"/>
              </a:rPr>
              <a:t>print(''Percentage of orders above 20 dollars:", round(percentage, 2), '%')</a:t>
            </a:r>
            <a:endParaRPr/>
          </a:p>
          <a:p>
            <a:pPr indent="0" lvl="0" marL="0" marR="4419600" rtl="0" algn="l">
              <a:lnSpc>
                <a:spcPct val="128000"/>
              </a:lnSpc>
              <a:spcBef>
                <a:spcPts val="630"/>
              </a:spcBef>
              <a:spcAft>
                <a:spcPts val="0"/>
              </a:spcAft>
              <a:buNone/>
            </a:pPr>
            <a:r>
              <a:rPr b="0" i="0" lang="en" sz="750" u="none" cap="none" strike="noStrike">
                <a:latin typeface="Arial"/>
                <a:ea typeface="Arial"/>
                <a:cs typeface="Arial"/>
                <a:sym typeface="Arial"/>
              </a:rPr>
              <a:t>The number of total orders that cost above 20 dollars is: 555 Percentage of orders above 20 dollars: 29.24 %</a:t>
            </a:r>
            <a:endParaRPr/>
          </a:p>
          <a:p>
            <a:pPr indent="0" lvl="0" marL="0" marR="0" rtl="0" algn="just">
              <a:spcBef>
                <a:spcPts val="840"/>
              </a:spcBef>
              <a:spcAft>
                <a:spcPts val="0"/>
              </a:spcAft>
              <a:buNone/>
            </a:pPr>
            <a:r>
              <a:rPr b="1" i="0" lang="en" sz="850" u="none" cap="none" strike="noStrike">
                <a:latin typeface="Arial"/>
                <a:ea typeface="Arial"/>
                <a:cs typeface="Arial"/>
                <a:sym typeface="Arial"/>
              </a:rPr>
              <a:t>Observations: 29.24%</a:t>
            </a:r>
            <a:endParaRPr/>
          </a:p>
          <a:p>
            <a:pPr indent="0" lvl="0" marL="0" marR="0" rtl="0" algn="just">
              <a:spcBef>
                <a:spcPts val="1260"/>
              </a:spcBef>
              <a:spcAft>
                <a:spcPts val="0"/>
              </a:spcAft>
              <a:buNone/>
            </a:pPr>
            <a:r>
              <a:rPr b="1" i="0" lang="en" sz="1100" u="none" cap="none" strike="noStrike">
                <a:latin typeface="Arial"/>
                <a:ea typeface="Arial"/>
                <a:cs typeface="Arial"/>
                <a:sym typeface="Arial"/>
              </a:rPr>
              <a:t>Question 10: What is the mean order delivery time? [1 mark]</a:t>
            </a:r>
            <a:endParaRPr/>
          </a:p>
          <a:p>
            <a:pPr indent="0" lvl="0" marL="0" marR="0" rtl="0" algn="just">
              <a:lnSpc>
                <a:spcPct val="121263"/>
              </a:lnSpc>
              <a:spcBef>
                <a:spcPts val="630"/>
              </a:spcBef>
              <a:spcAft>
                <a:spcPts val="0"/>
              </a:spcAft>
              <a:buNone/>
            </a:pPr>
            <a:r>
              <a:rPr b="0" i="0" lang="en" sz="950" u="none" cap="none" strike="noStrike">
                <a:latin typeface="Arial"/>
                <a:ea typeface="Arial"/>
                <a:cs typeface="Arial"/>
                <a:sym typeface="Arial"/>
              </a:rPr>
              <a:t>In [33]:</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Write the code here</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Get the mean delivery time</a:t>
            </a:r>
            <a:endParaRPr/>
          </a:p>
          <a:p>
            <a:pPr indent="0" lvl="0" marL="0" marR="0" rtl="0" algn="just">
              <a:lnSpc>
                <a:spcPct val="121263"/>
              </a:lnSpc>
              <a:spcBef>
                <a:spcPts val="0"/>
              </a:spcBef>
              <a:spcAft>
                <a:spcPts val="0"/>
              </a:spcAft>
              <a:buNone/>
            </a:pPr>
            <a:r>
              <a:rPr b="0" i="0" lang="en" sz="950" u="none" cap="none" strike="noStrike">
                <a:latin typeface="Arial"/>
                <a:ea typeface="Arial"/>
                <a:cs typeface="Arial"/>
                <a:sym typeface="Arial"/>
              </a:rPr>
              <a:t>mean_del_time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df['delivery_time']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mean() </a:t>
            </a:r>
            <a:r>
              <a:rPr b="0" i="1" lang="en" sz="950" u="none" cap="none" strike="noStrike">
                <a:latin typeface="Arial"/>
                <a:ea typeface="Arial"/>
                <a:cs typeface="Arial"/>
                <a:sym typeface="Arial"/>
              </a:rPr>
              <a:t>## Write the appropriate function to obtain the mean delivery time</a:t>
            </a:r>
            <a:endParaRPr/>
          </a:p>
          <a:p>
            <a:pPr indent="0" lvl="0" marL="0" marR="0" rtl="0" algn="just">
              <a:spcBef>
                <a:spcPts val="630"/>
              </a:spcBef>
              <a:spcAft>
                <a:spcPts val="0"/>
              </a:spcAft>
              <a:buNone/>
            </a:pPr>
            <a:r>
              <a:rPr b="0" i="0" lang="en" sz="950" u="none" cap="none" strike="noStrike">
                <a:latin typeface="Arial"/>
                <a:ea typeface="Arial"/>
                <a:cs typeface="Arial"/>
                <a:sym typeface="Arial"/>
              </a:rPr>
              <a:t>print('The mean delivery time for this dataset is', round(mean_del_time, 2), 'minutes')</a:t>
            </a:r>
            <a:endParaRPr/>
          </a:p>
          <a:p>
            <a:pPr indent="0" lvl="0" marL="0" marR="0" rtl="0" algn="just">
              <a:spcBef>
                <a:spcPts val="630"/>
              </a:spcBef>
              <a:spcAft>
                <a:spcPts val="0"/>
              </a:spcAft>
              <a:buNone/>
            </a:pPr>
            <a:r>
              <a:rPr b="0" i="0" lang="en" sz="750" u="none" cap="none" strike="noStrike">
                <a:latin typeface="Arial"/>
                <a:ea typeface="Arial"/>
                <a:cs typeface="Arial"/>
                <a:sym typeface="Arial"/>
              </a:rPr>
              <a:t>The mean delivery time for this dataset is 24.16 minutes</a:t>
            </a:r>
            <a:endParaRPr/>
          </a:p>
          <a:p>
            <a:pPr indent="0" lvl="0" marL="0" marR="0" rtl="0" algn="just">
              <a:spcBef>
                <a:spcPts val="840"/>
              </a:spcBef>
              <a:spcAft>
                <a:spcPts val="0"/>
              </a:spcAft>
              <a:buNone/>
            </a:pPr>
            <a:r>
              <a:rPr b="1" i="0" lang="en" sz="850" u="none" cap="none" strike="noStrike">
                <a:latin typeface="Arial"/>
                <a:ea typeface="Arial"/>
                <a:cs typeface="Arial"/>
                <a:sym typeface="Arial"/>
              </a:rPr>
              <a:t>Observations: mean is 24.16</a:t>
            </a:r>
            <a:endParaRPr/>
          </a:p>
          <a:p>
            <a:pPr indent="0" lvl="0" marL="0" marR="0" rtl="0" algn="l">
              <a:lnSpc>
                <a:spcPct val="124363"/>
              </a:lnSpc>
              <a:spcBef>
                <a:spcPts val="1260"/>
              </a:spcBef>
              <a:spcAft>
                <a:spcPts val="0"/>
              </a:spcAft>
              <a:buNone/>
            </a:pPr>
            <a:r>
              <a:rPr b="1" i="0" lang="en" sz="1100" u="none" cap="none" strike="noStrike">
                <a:latin typeface="Arial"/>
                <a:ea typeface="Arial"/>
                <a:cs typeface="Arial"/>
                <a:sym typeface="Arial"/>
              </a:rPr>
              <a:t>Question 11: The company has decided to give 20% discount vouchers to the top 3 most frequent customers. Find the IDs of these customers and the number of orders they placed. [1 mark]</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8" name="Shape 478"/>
        <p:cNvGrpSpPr/>
        <p:nvPr/>
      </p:nvGrpSpPr>
      <p:grpSpPr>
        <a:xfrm>
          <a:off x="0" y="0"/>
          <a:ext cx="0" cy="0"/>
          <a:chOff x="0" y="0"/>
          <a:chExt cx="0" cy="0"/>
        </a:xfrm>
      </p:grpSpPr>
      <p:pic>
        <p:nvPicPr>
          <p:cNvPr id="479" name="Google Shape;479;g377b8bda5b4_2_100"/>
          <p:cNvPicPr preferRelativeResize="0"/>
          <p:nvPr/>
        </p:nvPicPr>
        <p:blipFill rotWithShape="1">
          <a:blip r:embed="rId3">
            <a:alphaModFix/>
          </a:blip>
          <a:srcRect b="0" l="0" r="0" t="0"/>
          <a:stretch/>
        </p:blipFill>
        <p:spPr>
          <a:xfrm>
            <a:off x="73772" y="2397272"/>
            <a:ext cx="3576114" cy="1988196"/>
          </a:xfrm>
          <a:prstGeom prst="rect">
            <a:avLst/>
          </a:prstGeom>
          <a:noFill/>
          <a:ln>
            <a:noFill/>
          </a:ln>
        </p:spPr>
      </p:pic>
      <p:sp>
        <p:nvSpPr>
          <p:cNvPr id="480" name="Google Shape;480;g377b8bda5b4_2_100"/>
          <p:cNvSpPr/>
          <p:nvPr/>
        </p:nvSpPr>
        <p:spPr>
          <a:xfrm>
            <a:off x="66395" y="0"/>
            <a:ext cx="472140" cy="6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In [35]:</a:t>
            </a:r>
            <a:endParaRPr/>
          </a:p>
        </p:txBody>
      </p:sp>
      <p:sp>
        <p:nvSpPr>
          <p:cNvPr id="481" name="Google Shape;481;g377b8bda5b4_2_100"/>
          <p:cNvSpPr/>
          <p:nvPr/>
        </p:nvSpPr>
        <p:spPr>
          <a:xfrm>
            <a:off x="55329" y="109967"/>
            <a:ext cx="7996868" cy="2991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 sz="950" u="none" cap="none" strike="noStrike">
                <a:latin typeface="Arial"/>
                <a:ea typeface="Arial"/>
                <a:cs typeface="Arial"/>
                <a:sym typeface="Arial"/>
              </a:rPr>
              <a:t># Write the code here</a:t>
            </a:r>
            <a:endParaRPr/>
          </a:p>
          <a:p>
            <a:pPr indent="0" lvl="0" marL="0" marR="0" rtl="0" algn="l">
              <a:spcBef>
                <a:spcPts val="0"/>
              </a:spcBef>
              <a:spcAft>
                <a:spcPts val="0"/>
              </a:spcAft>
              <a:buNone/>
            </a:pPr>
            <a:r>
              <a:rPr b="0" i="1" lang="en" sz="950" u="none" cap="none" strike="noStrike">
                <a:latin typeface="Arial"/>
                <a:ea typeface="Arial"/>
                <a:cs typeface="Arial"/>
                <a:sym typeface="Arial"/>
              </a:rPr>
              <a:t>#Get the counts of each customer_id</a:t>
            </a:r>
            <a:endParaRPr/>
          </a:p>
          <a:p>
            <a:pPr indent="0" lvl="0" marL="0" marR="0" rtl="0" algn="l">
              <a:lnSpc>
                <a:spcPct val="151578"/>
              </a:lnSpc>
              <a:spcBef>
                <a:spcPts val="0"/>
              </a:spcBef>
              <a:spcAft>
                <a:spcPts val="0"/>
              </a:spcAft>
              <a:buNone/>
            </a:pPr>
            <a:r>
              <a:rPr b="1" i="0" lang="en" sz="850" u="none" cap="none" strike="noStrike">
                <a:latin typeface="Arial"/>
                <a:ea typeface="Arial"/>
                <a:cs typeface="Arial"/>
                <a:sym typeface="Arial"/>
              </a:rPr>
              <a:t>df['customer_id'].value_counts().head(3) </a:t>
            </a:r>
            <a:r>
              <a:rPr b="0" i="1" lang="en" sz="950" u="none" cap="none" strike="noStrike">
                <a:latin typeface="Arial"/>
                <a:ea typeface="Arial"/>
                <a:cs typeface="Arial"/>
                <a:sym typeface="Arial"/>
              </a:rPr>
              <a:t>## Write the appropriate column name to get the top 5 cmost frequent customers </a:t>
            </a:r>
            <a:r>
              <a:rPr b="1" i="0" lang="en" sz="850" u="none" cap="none" strike="noStrike">
                <a:latin typeface="Arial"/>
                <a:ea typeface="Arial"/>
                <a:cs typeface="Arial"/>
                <a:sym typeface="Arial"/>
              </a:rPr>
              <a:t>Out[35]:</a:t>
            </a:r>
            <a:endParaRPr/>
          </a:p>
        </p:txBody>
      </p:sp>
      <p:graphicFrame>
        <p:nvGraphicFramePr>
          <p:cNvPr id="482" name="Google Shape;482;g377b8bda5b4_2_100"/>
          <p:cNvGraphicFramePr/>
          <p:nvPr/>
        </p:nvGraphicFramePr>
        <p:xfrm>
          <a:off x="129101" y="439866"/>
          <a:ext cx="3000000" cy="3000000"/>
        </p:xfrm>
        <a:graphic>
          <a:graphicData uri="http://schemas.openxmlformats.org/drawingml/2006/table">
            <a:tbl>
              <a:tblPr>
                <a:noFill/>
                <a:tableStyleId>{027568D1-9BE7-4ABE-AB64-776F8D02060C}</a:tableStyleId>
              </a:tblPr>
              <a:tblGrid>
                <a:gridCol w="973775"/>
                <a:gridCol w="486875"/>
              </a:tblGrid>
              <a:tr h="92350">
                <a:tc>
                  <a:txBody>
                    <a:bodyPr/>
                    <a:lstStyle/>
                    <a:p>
                      <a:pPr indent="0" lvl="0" marL="0" marR="0" rtl="0" algn="l">
                        <a:spcBef>
                          <a:spcPts val="0"/>
                        </a:spcBef>
                        <a:spcAft>
                          <a:spcPts val="0"/>
                        </a:spcAft>
                        <a:buNone/>
                      </a:pPr>
                      <a:r>
                        <a:t/>
                      </a:r>
                      <a:endParaRPr sz="5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count</a:t>
                      </a:r>
                      <a:endParaRPr sz="700"/>
                    </a:p>
                  </a:txBody>
                  <a:tcPr marT="0" marB="0" marR="0" marL="0"/>
                </a:tc>
              </a:tr>
              <a:tr h="127550">
                <a:tc>
                  <a:txBody>
                    <a:bodyPr/>
                    <a:lstStyle/>
                    <a:p>
                      <a:pPr indent="0" lvl="0" marL="0" marR="0" rtl="0" algn="r">
                        <a:spcBef>
                          <a:spcPts val="0"/>
                        </a:spcBef>
                        <a:spcAft>
                          <a:spcPts val="0"/>
                        </a:spcAft>
                        <a:buNone/>
                      </a:pPr>
                      <a:r>
                        <a:rPr b="1" lang="en" sz="400">
                          <a:latin typeface="Arial"/>
                          <a:ea typeface="Arial"/>
                          <a:cs typeface="Arial"/>
                          <a:sym typeface="Arial"/>
                        </a:rPr>
                        <a:t>customer_id</a:t>
                      </a:r>
                      <a:endParaRPr sz="700"/>
                    </a:p>
                  </a:txBody>
                  <a:tcPr marT="0" marB="0" marR="0" marL="0" anchor="b"/>
                </a:tc>
                <a:tc>
                  <a:txBody>
                    <a:bodyPr/>
                    <a:lstStyle/>
                    <a:p>
                      <a:pPr indent="0" lvl="0" marL="0" marR="0" rtl="0" algn="l">
                        <a:spcBef>
                          <a:spcPts val="0"/>
                        </a:spcBef>
                        <a:spcAft>
                          <a:spcPts val="0"/>
                        </a:spcAft>
                        <a:buNone/>
                      </a:pPr>
                      <a:r>
                        <a:t/>
                      </a:r>
                      <a:endParaRPr sz="600"/>
                    </a:p>
                  </a:txBody>
                  <a:tcPr marT="0" marB="0" marR="0" marL="0"/>
                </a:tc>
              </a:tr>
              <a:tr h="127550">
                <a:tc>
                  <a:txBody>
                    <a:bodyPr/>
                    <a:lstStyle/>
                    <a:p>
                      <a:pPr indent="0" lvl="0" marL="0" marR="0" rtl="0" algn="r">
                        <a:spcBef>
                          <a:spcPts val="0"/>
                        </a:spcBef>
                        <a:spcAft>
                          <a:spcPts val="0"/>
                        </a:spcAft>
                        <a:buNone/>
                      </a:pPr>
                      <a:r>
                        <a:rPr b="1" lang="en" sz="400">
                          <a:latin typeface="Arial"/>
                          <a:ea typeface="Arial"/>
                          <a:cs typeface="Arial"/>
                          <a:sym typeface="Arial"/>
                        </a:rPr>
                        <a:t>52832</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13</a:t>
                      </a:r>
                      <a:endParaRPr sz="700"/>
                    </a:p>
                  </a:txBody>
                  <a:tcPr marT="0" marB="0" marR="0" marL="0" anchor="ctr"/>
                </a:tc>
              </a:tr>
              <a:tr h="129025">
                <a:tc>
                  <a:txBody>
                    <a:bodyPr/>
                    <a:lstStyle/>
                    <a:p>
                      <a:pPr indent="0" lvl="0" marL="0" marR="0" rtl="0" algn="r">
                        <a:spcBef>
                          <a:spcPts val="0"/>
                        </a:spcBef>
                        <a:spcAft>
                          <a:spcPts val="0"/>
                        </a:spcAft>
                        <a:buNone/>
                      </a:pPr>
                      <a:r>
                        <a:rPr b="1" lang="en" sz="400">
                          <a:latin typeface="Arial"/>
                          <a:ea typeface="Arial"/>
                          <a:cs typeface="Arial"/>
                          <a:sym typeface="Arial"/>
                        </a:rPr>
                        <a:t>47440</a:t>
                      </a:r>
                      <a:endParaRPr sz="700"/>
                    </a:p>
                  </a:txBody>
                  <a:tcPr marT="0" marB="0" marR="0" marL="0" anchor="ctr"/>
                </a:tc>
                <a:tc>
                  <a:txBody>
                    <a:bodyPr/>
                    <a:lstStyle/>
                    <a:p>
                      <a:pPr indent="0" lvl="0" marL="0" marR="0" rtl="0" algn="r">
                        <a:spcBef>
                          <a:spcPts val="0"/>
                        </a:spcBef>
                        <a:spcAft>
                          <a:spcPts val="0"/>
                        </a:spcAft>
                        <a:buNone/>
                      </a:pPr>
                      <a:r>
                        <a:rPr b="1" lang="en" sz="500">
                          <a:latin typeface="Arial"/>
                          <a:ea typeface="Arial"/>
                          <a:cs typeface="Arial"/>
                          <a:sym typeface="Arial"/>
                        </a:rPr>
                        <a:t>10</a:t>
                      </a:r>
                      <a:endParaRPr sz="700"/>
                    </a:p>
                  </a:txBody>
                  <a:tcPr marT="0" marB="0" marR="0" marL="0" anchor="b"/>
                </a:tc>
              </a:tr>
              <a:tr h="95300">
                <a:tc>
                  <a:txBody>
                    <a:bodyPr/>
                    <a:lstStyle/>
                    <a:p>
                      <a:pPr indent="0" lvl="0" marL="0" marR="0" rtl="0" algn="r">
                        <a:spcBef>
                          <a:spcPts val="0"/>
                        </a:spcBef>
                        <a:spcAft>
                          <a:spcPts val="0"/>
                        </a:spcAft>
                        <a:buNone/>
                      </a:pPr>
                      <a:r>
                        <a:rPr b="1" lang="en" sz="400">
                          <a:latin typeface="Arial"/>
                          <a:ea typeface="Arial"/>
                          <a:cs typeface="Arial"/>
                          <a:sym typeface="Arial"/>
                        </a:rPr>
                        <a:t>83287</a:t>
                      </a:r>
                      <a:endParaRPr sz="700"/>
                    </a:p>
                  </a:txBody>
                  <a:tcPr marT="0" marB="0" marR="0" marL="0" anchor="b"/>
                </a:tc>
                <a:tc>
                  <a:txBody>
                    <a:bodyPr/>
                    <a:lstStyle/>
                    <a:p>
                      <a:pPr indent="0" lvl="0" marL="0" marR="0" rtl="0" algn="r">
                        <a:spcBef>
                          <a:spcPts val="0"/>
                        </a:spcBef>
                        <a:spcAft>
                          <a:spcPts val="0"/>
                        </a:spcAft>
                        <a:buNone/>
                      </a:pPr>
                      <a:r>
                        <a:rPr b="1" lang="en" sz="400">
                          <a:latin typeface="Arial"/>
                          <a:ea typeface="Arial"/>
                          <a:cs typeface="Arial"/>
                          <a:sym typeface="Arial"/>
                        </a:rPr>
                        <a:t>9</a:t>
                      </a:r>
                      <a:endParaRPr sz="700"/>
                    </a:p>
                  </a:txBody>
                  <a:tcPr marT="0" marB="0" marR="0" marL="0" anchor="b"/>
                </a:tc>
              </a:tr>
            </a:tbl>
          </a:graphicData>
        </a:graphic>
      </p:graphicFrame>
      <p:sp>
        <p:nvSpPr>
          <p:cNvPr id="483" name="Google Shape;483;g377b8bda5b4_2_100"/>
          <p:cNvSpPr/>
          <p:nvPr/>
        </p:nvSpPr>
        <p:spPr>
          <a:xfrm>
            <a:off x="55329" y="1177376"/>
            <a:ext cx="3183255" cy="3929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dtype: int64</a:t>
            </a:r>
            <a:endParaRPr/>
          </a:p>
          <a:p>
            <a:pPr indent="0" lvl="0" marL="0" marR="0" rtl="0" algn="l">
              <a:lnSpc>
                <a:spcPct val="327529"/>
              </a:lnSpc>
              <a:spcBef>
                <a:spcPts val="1050"/>
              </a:spcBef>
              <a:spcAft>
                <a:spcPts val="0"/>
              </a:spcAft>
              <a:buNone/>
            </a:pPr>
            <a:r>
              <a:rPr b="1" i="0" lang="en" sz="850" u="none" cap="none" strike="noStrike">
                <a:latin typeface="Arial"/>
                <a:ea typeface="Arial"/>
                <a:cs typeface="Arial"/>
                <a:sym typeface="Arial"/>
              </a:rPr>
              <a:t>Observations: Above are top 3 customer ID's</a:t>
            </a:r>
            <a:endParaRPr/>
          </a:p>
          <a:p>
            <a:pPr indent="0" lvl="0" marL="0" marR="0" rtl="0" algn="l">
              <a:lnSpc>
                <a:spcPct val="253090"/>
              </a:lnSpc>
              <a:spcBef>
                <a:spcPts val="0"/>
              </a:spcBef>
              <a:spcAft>
                <a:spcPts val="0"/>
              </a:spcAft>
              <a:buNone/>
            </a:pPr>
            <a:r>
              <a:rPr b="1" i="0" lang="en" sz="1100" u="none" cap="none" strike="noStrike">
                <a:latin typeface="Arial"/>
                <a:ea typeface="Arial"/>
                <a:cs typeface="Arial"/>
                <a:sym typeface="Arial"/>
              </a:rPr>
              <a:t>Multivariate Analysis</a:t>
            </a:r>
            <a:endParaRPr/>
          </a:p>
        </p:txBody>
      </p:sp>
      <p:sp>
        <p:nvSpPr>
          <p:cNvPr id="484" name="Google Shape;484;g377b8bda5b4_2_100"/>
          <p:cNvSpPr/>
          <p:nvPr/>
        </p:nvSpPr>
        <p:spPr>
          <a:xfrm>
            <a:off x="55329" y="1670026"/>
            <a:ext cx="8675569" cy="709651"/>
          </a:xfrm>
          <a:prstGeom prst="rect">
            <a:avLst/>
          </a:prstGeom>
          <a:noFill/>
          <a:ln>
            <a:noFill/>
          </a:ln>
        </p:spPr>
        <p:txBody>
          <a:bodyPr anchorCtr="0" anchor="t" bIns="0" lIns="0" spcFirstLastPara="1" rIns="0" wrap="square" tIns="0">
            <a:noAutofit/>
          </a:bodyPr>
          <a:lstStyle/>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12: Perform a multivariate analysis to explore relationships between the important variables in the dataset. (It is a good idea to explore relations between numerical variables as well as relations between numerical and categorical variables) [10 marks]</a:t>
            </a:r>
            <a:endParaRPr/>
          </a:p>
          <a:p>
            <a:pPr indent="0" lvl="0" marL="0" marR="0" rtl="0" algn="l">
              <a:lnSpc>
                <a:spcPct val="118736"/>
              </a:lnSpc>
              <a:spcBef>
                <a:spcPts val="0"/>
              </a:spcBef>
              <a:spcAft>
                <a:spcPts val="0"/>
              </a:spcAft>
              <a:buNone/>
            </a:pPr>
            <a:r>
              <a:rPr b="1" i="0" lang="en" sz="850" u="none" cap="none" strike="noStrike">
                <a:latin typeface="Arial"/>
                <a:ea typeface="Arial"/>
                <a:cs typeface="Arial"/>
                <a:sym typeface="Arial"/>
              </a:rPr>
              <a:t>In [</a:t>
            </a:r>
            <a:r>
              <a:rPr b="1" i="0" lang="en" sz="950" u="none" cap="none" strike="noStrike">
                <a:latin typeface="Arial"/>
                <a:ea typeface="Arial"/>
                <a:cs typeface="Arial"/>
                <a:sym typeface="Arial"/>
              </a:rPr>
              <a:t>6</a:t>
            </a:r>
            <a:r>
              <a:rPr b="1" i="0" lang="en" sz="850" u="none" cap="none" strike="noStrike">
                <a:latin typeface="Arial"/>
                <a:ea typeface="Arial"/>
                <a:cs typeface="Arial"/>
                <a:sym typeface="Arial"/>
              </a:rPr>
              <a:t>]:</a:t>
            </a:r>
            <a:endParaRPr/>
          </a:p>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Write the code# Relationship between cost of the order and cuisine type </a:t>
            </a:r>
            <a:r>
              <a:rPr b="1" i="0" lang="en" sz="850" u="none" cap="none" strike="noStrike">
                <a:latin typeface="Arial"/>
                <a:ea typeface="Arial"/>
                <a:cs typeface="Arial"/>
                <a:sym typeface="Arial"/>
              </a:rPr>
              <a:t>plt.figure(figsize=(15,7))</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sns.boxplot(x = "cuisine_type", y = "cost_of_the_order", data = df, palette = 'PuBu', hue = "cuisine_type")</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plt.xticks(rotation = 60)</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plt.show()</a:t>
            </a:r>
            <a:endParaRPr/>
          </a:p>
        </p:txBody>
      </p:sp>
      <p:sp>
        <p:nvSpPr>
          <p:cNvPr id="485" name="Google Shape;485;g377b8bda5b4_2_100"/>
          <p:cNvSpPr/>
          <p:nvPr/>
        </p:nvSpPr>
        <p:spPr>
          <a:xfrm>
            <a:off x="66395" y="4403063"/>
            <a:ext cx="390991" cy="718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In [7]:</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9" name="Shape 489"/>
        <p:cNvGrpSpPr/>
        <p:nvPr/>
      </p:nvGrpSpPr>
      <p:grpSpPr>
        <a:xfrm>
          <a:off x="0" y="0"/>
          <a:ext cx="0" cy="0"/>
          <a:chOff x="0" y="0"/>
          <a:chExt cx="0" cy="0"/>
        </a:xfrm>
      </p:grpSpPr>
      <p:pic>
        <p:nvPicPr>
          <p:cNvPr id="490" name="Google Shape;490;g377b8bda5b4_2_110"/>
          <p:cNvPicPr preferRelativeResize="0"/>
          <p:nvPr/>
        </p:nvPicPr>
        <p:blipFill rotWithShape="1">
          <a:blip r:embed="rId3">
            <a:alphaModFix/>
          </a:blip>
          <a:srcRect b="0" l="0" r="0" t="0"/>
          <a:stretch/>
        </p:blipFill>
        <p:spPr>
          <a:xfrm>
            <a:off x="147544" y="3112788"/>
            <a:ext cx="3501336" cy="1630438"/>
          </a:xfrm>
          <a:prstGeom prst="rect">
            <a:avLst/>
          </a:prstGeom>
          <a:noFill/>
          <a:ln>
            <a:noFill/>
          </a:ln>
        </p:spPr>
      </p:pic>
      <p:sp>
        <p:nvSpPr>
          <p:cNvPr id="491" name="Google Shape;491;g377b8bda5b4_2_110"/>
          <p:cNvSpPr/>
          <p:nvPr/>
        </p:nvSpPr>
        <p:spPr>
          <a:xfrm>
            <a:off x="55329" y="0"/>
            <a:ext cx="7067343" cy="2822476"/>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1" lang="en" sz="950" u="none" cap="none" strike="noStrike">
                <a:latin typeface="Arial"/>
                <a:ea typeface="Arial"/>
                <a:cs typeface="Arial"/>
                <a:sym typeface="Arial"/>
              </a:rPr>
              <a:t>#    Group by cuisine type and calculate average order cost</a:t>
            </a:r>
            <a:endParaRPr/>
          </a:p>
          <a:p>
            <a:pPr indent="0" lvl="0" marL="0" marR="0" rtl="0" algn="l">
              <a:lnSpc>
                <a:spcPct val="228000"/>
              </a:lnSpc>
              <a:spcBef>
                <a:spcPts val="420"/>
              </a:spcBef>
              <a:spcAft>
                <a:spcPts val="0"/>
              </a:spcAft>
              <a:buNone/>
            </a:pPr>
            <a:r>
              <a:rPr b="0" i="0" lang="en" sz="950" u="none" cap="none" strike="noStrike">
                <a:latin typeface="Arial"/>
                <a:ea typeface="Arial"/>
                <a:cs typeface="Arial"/>
                <a:sym typeface="Arial"/>
              </a:rPr>
              <a:t>avg_cost_by_cuisine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groupby('cuisine_type')['cost_of_the_order']</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meanO</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sort_values(ascending</a:t>
            </a:r>
            <a:r>
              <a:rPr b="1" i="0" lang="en" sz="850" u="none" cap="none" strike="noStrike">
                <a:latin typeface="Arial"/>
                <a:ea typeface="Arial"/>
                <a:cs typeface="Arial"/>
                <a:sym typeface="Arial"/>
              </a:rPr>
              <a:t>=False</a:t>
            </a:r>
            <a:r>
              <a:rPr b="0" i="0" lang="en" sz="950" u="none" cap="none" strike="noStrike">
                <a:latin typeface="Arial"/>
                <a:ea typeface="Arial"/>
                <a:cs typeface="Arial"/>
                <a:sym typeface="Arial"/>
              </a:rPr>
              <a:t>) print</a:t>
            </a:r>
            <a:r>
              <a:rPr b="0" i="0" lang="en" sz="1000" u="none" cap="none" strike="noStrike">
                <a:latin typeface="SimSun"/>
                <a:ea typeface="SimSun"/>
                <a:cs typeface="SimSun"/>
                <a:sym typeface="SimSun"/>
              </a:rPr>
              <a:t>f</a:t>
            </a:r>
            <a:r>
              <a:rPr b="0" i="0" lang="en" sz="950" u="none" cap="none" strike="noStrike">
                <a:latin typeface="Arial"/>
                <a:ea typeface="Arial"/>
                <a:cs typeface="Arial"/>
                <a:sym typeface="Arial"/>
              </a:rPr>
              <a:t>Average cost per cuisine</a:t>
            </a:r>
            <a:r>
              <a:rPr b="0" i="0" lang="en" sz="1000" u="none" cap="none" strike="noStrike">
                <a:latin typeface="SimSun"/>
                <a:ea typeface="SimSun"/>
                <a:cs typeface="SimSun"/>
                <a:sym typeface="SimSun"/>
              </a:rPr>
              <a:t>A</a:t>
            </a:r>
            <a:r>
              <a:rPr b="0" i="0" lang="en" sz="950" u="none" cap="none" strike="noStrike">
                <a:latin typeface="Arial"/>
                <a:ea typeface="Arial"/>
                <a:cs typeface="Arial"/>
                <a:sym typeface="Arial"/>
              </a:rPr>
              <a:t>n", avg_cost_by_cuisine)</a:t>
            </a:r>
            <a:endParaRPr/>
          </a:p>
          <a:p>
            <a:pPr indent="0" lvl="0" marL="0" marR="2949956" rtl="0" algn="l">
              <a:lnSpc>
                <a:spcPct val="118736"/>
              </a:lnSpc>
              <a:spcBef>
                <a:spcPts val="0"/>
              </a:spcBef>
              <a:spcAft>
                <a:spcPts val="0"/>
              </a:spcAft>
              <a:buNone/>
            </a:pPr>
            <a:r>
              <a:rPr b="0" i="1" lang="en" sz="950" u="none" cap="none" strike="noStrike">
                <a:latin typeface="Arial"/>
                <a:ea typeface="Arial"/>
                <a:cs typeface="Arial"/>
                <a:sym typeface="Arial"/>
              </a:rPr>
              <a:t>#    Find the most expensive and cheapest cuisines </a:t>
            </a:r>
            <a:r>
              <a:rPr b="0" i="0" lang="en" sz="950" u="none" cap="none" strike="noStrike">
                <a:latin typeface="Arial"/>
                <a:ea typeface="Arial"/>
                <a:cs typeface="Arial"/>
                <a:sym typeface="Arial"/>
              </a:rPr>
              <a:t>most_expensive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avg_cost_by_cuisine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head(1) cheapest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avg_cost_by_cuisine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tail(1)</a:t>
            </a:r>
            <a:endParaRPr/>
          </a:p>
          <a:p>
            <a:pPr indent="0" lvl="0" marL="0" marR="2949956" rtl="0" algn="l">
              <a:lnSpc>
                <a:spcPct val="115200"/>
              </a:lnSpc>
              <a:spcBef>
                <a:spcPts val="630"/>
              </a:spcBef>
              <a:spcAft>
                <a:spcPts val="0"/>
              </a:spcAft>
              <a:buNone/>
            </a:pPr>
            <a:r>
              <a:rPr b="0" i="0" lang="en" sz="950" u="none" cap="none" strike="noStrike">
                <a:latin typeface="Arial"/>
                <a:ea typeface="Arial"/>
                <a:cs typeface="Arial"/>
                <a:sym typeface="Arial"/>
              </a:rPr>
              <a:t>print('’\nMost Expensive Cuisine</a:t>
            </a:r>
            <a:r>
              <a:rPr b="0" i="0" lang="en" sz="1000" u="none" cap="none" strike="noStrike">
                <a:latin typeface="SimSun"/>
                <a:ea typeface="SimSun"/>
                <a:cs typeface="SimSun"/>
                <a:sym typeface="SimSun"/>
              </a:rPr>
              <a:t>A</a:t>
            </a:r>
            <a:r>
              <a:rPr b="0" i="0" lang="en" sz="950" u="none" cap="none" strike="noStrike">
                <a:latin typeface="Arial"/>
                <a:ea typeface="Arial"/>
                <a:cs typeface="Arial"/>
                <a:sym typeface="Arial"/>
              </a:rPr>
              <a:t>n", most_expensive) print('’\nCheapest Cuisine</a:t>
            </a:r>
            <a:r>
              <a:rPr b="0" i="0" lang="en" sz="1000" u="none" cap="none" strike="noStrike">
                <a:latin typeface="SimSun"/>
                <a:ea typeface="SimSun"/>
                <a:cs typeface="SimSun"/>
                <a:sym typeface="SimSun"/>
              </a:rPr>
              <a:t>A</a:t>
            </a:r>
            <a:r>
              <a:rPr b="0" i="0" lang="en" sz="950" u="none" cap="none" strike="noStrike">
                <a:latin typeface="Arial"/>
                <a:ea typeface="Arial"/>
                <a:cs typeface="Arial"/>
                <a:sym typeface="Arial"/>
              </a:rPr>
              <a:t>n", cheapest)</a:t>
            </a:r>
            <a:endParaRPr/>
          </a:p>
          <a:p>
            <a:pPr indent="0" lvl="0" marL="0" marR="4702556" rtl="0" algn="l">
              <a:lnSpc>
                <a:spcPct val="128000"/>
              </a:lnSpc>
              <a:spcBef>
                <a:spcPts val="420"/>
              </a:spcBef>
              <a:spcAft>
                <a:spcPts val="0"/>
              </a:spcAft>
              <a:buNone/>
            </a:pPr>
            <a:r>
              <a:rPr b="0" i="0" lang="en" sz="750" u="none" cap="none" strike="noStrike">
                <a:latin typeface="Arial"/>
                <a:ea typeface="Arial"/>
                <a:cs typeface="Arial"/>
                <a:sym typeface="Arial"/>
              </a:rPr>
              <a:t>Average cost per cuisine: cuisine_type</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French    19.793889</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Southern    19.300588</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Thai    19.207895</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Spanish    18.994167</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Middle Eastern 18.820612</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Mexican    16.933117</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Indian 16.919726</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Italian    16.418691</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American    16.319829</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Chinese    16.305209</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Japanese    16.304532</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Mediterranean 15.474783</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Korean    14.001538</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Vietnamese 12.882857</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Name: cost_of_the_order, dtype: float64</a:t>
            </a:r>
            <a:endParaRPr/>
          </a:p>
          <a:p>
            <a:pPr indent="0" lvl="0" marL="0" marR="4702556" rtl="0" algn="l">
              <a:lnSpc>
                <a:spcPct val="128000"/>
              </a:lnSpc>
              <a:spcBef>
                <a:spcPts val="630"/>
              </a:spcBef>
              <a:spcAft>
                <a:spcPts val="0"/>
              </a:spcAft>
              <a:buNone/>
            </a:pPr>
            <a:r>
              <a:rPr b="0" i="0" lang="en" sz="750" u="none" cap="none" strike="noStrike">
                <a:latin typeface="Arial"/>
                <a:ea typeface="Arial"/>
                <a:cs typeface="Arial"/>
                <a:sym typeface="Arial"/>
              </a:rPr>
              <a:t>Most Expensive Cuisine: cuisine_type French 19.793889</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Name: cost_of_the_order, dtype: float64</a:t>
            </a:r>
            <a:endParaRPr/>
          </a:p>
          <a:p>
            <a:pPr indent="0" lvl="0" marL="0" marR="4702556" rtl="0" algn="l">
              <a:lnSpc>
                <a:spcPct val="128000"/>
              </a:lnSpc>
              <a:spcBef>
                <a:spcPts val="630"/>
              </a:spcBef>
              <a:spcAft>
                <a:spcPts val="0"/>
              </a:spcAft>
              <a:buNone/>
            </a:pPr>
            <a:r>
              <a:rPr b="0" i="0" lang="en" sz="750" u="none" cap="none" strike="noStrike">
                <a:latin typeface="Arial"/>
                <a:ea typeface="Arial"/>
                <a:cs typeface="Arial"/>
                <a:sym typeface="Arial"/>
              </a:rPr>
              <a:t>Cheapest Cuisine: cuisine_type</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Vietnamese    12.882857</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Name: cost_of_the_order, dtype: float64</a:t>
            </a:r>
            <a:endParaRPr/>
          </a:p>
          <a:p>
            <a:pPr indent="0" lvl="0" marL="0" marR="0" rtl="0" algn="just">
              <a:lnSpc>
                <a:spcPct val="118736"/>
              </a:lnSpc>
              <a:spcBef>
                <a:spcPts val="0"/>
              </a:spcBef>
              <a:spcAft>
                <a:spcPts val="0"/>
              </a:spcAft>
              <a:buNone/>
            </a:pPr>
            <a:r>
              <a:rPr b="0" i="0" lang="en" sz="950" u="none" cap="none" strike="noStrike">
                <a:latin typeface="Arial"/>
                <a:ea typeface="Arial"/>
                <a:cs typeface="Arial"/>
                <a:sym typeface="Arial"/>
              </a:rPr>
              <a:t>In [39]:</a:t>
            </a:r>
            <a:endParaRPr/>
          </a:p>
          <a:p>
            <a:pPr indent="0" lvl="0" marL="0" marR="2454656" rtl="0" algn="l">
              <a:lnSpc>
                <a:spcPct val="118736"/>
              </a:lnSpc>
              <a:spcBef>
                <a:spcPts val="0"/>
              </a:spcBef>
              <a:spcAft>
                <a:spcPts val="0"/>
              </a:spcAft>
              <a:buNone/>
            </a:pPr>
            <a:r>
              <a:rPr b="0" i="1" lang="en" sz="950" u="none" cap="none" strike="noStrike">
                <a:latin typeface="Arial"/>
                <a:ea typeface="Arial"/>
                <a:cs typeface="Arial"/>
                <a:sym typeface="Arial"/>
              </a:rPr>
              <a:t>#    Relationship between food preparation time and cuisine type </a:t>
            </a:r>
            <a:r>
              <a:rPr b="0" i="0" lang="en" sz="950" u="none" cap="none" strike="noStrike">
                <a:latin typeface="Arial"/>
                <a:ea typeface="Arial"/>
                <a:cs typeface="Arial"/>
                <a:sym typeface="Arial"/>
              </a:rPr>
              <a:t>plt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figure(figsize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(15,7))</a:t>
            </a:r>
            <a:endParaRPr/>
          </a:p>
          <a:p>
            <a:pPr indent="0" lvl="0" marL="0" marR="0" rtl="0" algn="just">
              <a:lnSpc>
                <a:spcPct val="118736"/>
              </a:lnSpc>
              <a:spcBef>
                <a:spcPts val="0"/>
              </a:spcBef>
              <a:spcAft>
                <a:spcPts val="0"/>
              </a:spcAft>
              <a:buNone/>
            </a:pPr>
            <a:r>
              <a:rPr b="0" i="0" lang="en" sz="950" u="none" cap="none" strike="noStrike">
                <a:latin typeface="Arial"/>
                <a:ea typeface="Arial"/>
                <a:cs typeface="Arial"/>
                <a:sym typeface="Arial"/>
              </a:rPr>
              <a:t>sns</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boxplot(x</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'cuisine_type', y</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'food_preparation_time', data</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df)</a:t>
            </a:r>
            <a:endParaRPr/>
          </a:p>
          <a:p>
            <a:pPr indent="0" lvl="0" marL="0" marR="0" rtl="0" algn="just">
              <a:lnSpc>
                <a:spcPct val="118736"/>
              </a:lnSpc>
              <a:spcBef>
                <a:spcPts val="0"/>
              </a:spcBef>
              <a:spcAft>
                <a:spcPts val="0"/>
              </a:spcAft>
              <a:buNone/>
            </a:pPr>
            <a:r>
              <a:rPr b="0" i="0" lang="en" sz="950" u="none" cap="none" strike="noStrike">
                <a:latin typeface="Arial"/>
                <a:ea typeface="Arial"/>
                <a:cs typeface="Arial"/>
                <a:sym typeface="Arial"/>
              </a:rPr>
              <a:t>plt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xticks(rotation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60)</a:t>
            </a:r>
            <a:endParaRPr/>
          </a:p>
          <a:p>
            <a:pPr indent="0" lvl="0" marL="0" marR="0" rtl="0" algn="just">
              <a:lnSpc>
                <a:spcPct val="118736"/>
              </a:lnSpc>
              <a:spcBef>
                <a:spcPts val="0"/>
              </a:spcBef>
              <a:spcAft>
                <a:spcPts val="0"/>
              </a:spcAft>
              <a:buNone/>
            </a:pPr>
            <a:r>
              <a:rPr b="0" i="0" lang="en" sz="950" u="none" cap="none" strike="noStrike">
                <a:latin typeface="Arial"/>
                <a:ea typeface="Arial"/>
                <a:cs typeface="Arial"/>
                <a:sym typeface="Arial"/>
              </a:rPr>
              <a:t>plt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show()</a:t>
            </a:r>
            <a:endParaRPr/>
          </a:p>
        </p:txBody>
      </p:sp>
      <p:sp>
        <p:nvSpPr>
          <p:cNvPr id="492" name="Google Shape;492;g377b8bda5b4_2_110"/>
          <p:cNvSpPr/>
          <p:nvPr/>
        </p:nvSpPr>
        <p:spPr>
          <a:xfrm>
            <a:off x="280333" y="3016017"/>
            <a:ext cx="151232" cy="469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700" u="none" cap="none" strike="noStrike">
                <a:latin typeface="Calibri"/>
                <a:ea typeface="Calibri"/>
                <a:cs typeface="Calibri"/>
                <a:sym typeface="Calibri"/>
              </a:rPr>
              <a:t>34</a:t>
            </a:r>
            <a:endParaRPr/>
          </a:p>
        </p:txBody>
      </p:sp>
      <p:sp>
        <p:nvSpPr>
          <p:cNvPr id="493" name="Google Shape;493;g377b8bda5b4_2_110"/>
          <p:cNvSpPr/>
          <p:nvPr/>
        </p:nvSpPr>
        <p:spPr>
          <a:xfrm>
            <a:off x="4418934" y="4753489"/>
            <a:ext cx="660258" cy="571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650" u="none" cap="none" strike="noStrike">
                <a:solidFill>
                  <a:srgbClr val="3F3F3F"/>
                </a:solidFill>
                <a:latin typeface="Arial"/>
                <a:ea typeface="Arial"/>
                <a:cs typeface="Arial"/>
                <a:sym typeface="Arial"/>
              </a:rPr>
              <a:t>cuisine type</a:t>
            </a:r>
            <a:endParaRPr/>
          </a:p>
        </p:txBody>
      </p:sp>
      <p:sp>
        <p:nvSpPr>
          <p:cNvPr id="494" name="Google Shape;494;g377b8bda5b4_2_110"/>
          <p:cNvSpPr/>
          <p:nvPr/>
        </p:nvSpPr>
        <p:spPr>
          <a:xfrm>
            <a:off x="66395" y="4847328"/>
            <a:ext cx="472140" cy="71845"/>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950" u="none" cap="none" strike="noStrike">
                <a:latin typeface="Arial"/>
                <a:ea typeface="Arial"/>
                <a:cs typeface="Arial"/>
                <a:sym typeface="Arial"/>
              </a:rPr>
              <a:t>In [11]:</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8" name="Shape 498"/>
        <p:cNvGrpSpPr/>
        <p:nvPr/>
      </p:nvGrpSpPr>
      <p:grpSpPr>
        <a:xfrm>
          <a:off x="0" y="0"/>
          <a:ext cx="0" cy="0"/>
          <a:chOff x="0" y="0"/>
          <a:chExt cx="0" cy="0"/>
        </a:xfrm>
      </p:grpSpPr>
      <p:pic>
        <p:nvPicPr>
          <p:cNvPr id="499" name="Google Shape;499;g377b8bda5b4_2_118"/>
          <p:cNvPicPr preferRelativeResize="0"/>
          <p:nvPr/>
        </p:nvPicPr>
        <p:blipFill rotWithShape="1">
          <a:blip r:embed="rId3">
            <a:alphaModFix/>
          </a:blip>
          <a:srcRect b="0" l="0" r="0" t="0"/>
          <a:stretch/>
        </p:blipFill>
        <p:spPr>
          <a:xfrm>
            <a:off x="5215670" y="2287305"/>
            <a:ext cx="1347457" cy="392947"/>
          </a:xfrm>
          <a:prstGeom prst="rect">
            <a:avLst/>
          </a:prstGeom>
          <a:noFill/>
          <a:ln>
            <a:noFill/>
          </a:ln>
        </p:spPr>
      </p:pic>
      <p:sp>
        <p:nvSpPr>
          <p:cNvPr id="500" name="Google Shape;500;g377b8bda5b4_2_118"/>
          <p:cNvSpPr/>
          <p:nvPr/>
        </p:nvSpPr>
        <p:spPr>
          <a:xfrm>
            <a:off x="59017" y="0"/>
            <a:ext cx="4846810" cy="479454"/>
          </a:xfrm>
          <a:prstGeom prst="rect">
            <a:avLst/>
          </a:prstGeom>
          <a:noFill/>
          <a:ln>
            <a:noFill/>
          </a:ln>
        </p:spPr>
        <p:txBody>
          <a:bodyPr anchorCtr="0" anchor="t" bIns="0" lIns="0" spcFirstLastPara="1" rIns="0" wrap="square" tIns="0">
            <a:noAutofit/>
          </a:bodyPr>
          <a:lstStyle/>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Group by cuisine and calculate min, avg, max preparation time </a:t>
            </a:r>
            <a:r>
              <a:rPr b="1" i="0" lang="en" sz="850" u="none" cap="none" strike="noStrike">
                <a:latin typeface="Arial"/>
                <a:ea typeface="Arial"/>
                <a:cs typeface="Arial"/>
                <a:sym typeface="Arial"/>
              </a:rPr>
              <a:t>prep_time_stats = df.groupby('cuisine_type')['food_preparation_time'].agg( min_time='min', avg_time='mean', median='median', max_time='max'</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).sort_values(by='median', ascending=False)</a:t>
            </a:r>
            <a:endParaRPr/>
          </a:p>
        </p:txBody>
      </p:sp>
      <p:sp>
        <p:nvSpPr>
          <p:cNvPr id="501" name="Google Shape;501;g377b8bda5b4_2_118"/>
          <p:cNvSpPr/>
          <p:nvPr/>
        </p:nvSpPr>
        <p:spPr>
          <a:xfrm>
            <a:off x="59017" y="563029"/>
            <a:ext cx="4846810" cy="1524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print(prep_time_stats)</a:t>
            </a:r>
            <a:endParaRPr/>
          </a:p>
          <a:p>
            <a:pPr indent="0" lvl="0" marL="457200" marR="0" rtl="0" algn="l">
              <a:spcBef>
                <a:spcPts val="420"/>
              </a:spcBef>
              <a:spcAft>
                <a:spcPts val="0"/>
              </a:spcAft>
              <a:buNone/>
            </a:pPr>
            <a:r>
              <a:rPr b="0" i="0" lang="en" sz="750" u="none" cap="none" strike="noStrike">
                <a:latin typeface="Arial"/>
                <a:ea typeface="Arial"/>
                <a:cs typeface="Arial"/>
                <a:sym typeface="Arial"/>
              </a:rPr>
              <a:t>min_time avg_time median max_time</a:t>
            </a:r>
            <a:endParaRPr/>
          </a:p>
        </p:txBody>
      </p:sp>
      <p:graphicFrame>
        <p:nvGraphicFramePr>
          <p:cNvPr id="502" name="Google Shape;502;g377b8bda5b4_2_118"/>
          <p:cNvGraphicFramePr/>
          <p:nvPr/>
        </p:nvGraphicFramePr>
        <p:xfrm>
          <a:off x="55329" y="714050"/>
          <a:ext cx="3000000" cy="3000000"/>
        </p:xfrm>
        <a:graphic>
          <a:graphicData uri="http://schemas.openxmlformats.org/drawingml/2006/table">
            <a:tbl>
              <a:tblPr>
                <a:noFill/>
                <a:tableStyleId>{027568D1-9BE7-4ABE-AB64-776F8D02060C}</a:tableStyleId>
              </a:tblPr>
              <a:tblGrid>
                <a:gridCol w="822550"/>
                <a:gridCol w="947950"/>
                <a:gridCol w="457375"/>
                <a:gridCol w="413100"/>
              </a:tblGrid>
              <a:tr h="55700">
                <a:tc>
                  <a:txBody>
                    <a:bodyPr/>
                    <a:lstStyle/>
                    <a:p>
                      <a:pPr indent="0" lvl="0" marL="0" marR="0" rtl="0" algn="l">
                        <a:spcBef>
                          <a:spcPts val="0"/>
                        </a:spcBef>
                        <a:spcAft>
                          <a:spcPts val="0"/>
                        </a:spcAft>
                        <a:buNone/>
                      </a:pPr>
                      <a:r>
                        <a:rPr lang="en" sz="400">
                          <a:latin typeface="Arial"/>
                          <a:ea typeface="Arial"/>
                          <a:cs typeface="Arial"/>
                          <a:sym typeface="Arial"/>
                        </a:rPr>
                        <a:t>cuisine_type</a:t>
                      </a:r>
                      <a:endParaRPr sz="700"/>
                    </a:p>
                  </a:txBody>
                  <a:tcPr marT="0" marB="0" marR="0" marL="0" anchor="b"/>
                </a:tc>
                <a:tc>
                  <a:txBody>
                    <a:bodyPr/>
                    <a:lstStyle/>
                    <a:p>
                      <a:pPr indent="0" lvl="0" marL="0" marR="0" rtl="0" algn="l">
                        <a:spcBef>
                          <a:spcPts val="0"/>
                        </a:spcBef>
                        <a:spcAft>
                          <a:spcPts val="0"/>
                        </a:spcAft>
                        <a:buNone/>
                      </a:pPr>
                      <a:r>
                        <a:t/>
                      </a:r>
                      <a:endParaRPr sz="300"/>
                    </a:p>
                  </a:txBody>
                  <a:tcPr marT="0" marB="0" marR="0" marL="0"/>
                </a:tc>
                <a:tc>
                  <a:txBody>
                    <a:bodyPr/>
                    <a:lstStyle/>
                    <a:p>
                      <a:pPr indent="0" lvl="0" marL="0" marR="0" rtl="0" algn="l">
                        <a:spcBef>
                          <a:spcPts val="0"/>
                        </a:spcBef>
                        <a:spcAft>
                          <a:spcPts val="0"/>
                        </a:spcAft>
                        <a:buNone/>
                      </a:pPr>
                      <a:r>
                        <a:t/>
                      </a:r>
                      <a:endParaRPr sz="300"/>
                    </a:p>
                  </a:txBody>
                  <a:tcPr marT="0" marB="0" marR="0" marL="0"/>
                </a:tc>
                <a:tc>
                  <a:txBody>
                    <a:bodyPr/>
                    <a:lstStyle/>
                    <a:p>
                      <a:pPr indent="0" lvl="0" marL="0" marR="0" rtl="0" algn="l">
                        <a:spcBef>
                          <a:spcPts val="0"/>
                        </a:spcBef>
                        <a:spcAft>
                          <a:spcPts val="0"/>
                        </a:spcAft>
                        <a:buNone/>
                      </a:pPr>
                      <a:r>
                        <a:t/>
                      </a:r>
                      <a:endParaRPr sz="300"/>
                    </a:p>
                  </a:txBody>
                  <a:tcPr marT="0" marB="0" marR="0" marL="0"/>
                </a:tc>
              </a:tr>
              <a:tr h="55700">
                <a:tc>
                  <a:txBody>
                    <a:bodyPr/>
                    <a:lstStyle/>
                    <a:p>
                      <a:pPr indent="0" lvl="0" marL="0" marR="0" rtl="0" algn="l">
                        <a:spcBef>
                          <a:spcPts val="0"/>
                        </a:spcBef>
                        <a:spcAft>
                          <a:spcPts val="0"/>
                        </a:spcAft>
                        <a:buNone/>
                      </a:pPr>
                      <a:r>
                        <a:rPr lang="en" sz="400">
                          <a:latin typeface="Arial"/>
                          <a:ea typeface="Arial"/>
                          <a:cs typeface="Arial"/>
                          <a:sym typeface="Arial"/>
                        </a:rPr>
                        <a:t>Italian</a:t>
                      </a:r>
                      <a:endParaRPr sz="700"/>
                    </a:p>
                  </a:txBody>
                  <a:tcPr marT="0" marB="0" marR="0" marL="0"/>
                </a:tc>
                <a:tc gridSpan="2">
                  <a:txBody>
                    <a:bodyPr/>
                    <a:lstStyle/>
                    <a:p>
                      <a:pPr indent="0" lvl="0" marL="0" marR="0" rtl="0" algn="l">
                        <a:spcBef>
                          <a:spcPts val="0"/>
                        </a:spcBef>
                        <a:spcAft>
                          <a:spcPts val="0"/>
                        </a:spcAft>
                        <a:buNone/>
                      </a:pPr>
                      <a:r>
                        <a:rPr lang="en" sz="400">
                          <a:latin typeface="Arial"/>
                          <a:ea typeface="Arial"/>
                          <a:cs typeface="Arial"/>
                          <a:sym typeface="Arial"/>
                        </a:rPr>
                        <a:t>20 27.483221 28.0</a:t>
                      </a:r>
                      <a:endParaRPr sz="700"/>
                    </a:p>
                  </a:txBody>
                  <a:tcPr marT="0" marB="0" marR="0" marL="0"/>
                </a:tc>
                <a:tc hMerge="1"/>
                <a:tc>
                  <a:txBody>
                    <a:bodyPr/>
                    <a:lstStyle/>
                    <a:p>
                      <a:pPr indent="0" lvl="0" marL="0" marR="0" rtl="0" algn="l">
                        <a:spcBef>
                          <a:spcPts val="0"/>
                        </a:spcBef>
                        <a:spcAft>
                          <a:spcPts val="0"/>
                        </a:spcAft>
                        <a:buNone/>
                      </a:pPr>
                      <a:r>
                        <a:rPr lang="en" sz="400">
                          <a:latin typeface="Arial"/>
                          <a:ea typeface="Arial"/>
                          <a:cs typeface="Arial"/>
                          <a:sym typeface="Arial"/>
                        </a:rPr>
                        <a:t>35</a:t>
                      </a:r>
                      <a:endParaRPr sz="700"/>
                    </a:p>
                  </a:txBody>
                  <a:tcPr marT="0" marB="0" marR="0" marL="0"/>
                </a:tc>
              </a:tr>
              <a:tr h="58650">
                <a:tc>
                  <a:txBody>
                    <a:bodyPr/>
                    <a:lstStyle/>
                    <a:p>
                      <a:pPr indent="0" lvl="0" marL="0" marR="0" rtl="0" algn="l">
                        <a:spcBef>
                          <a:spcPts val="0"/>
                        </a:spcBef>
                        <a:spcAft>
                          <a:spcPts val="0"/>
                        </a:spcAft>
                        <a:buNone/>
                      </a:pPr>
                      <a:r>
                        <a:rPr lang="en" sz="400">
                          <a:latin typeface="Arial"/>
                          <a:ea typeface="Arial"/>
                          <a:cs typeface="Arial"/>
                          <a:sym typeface="Arial"/>
                        </a:rPr>
                        <a:t>Thai</a:t>
                      </a:r>
                      <a:endParaRPr sz="700"/>
                    </a:p>
                  </a:txBody>
                  <a:tcPr marT="0" marB="0" marR="0" marL="0"/>
                </a:tc>
                <a:tc gridSpan="2">
                  <a:txBody>
                    <a:bodyPr/>
                    <a:lstStyle/>
                    <a:p>
                      <a:pPr indent="0" lvl="0" marL="0" marR="0" rtl="0" algn="l">
                        <a:spcBef>
                          <a:spcPts val="0"/>
                        </a:spcBef>
                        <a:spcAft>
                          <a:spcPts val="0"/>
                        </a:spcAft>
                        <a:buNone/>
                      </a:pPr>
                      <a:r>
                        <a:rPr lang="en" sz="400">
                          <a:latin typeface="Arial"/>
                          <a:ea typeface="Arial"/>
                          <a:cs typeface="Arial"/>
                          <a:sym typeface="Arial"/>
                        </a:rPr>
                        <a:t>21 27.315789 28.0</a:t>
                      </a:r>
                      <a:endParaRPr sz="700"/>
                    </a:p>
                  </a:txBody>
                  <a:tcPr marT="0" marB="0" marR="0" marL="0"/>
                </a:tc>
                <a:tc hMerge="1"/>
                <a:tc>
                  <a:txBody>
                    <a:bodyPr/>
                    <a:lstStyle/>
                    <a:p>
                      <a:pPr indent="0" lvl="0" marL="0" marR="0" rtl="0" algn="l">
                        <a:spcBef>
                          <a:spcPts val="0"/>
                        </a:spcBef>
                        <a:spcAft>
                          <a:spcPts val="0"/>
                        </a:spcAft>
                        <a:buNone/>
                      </a:pPr>
                      <a:r>
                        <a:rPr lang="en" sz="400">
                          <a:latin typeface="Arial"/>
                          <a:ea typeface="Arial"/>
                          <a:cs typeface="Arial"/>
                          <a:sym typeface="Arial"/>
                        </a:rPr>
                        <a:t>35</a:t>
                      </a:r>
                      <a:endParaRPr sz="700"/>
                    </a:p>
                  </a:txBody>
                  <a:tcPr marT="0" marB="0" marR="0" marL="0"/>
                </a:tc>
              </a:tr>
              <a:tr h="60100">
                <a:tc>
                  <a:txBody>
                    <a:bodyPr/>
                    <a:lstStyle/>
                    <a:p>
                      <a:pPr indent="0" lvl="0" marL="0" marR="0" rtl="0" algn="l">
                        <a:spcBef>
                          <a:spcPts val="0"/>
                        </a:spcBef>
                        <a:spcAft>
                          <a:spcPts val="0"/>
                        </a:spcAft>
                        <a:buNone/>
                      </a:pPr>
                      <a:r>
                        <a:rPr lang="en" sz="400">
                          <a:latin typeface="Arial"/>
                          <a:ea typeface="Arial"/>
                          <a:cs typeface="Arial"/>
                          <a:sym typeface="Arial"/>
                        </a:rPr>
                        <a:t>Spanish</a:t>
                      </a:r>
                      <a:endParaRPr sz="700"/>
                    </a:p>
                  </a:txBody>
                  <a:tcPr marT="0" marB="0" marR="0" marL="0" anchor="b"/>
                </a:tc>
                <a:tc>
                  <a:txBody>
                    <a:bodyPr/>
                    <a:lstStyle/>
                    <a:p>
                      <a:pPr indent="0" lvl="0" marL="63500" marR="0" rtl="0" algn="l">
                        <a:spcBef>
                          <a:spcPts val="0"/>
                        </a:spcBef>
                        <a:spcAft>
                          <a:spcPts val="0"/>
                        </a:spcAft>
                        <a:buNone/>
                      </a:pPr>
                      <a:r>
                        <a:rPr lang="en" sz="400">
                          <a:latin typeface="Arial"/>
                          <a:ea typeface="Arial"/>
                          <a:cs typeface="Arial"/>
                          <a:sym typeface="Arial"/>
                        </a:rPr>
                        <a:t>20 26.916667</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27.5</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35</a:t>
                      </a:r>
                      <a:endParaRPr sz="700"/>
                    </a:p>
                  </a:txBody>
                  <a:tcPr marT="0" marB="0" marR="0" marL="0" anchor="b"/>
                </a:tc>
              </a:tr>
              <a:tr h="60100">
                <a:tc>
                  <a:txBody>
                    <a:bodyPr/>
                    <a:lstStyle/>
                    <a:p>
                      <a:pPr indent="0" lvl="0" marL="0" marR="0" rtl="0" algn="l">
                        <a:spcBef>
                          <a:spcPts val="0"/>
                        </a:spcBef>
                        <a:spcAft>
                          <a:spcPts val="0"/>
                        </a:spcAft>
                        <a:buNone/>
                      </a:pPr>
                      <a:r>
                        <a:rPr lang="en" sz="400">
                          <a:latin typeface="Arial"/>
                          <a:ea typeface="Arial"/>
                          <a:cs typeface="Arial"/>
                          <a:sym typeface="Arial"/>
                        </a:rPr>
                        <a:t>Japanese</a:t>
                      </a:r>
                      <a:endParaRPr sz="700"/>
                    </a:p>
                  </a:txBody>
                  <a:tcPr marT="0" marB="0" marR="0" marL="0"/>
                </a:tc>
                <a:tc>
                  <a:txBody>
                    <a:bodyPr/>
                    <a:lstStyle/>
                    <a:p>
                      <a:pPr indent="0" lvl="0" marL="0" marR="0" rtl="0" algn="r">
                        <a:spcBef>
                          <a:spcPts val="0"/>
                        </a:spcBef>
                        <a:spcAft>
                          <a:spcPts val="0"/>
                        </a:spcAft>
                        <a:buNone/>
                      </a:pPr>
                      <a:r>
                        <a:rPr lang="en" sz="400">
                          <a:latin typeface="Arial"/>
                          <a:ea typeface="Arial"/>
                          <a:cs typeface="Arial"/>
                          <a:sym typeface="Arial"/>
                        </a:rPr>
                        <a:t>20 27.510638</a:t>
                      </a:r>
                      <a:endParaRPr sz="700"/>
                    </a:p>
                  </a:txBody>
                  <a:tcPr marT="0" marB="0" marR="0" marL="0"/>
                </a:tc>
                <a:tc>
                  <a:txBody>
                    <a:bodyPr/>
                    <a:lstStyle/>
                    <a:p>
                      <a:pPr indent="0" lvl="0" marL="50800" marR="0" rtl="0" algn="l">
                        <a:spcBef>
                          <a:spcPts val="0"/>
                        </a:spcBef>
                        <a:spcAft>
                          <a:spcPts val="0"/>
                        </a:spcAft>
                        <a:buNone/>
                      </a:pPr>
                      <a:r>
                        <a:rPr lang="en" sz="400">
                          <a:latin typeface="Arial"/>
                          <a:ea typeface="Arial"/>
                          <a:cs typeface="Arial"/>
                          <a:sym typeface="Arial"/>
                        </a:rPr>
                        <a:t>27.5</a:t>
                      </a:r>
                      <a:endParaRPr sz="700"/>
                    </a:p>
                  </a:txBody>
                  <a:tcPr marT="0" marB="0" marR="0" marL="0"/>
                </a:tc>
                <a:tc>
                  <a:txBody>
                    <a:bodyPr/>
                    <a:lstStyle/>
                    <a:p>
                      <a:pPr indent="0" lvl="0" marL="76200" marR="0" rtl="0" algn="l">
                        <a:spcBef>
                          <a:spcPts val="0"/>
                        </a:spcBef>
                        <a:spcAft>
                          <a:spcPts val="0"/>
                        </a:spcAft>
                        <a:buNone/>
                      </a:pPr>
                      <a:r>
                        <a:rPr lang="en" sz="400">
                          <a:latin typeface="Arial"/>
                          <a:ea typeface="Arial"/>
                          <a:cs typeface="Arial"/>
                          <a:sym typeface="Arial"/>
                        </a:rPr>
                        <a:t>35</a:t>
                      </a:r>
                      <a:endParaRPr sz="700"/>
                    </a:p>
                  </a:txBody>
                  <a:tcPr marT="0" marB="0" marR="0" marL="0"/>
                </a:tc>
              </a:tr>
              <a:tr h="55700">
                <a:tc>
                  <a:txBody>
                    <a:bodyPr/>
                    <a:lstStyle/>
                    <a:p>
                      <a:pPr indent="0" lvl="0" marL="0" marR="0" rtl="0" algn="l">
                        <a:spcBef>
                          <a:spcPts val="0"/>
                        </a:spcBef>
                        <a:spcAft>
                          <a:spcPts val="0"/>
                        </a:spcAft>
                        <a:buNone/>
                      </a:pPr>
                      <a:r>
                        <a:rPr lang="en" sz="400">
                          <a:latin typeface="Arial"/>
                          <a:ea typeface="Arial"/>
                          <a:cs typeface="Arial"/>
                          <a:sym typeface="Arial"/>
                        </a:rPr>
                        <a:t>Chinese</a:t>
                      </a:r>
                      <a:endParaRPr sz="700"/>
                    </a:p>
                  </a:txBody>
                  <a:tcPr marT="0" marB="0" marR="0" marL="0"/>
                </a:tc>
                <a:tc>
                  <a:txBody>
                    <a:bodyPr/>
                    <a:lstStyle/>
                    <a:p>
                      <a:pPr indent="0" lvl="0" marL="63500" marR="0" rtl="0" algn="l">
                        <a:spcBef>
                          <a:spcPts val="0"/>
                        </a:spcBef>
                        <a:spcAft>
                          <a:spcPts val="0"/>
                        </a:spcAft>
                        <a:buNone/>
                      </a:pPr>
                      <a:r>
                        <a:rPr lang="en" sz="400">
                          <a:latin typeface="Arial"/>
                          <a:ea typeface="Arial"/>
                          <a:cs typeface="Arial"/>
                          <a:sym typeface="Arial"/>
                        </a:rPr>
                        <a:t>20 27.511628</a:t>
                      </a:r>
                      <a:endParaRPr sz="700"/>
                    </a:p>
                  </a:txBody>
                  <a:tcPr marT="0" marB="0" marR="0" marL="0"/>
                </a:tc>
                <a:tc>
                  <a:txBody>
                    <a:bodyPr/>
                    <a:lstStyle/>
                    <a:p>
                      <a:pPr indent="0" lvl="0" marL="0" marR="0" rtl="0" algn="l">
                        <a:spcBef>
                          <a:spcPts val="0"/>
                        </a:spcBef>
                        <a:spcAft>
                          <a:spcPts val="0"/>
                        </a:spcAft>
                        <a:buNone/>
                      </a:pPr>
                      <a:r>
                        <a:rPr lang="en" sz="400">
                          <a:latin typeface="Arial"/>
                          <a:ea typeface="Arial"/>
                          <a:cs typeface="Arial"/>
                          <a:sym typeface="Arial"/>
                        </a:rPr>
                        <a:t>27.0</a:t>
                      </a:r>
                      <a:endParaRPr sz="700"/>
                    </a:p>
                  </a:txBody>
                  <a:tcPr marT="0" marB="0" marR="0" marL="0"/>
                </a:tc>
                <a:tc>
                  <a:txBody>
                    <a:bodyPr/>
                    <a:lstStyle/>
                    <a:p>
                      <a:pPr indent="0" lvl="0" marL="50800" marR="0" rtl="0" algn="l">
                        <a:spcBef>
                          <a:spcPts val="0"/>
                        </a:spcBef>
                        <a:spcAft>
                          <a:spcPts val="0"/>
                        </a:spcAft>
                        <a:buNone/>
                      </a:pPr>
                      <a:r>
                        <a:rPr lang="en" sz="400">
                          <a:latin typeface="Arial"/>
                          <a:ea typeface="Arial"/>
                          <a:cs typeface="Arial"/>
                          <a:sym typeface="Arial"/>
                        </a:rPr>
                        <a:t>35</a:t>
                      </a:r>
                      <a:endParaRPr sz="700"/>
                    </a:p>
                  </a:txBody>
                  <a:tcPr marT="0" marB="0" marR="0" marL="0"/>
                </a:tc>
              </a:tr>
              <a:tr h="58650">
                <a:tc>
                  <a:txBody>
                    <a:bodyPr/>
                    <a:lstStyle/>
                    <a:p>
                      <a:pPr indent="0" lvl="0" marL="0" marR="0" rtl="0" algn="l">
                        <a:spcBef>
                          <a:spcPts val="0"/>
                        </a:spcBef>
                        <a:spcAft>
                          <a:spcPts val="0"/>
                        </a:spcAft>
                        <a:buNone/>
                      </a:pPr>
                      <a:r>
                        <a:rPr lang="en" sz="400">
                          <a:latin typeface="Arial"/>
                          <a:ea typeface="Arial"/>
                          <a:cs typeface="Arial"/>
                          <a:sym typeface="Arial"/>
                        </a:rPr>
                        <a:t>American</a:t>
                      </a:r>
                      <a:endParaRPr sz="700"/>
                    </a:p>
                  </a:txBody>
                  <a:tcPr marT="0" marB="0" marR="0" marL="0" anchor="b"/>
                </a:tc>
                <a:tc>
                  <a:txBody>
                    <a:bodyPr/>
                    <a:lstStyle/>
                    <a:p>
                      <a:pPr indent="0" lvl="0" marL="76200" marR="0" rtl="0" algn="l">
                        <a:spcBef>
                          <a:spcPts val="0"/>
                        </a:spcBef>
                        <a:spcAft>
                          <a:spcPts val="0"/>
                        </a:spcAft>
                        <a:buNone/>
                      </a:pPr>
                      <a:r>
                        <a:rPr lang="en" sz="400">
                          <a:latin typeface="Arial"/>
                          <a:ea typeface="Arial"/>
                          <a:cs typeface="Arial"/>
                          <a:sym typeface="Arial"/>
                        </a:rPr>
                        <a:t>20 27.440068</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27.0</a:t>
                      </a:r>
                      <a:endParaRPr sz="700"/>
                    </a:p>
                  </a:txBody>
                  <a:tcPr marT="0" marB="0" marR="0" marL="0" anchor="b"/>
                </a:tc>
                <a:tc>
                  <a:txBody>
                    <a:bodyPr/>
                    <a:lstStyle/>
                    <a:p>
                      <a:pPr indent="0" lvl="0" marL="76200" marR="0" rtl="0" algn="l">
                        <a:spcBef>
                          <a:spcPts val="0"/>
                        </a:spcBef>
                        <a:spcAft>
                          <a:spcPts val="0"/>
                        </a:spcAft>
                        <a:buNone/>
                      </a:pPr>
                      <a:r>
                        <a:rPr lang="en" sz="400">
                          <a:latin typeface="Arial"/>
                          <a:ea typeface="Arial"/>
                          <a:cs typeface="Arial"/>
                          <a:sym typeface="Arial"/>
                        </a:rPr>
                        <a:t>35</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Mediterranean</a:t>
                      </a:r>
                      <a:endParaRPr sz="700"/>
                    </a:p>
                  </a:txBody>
                  <a:tcPr marT="0" marB="0" marR="0" marL="0" anchor="b"/>
                </a:tc>
                <a:tc gridSpan="2">
                  <a:txBody>
                    <a:bodyPr/>
                    <a:lstStyle/>
                    <a:p>
                      <a:pPr indent="0" lvl="0" marL="0" marR="0" rtl="0" algn="r">
                        <a:spcBef>
                          <a:spcPts val="0"/>
                        </a:spcBef>
                        <a:spcAft>
                          <a:spcPts val="0"/>
                        </a:spcAft>
                        <a:buNone/>
                      </a:pPr>
                      <a:r>
                        <a:rPr lang="en" sz="400">
                          <a:latin typeface="Arial"/>
                          <a:ea typeface="Arial"/>
                          <a:cs typeface="Arial"/>
                          <a:sym typeface="Arial"/>
                        </a:rPr>
                        <a:t>20 27.000000 27.0</a:t>
                      </a:r>
                      <a:endParaRPr sz="700"/>
                    </a:p>
                  </a:txBody>
                  <a:tcPr marT="0" marB="0" marR="0" marL="0" anchor="b"/>
                </a:tc>
                <a:tc hMerge="1"/>
                <a:tc>
                  <a:txBody>
                    <a:bodyPr/>
                    <a:lstStyle/>
                    <a:p>
                      <a:pPr indent="0" lvl="0" marL="0" marR="0" rtl="0" algn="r">
                        <a:spcBef>
                          <a:spcPts val="0"/>
                        </a:spcBef>
                        <a:spcAft>
                          <a:spcPts val="0"/>
                        </a:spcAft>
                        <a:buNone/>
                      </a:pPr>
                      <a:r>
                        <a:rPr lang="en" sz="400">
                          <a:latin typeface="Arial"/>
                          <a:ea typeface="Arial"/>
                          <a:cs typeface="Arial"/>
                          <a:sym typeface="Arial"/>
                        </a:rPr>
                        <a:t>35</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Indian</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20 27.109589</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27.0</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35</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Middle Eastern</a:t>
                      </a:r>
                      <a:endParaRPr sz="700"/>
                    </a:p>
                  </a:txBody>
                  <a:tcPr marT="0" marB="0" marR="0" marL="0" anchor="b"/>
                </a:tc>
                <a:tc gridSpan="2">
                  <a:txBody>
                    <a:bodyPr/>
                    <a:lstStyle/>
                    <a:p>
                      <a:pPr indent="0" lvl="0" marL="0" marR="0" rtl="0" algn="r">
                        <a:spcBef>
                          <a:spcPts val="0"/>
                        </a:spcBef>
                        <a:spcAft>
                          <a:spcPts val="0"/>
                        </a:spcAft>
                        <a:buNone/>
                      </a:pPr>
                      <a:r>
                        <a:rPr lang="en" sz="400">
                          <a:latin typeface="Arial"/>
                          <a:ea typeface="Arial"/>
                          <a:cs typeface="Arial"/>
                          <a:sym typeface="Arial"/>
                        </a:rPr>
                        <a:t>20 26.673469 27.0</a:t>
                      </a:r>
                      <a:endParaRPr sz="700"/>
                    </a:p>
                  </a:txBody>
                  <a:tcPr marT="0" marB="0" marR="0" marL="0" anchor="b"/>
                </a:tc>
                <a:tc hMerge="1"/>
                <a:tc>
                  <a:txBody>
                    <a:bodyPr/>
                    <a:lstStyle/>
                    <a:p>
                      <a:pPr indent="0" lvl="0" marL="0" marR="0" rtl="0" algn="r">
                        <a:spcBef>
                          <a:spcPts val="0"/>
                        </a:spcBef>
                        <a:spcAft>
                          <a:spcPts val="0"/>
                        </a:spcAft>
                        <a:buNone/>
                      </a:pPr>
                      <a:r>
                        <a:rPr lang="en" sz="400">
                          <a:latin typeface="Arial"/>
                          <a:ea typeface="Arial"/>
                          <a:cs typeface="Arial"/>
                          <a:sym typeface="Arial"/>
                        </a:rPr>
                        <a:t>34</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Southern</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20 27.588235</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26.0</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35</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Mexican</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20 26.727273</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26.0</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35</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French</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21 26.888889</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25.5</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35</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Korean</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20 25.461538</a:t>
                      </a:r>
                      <a:endParaRPr sz="700"/>
                    </a:p>
                  </a:txBody>
                  <a:tcPr marT="0" marB="0" marR="0" marL="0" anchor="b"/>
                </a:tc>
                <a:tc>
                  <a:txBody>
                    <a:bodyPr/>
                    <a:lstStyle/>
                    <a:p>
                      <a:pPr indent="0" lvl="0" marL="0" marR="0" rtl="0" algn="l">
                        <a:spcBef>
                          <a:spcPts val="0"/>
                        </a:spcBef>
                        <a:spcAft>
                          <a:spcPts val="0"/>
                        </a:spcAft>
                        <a:buNone/>
                      </a:pPr>
                      <a:r>
                        <a:rPr lang="en" sz="400">
                          <a:latin typeface="Arial"/>
                          <a:ea typeface="Arial"/>
                          <a:cs typeface="Arial"/>
                          <a:sym typeface="Arial"/>
                        </a:rPr>
                        <a:t>25.0</a:t>
                      </a:r>
                      <a:endParaRPr sz="700"/>
                    </a:p>
                  </a:txBody>
                  <a:tcPr marT="0" marB="0" marR="0" marL="0" anchor="b"/>
                </a:tc>
                <a:tc>
                  <a:txBody>
                    <a:bodyPr/>
                    <a:lstStyle/>
                    <a:p>
                      <a:pPr indent="0" lvl="0" marL="50800" marR="0" rtl="0" algn="l">
                        <a:spcBef>
                          <a:spcPts val="0"/>
                        </a:spcBef>
                        <a:spcAft>
                          <a:spcPts val="0"/>
                        </a:spcAft>
                        <a:buNone/>
                      </a:pPr>
                      <a:r>
                        <a:rPr lang="en" sz="400">
                          <a:latin typeface="Arial"/>
                          <a:ea typeface="Arial"/>
                          <a:cs typeface="Arial"/>
                          <a:sym typeface="Arial"/>
                        </a:rPr>
                        <a:t>33</a:t>
                      </a:r>
                      <a:endParaRPr sz="700"/>
                    </a:p>
                  </a:txBody>
                  <a:tcPr marT="0" marB="0" marR="0" marL="0" anchor="b"/>
                </a:tc>
              </a:tr>
              <a:tr h="58650">
                <a:tc>
                  <a:txBody>
                    <a:bodyPr/>
                    <a:lstStyle/>
                    <a:p>
                      <a:pPr indent="0" lvl="0" marL="0" marR="0" rtl="0" algn="l">
                        <a:spcBef>
                          <a:spcPts val="0"/>
                        </a:spcBef>
                        <a:spcAft>
                          <a:spcPts val="0"/>
                        </a:spcAft>
                        <a:buNone/>
                      </a:pPr>
                      <a:r>
                        <a:rPr lang="en" sz="400">
                          <a:latin typeface="Arial"/>
                          <a:ea typeface="Arial"/>
                          <a:cs typeface="Arial"/>
                          <a:sym typeface="Arial"/>
                        </a:rPr>
                        <a:t>Vietnamese</a:t>
                      </a:r>
                      <a:endParaRPr sz="700"/>
                    </a:p>
                  </a:txBody>
                  <a:tcPr marT="0" marB="0" marR="0" marL="0" anchor="b"/>
                </a:tc>
                <a:tc gridSpan="2">
                  <a:txBody>
                    <a:bodyPr/>
                    <a:lstStyle/>
                    <a:p>
                      <a:pPr indent="0" lvl="0" marL="0" marR="0" rtl="0" algn="r">
                        <a:spcBef>
                          <a:spcPts val="0"/>
                        </a:spcBef>
                        <a:spcAft>
                          <a:spcPts val="0"/>
                        </a:spcAft>
                        <a:buNone/>
                      </a:pPr>
                      <a:r>
                        <a:rPr lang="en" sz="400">
                          <a:latin typeface="Arial"/>
                          <a:ea typeface="Arial"/>
                          <a:cs typeface="Arial"/>
                          <a:sym typeface="Arial"/>
                        </a:rPr>
                        <a:t>20 25.714286 25.0</a:t>
                      </a:r>
                      <a:endParaRPr sz="700"/>
                    </a:p>
                  </a:txBody>
                  <a:tcPr marT="0" marB="0" marR="0" marL="0" anchor="b"/>
                </a:tc>
                <a:tc hMerge="1"/>
                <a:tc>
                  <a:txBody>
                    <a:bodyPr/>
                    <a:lstStyle/>
                    <a:p>
                      <a:pPr indent="0" lvl="0" marL="0" marR="0" rtl="0" algn="r">
                        <a:spcBef>
                          <a:spcPts val="0"/>
                        </a:spcBef>
                        <a:spcAft>
                          <a:spcPts val="0"/>
                        </a:spcAft>
                        <a:buNone/>
                      </a:pPr>
                      <a:r>
                        <a:rPr lang="en" sz="400">
                          <a:latin typeface="Arial"/>
                          <a:ea typeface="Arial"/>
                          <a:cs typeface="Arial"/>
                          <a:sym typeface="Arial"/>
                        </a:rPr>
                        <a:t>33</a:t>
                      </a:r>
                      <a:endParaRPr sz="700"/>
                    </a:p>
                  </a:txBody>
                  <a:tcPr marT="0" marB="0" marR="0" marL="0" anchor="b"/>
                </a:tc>
              </a:tr>
              <a:tr h="74775">
                <a:tc>
                  <a:txBody>
                    <a:bodyPr/>
                    <a:lstStyle/>
                    <a:p>
                      <a:pPr indent="0" lvl="0" marL="0" marR="0" rtl="0" algn="l">
                        <a:spcBef>
                          <a:spcPts val="0"/>
                        </a:spcBef>
                        <a:spcAft>
                          <a:spcPts val="0"/>
                        </a:spcAft>
                        <a:buNone/>
                      </a:pPr>
                      <a:r>
                        <a:rPr b="1" lang="en" sz="400">
                          <a:latin typeface="Arial"/>
                          <a:ea typeface="Arial"/>
                          <a:cs typeface="Arial"/>
                          <a:sym typeface="Arial"/>
                        </a:rPr>
                        <a:t>In [7]:</a:t>
                      </a:r>
                      <a:endParaRPr sz="700"/>
                    </a:p>
                  </a:txBody>
                  <a:tcPr marT="0" marB="0" marR="0" marL="0" anchor="b"/>
                </a:tc>
                <a:tc>
                  <a:txBody>
                    <a:bodyPr/>
                    <a:lstStyle/>
                    <a:p>
                      <a:pPr indent="0" lvl="0" marL="0" marR="0" rtl="0" algn="l">
                        <a:spcBef>
                          <a:spcPts val="0"/>
                        </a:spcBef>
                        <a:spcAft>
                          <a:spcPts val="0"/>
                        </a:spcAft>
                        <a:buNone/>
                      </a:pPr>
                      <a:r>
                        <a:t/>
                      </a:r>
                      <a:endParaRPr sz="400"/>
                    </a:p>
                  </a:txBody>
                  <a:tcPr marT="0" marB="0" marR="0" marL="0"/>
                </a:tc>
                <a:tc>
                  <a:txBody>
                    <a:bodyPr/>
                    <a:lstStyle/>
                    <a:p>
                      <a:pPr indent="0" lvl="0" marL="0" marR="0" rtl="0" algn="l">
                        <a:spcBef>
                          <a:spcPts val="0"/>
                        </a:spcBef>
                        <a:spcAft>
                          <a:spcPts val="0"/>
                        </a:spcAft>
                        <a:buNone/>
                      </a:pPr>
                      <a:r>
                        <a:t/>
                      </a:r>
                      <a:endParaRPr sz="400"/>
                    </a:p>
                  </a:txBody>
                  <a:tcPr marT="0" marB="0" marR="0" marL="0"/>
                </a:tc>
                <a:tc>
                  <a:txBody>
                    <a:bodyPr/>
                    <a:lstStyle/>
                    <a:p>
                      <a:pPr indent="0" lvl="0" marL="0" marR="0" rtl="0" algn="l">
                        <a:spcBef>
                          <a:spcPts val="0"/>
                        </a:spcBef>
                        <a:spcAft>
                          <a:spcPts val="0"/>
                        </a:spcAft>
                        <a:buNone/>
                      </a:pPr>
                      <a:r>
                        <a:t/>
                      </a:r>
                      <a:endParaRPr sz="400"/>
                    </a:p>
                  </a:txBody>
                  <a:tcPr marT="0" marB="0" marR="0" marL="0"/>
                </a:tc>
              </a:tr>
            </a:tbl>
          </a:graphicData>
        </a:graphic>
      </p:graphicFrame>
      <p:sp>
        <p:nvSpPr>
          <p:cNvPr id="503" name="Google Shape;503;g377b8bda5b4_2_118"/>
          <p:cNvSpPr/>
          <p:nvPr/>
        </p:nvSpPr>
        <p:spPr>
          <a:xfrm>
            <a:off x="55329" y="1661229"/>
            <a:ext cx="9037051" cy="351893"/>
          </a:xfrm>
          <a:prstGeom prst="rect">
            <a:avLst/>
          </a:prstGeom>
          <a:noFill/>
          <a:ln>
            <a:noFill/>
          </a:ln>
        </p:spPr>
        <p:txBody>
          <a:bodyPr anchorCtr="0" anchor="t" bIns="0" lIns="0" spcFirstLastPara="1" rIns="0" wrap="square" tIns="0">
            <a:noAutofit/>
          </a:bodyPr>
          <a:lstStyle/>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#Day of the Week</a:t>
            </a:r>
            <a:r>
              <a:rPr b="1" i="0" lang="en" sz="850" u="none" cap="none" strike="noStrike">
                <a:latin typeface="Arial"/>
                <a:ea typeface="Arial"/>
                <a:cs typeface="Arial"/>
                <a:sym typeface="Arial"/>
              </a:rPr>
              <a:t> vs </a:t>
            </a:r>
            <a:r>
              <a:rPr b="0" i="1" lang="en" sz="950" u="none" cap="none" strike="noStrike">
                <a:latin typeface="Arial"/>
                <a:ea typeface="Arial"/>
                <a:cs typeface="Arial"/>
                <a:sym typeface="Arial"/>
              </a:rPr>
              <a:t>Delivery time</a:t>
            </a:r>
            <a:endParaRPr/>
          </a:p>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Relationship between day of the week and delivery time</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plt.figure(figsize=(15,7))</a:t>
            </a:r>
            <a:endParaRPr/>
          </a:p>
          <a:p>
            <a:pPr indent="0" lvl="0" marL="0" marR="0" rtl="0" algn="just">
              <a:lnSpc>
                <a:spcPct val="118736"/>
              </a:lnSpc>
              <a:spcBef>
                <a:spcPts val="0"/>
              </a:spcBef>
              <a:spcAft>
                <a:spcPts val="0"/>
              </a:spcAft>
              <a:buNone/>
            </a:pPr>
            <a:r>
              <a:rPr b="1" i="0" lang="en" sz="850" u="none" cap="none" strike="noStrike">
                <a:latin typeface="Arial"/>
                <a:ea typeface="Arial"/>
                <a:cs typeface="Arial"/>
                <a:sym typeface="Arial"/>
              </a:rPr>
              <a:t>sns.boxplot(x='day_of_the_week', y='delivery_time', data=df) </a:t>
            </a:r>
            <a:r>
              <a:rPr b="0" i="1" lang="en" sz="950" u="none" cap="none" strike="noStrike">
                <a:latin typeface="Arial"/>
                <a:ea typeface="Arial"/>
                <a:cs typeface="Arial"/>
                <a:sym typeface="Arial"/>
              </a:rPr>
              <a:t>## Complete the code to visualize the relationship between day of the week a </a:t>
            </a:r>
            <a:r>
              <a:rPr b="1" i="0" lang="en" sz="850" u="none" cap="none" strike="noStrike">
                <a:latin typeface="Arial"/>
                <a:ea typeface="Arial"/>
                <a:cs typeface="Arial"/>
                <a:sym typeface="Arial"/>
              </a:rPr>
              <a:t>plt.show()</a:t>
            </a:r>
            <a:endParaRPr/>
          </a:p>
        </p:txBody>
      </p:sp>
      <p:sp>
        <p:nvSpPr>
          <p:cNvPr id="504" name="Google Shape;504;g377b8bda5b4_2_118"/>
          <p:cNvSpPr/>
          <p:nvPr/>
        </p:nvSpPr>
        <p:spPr>
          <a:xfrm>
            <a:off x="276644" y="2149480"/>
            <a:ext cx="331973" cy="45453"/>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650" u="none" cap="none" strike="noStrike">
                <a:solidFill>
                  <a:srgbClr val="2D2D2D"/>
                </a:solidFill>
                <a:latin typeface="Calibri"/>
                <a:ea typeface="Calibri"/>
                <a:cs typeface="Calibri"/>
                <a:sym typeface="Calibri"/>
              </a:rPr>
              <a:t>32.5</a:t>
            </a:r>
            <a:r>
              <a:rPr b="0" i="0" lang="en" sz="650" u="none" cap="none" strike="noStrike">
                <a:latin typeface="Calibri"/>
                <a:ea typeface="Calibri"/>
                <a:cs typeface="Calibri"/>
                <a:sym typeface="Calibri"/>
              </a:rPr>
              <a:t> </a:t>
            </a:r>
            <a:r>
              <a:rPr b="0" i="0" lang="en" sz="400" u="none" cap="none" strike="noStrike">
                <a:solidFill>
                  <a:srgbClr val="2D2D2D"/>
                </a:solidFill>
                <a:latin typeface="Calibri"/>
                <a:ea typeface="Calibri"/>
                <a:cs typeface="Calibri"/>
                <a:sym typeface="Calibri"/>
              </a:rPr>
              <a:t>-</a:t>
            </a:r>
            <a:endParaRPr/>
          </a:p>
        </p:txBody>
      </p:sp>
      <p:sp>
        <p:nvSpPr>
          <p:cNvPr id="505" name="Google Shape;505;g377b8bda5b4_2_118"/>
          <p:cNvSpPr/>
          <p:nvPr/>
        </p:nvSpPr>
        <p:spPr>
          <a:xfrm>
            <a:off x="276644" y="2344488"/>
            <a:ext cx="331973" cy="46919"/>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700" u="none" cap="none" strike="noStrike">
                <a:solidFill>
                  <a:srgbClr val="3F3F3F"/>
                </a:solidFill>
                <a:latin typeface="Calibri"/>
                <a:ea typeface="Calibri"/>
                <a:cs typeface="Calibri"/>
                <a:sym typeface="Calibri"/>
              </a:rPr>
              <a:t>30.0</a:t>
            </a:r>
            <a:r>
              <a:rPr b="0" i="0" lang="en" sz="400" u="none" cap="none" strike="noStrike">
                <a:solidFill>
                  <a:srgbClr val="3F3F3F"/>
                </a:solidFill>
                <a:latin typeface="Calibri"/>
                <a:ea typeface="Calibri"/>
                <a:cs typeface="Calibri"/>
                <a:sym typeface="Calibri"/>
              </a:rPr>
              <a:t> -</a:t>
            </a:r>
            <a:endParaRPr/>
          </a:p>
        </p:txBody>
      </p:sp>
      <p:sp>
        <p:nvSpPr>
          <p:cNvPr id="506" name="Google Shape;506;g377b8bda5b4_2_118"/>
          <p:cNvSpPr/>
          <p:nvPr/>
        </p:nvSpPr>
        <p:spPr>
          <a:xfrm>
            <a:off x="276644" y="2539495"/>
            <a:ext cx="331973" cy="46919"/>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700" u="none" cap="none" strike="noStrike">
                <a:latin typeface="Calibri"/>
                <a:ea typeface="Calibri"/>
                <a:cs typeface="Calibri"/>
                <a:sym typeface="Calibri"/>
              </a:rPr>
              <a:t>27.5 </a:t>
            </a:r>
            <a:r>
              <a:rPr b="0" i="0" lang="en" sz="400" u="none" cap="none" strike="noStrike">
                <a:latin typeface="Calibri"/>
                <a:ea typeface="Calibri"/>
                <a:cs typeface="Calibri"/>
                <a:sym typeface="Calibri"/>
              </a:rPr>
              <a:t>-</a:t>
            </a:r>
            <a:endParaRPr/>
          </a:p>
        </p:txBody>
      </p:sp>
      <p:sp>
        <p:nvSpPr>
          <p:cNvPr id="507" name="Google Shape;507;g377b8bda5b4_2_118"/>
          <p:cNvSpPr/>
          <p:nvPr/>
        </p:nvSpPr>
        <p:spPr>
          <a:xfrm>
            <a:off x="125412" y="2697847"/>
            <a:ext cx="483206" cy="2815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50" u="none" cap="none" strike="noStrike">
                <a:solidFill>
                  <a:srgbClr val="2D2D2D"/>
                </a:solidFill>
                <a:latin typeface="Calibri"/>
                <a:ea typeface="Calibri"/>
                <a:cs typeface="Calibri"/>
                <a:sym typeface="Calibri"/>
              </a:rPr>
              <a:t>&lt;u</a:t>
            </a:r>
            <a:endParaRPr/>
          </a:p>
          <a:p>
            <a:pPr indent="0" lvl="0" marL="0" marR="0" rtl="0" algn="l">
              <a:lnSpc>
                <a:spcPct val="136421"/>
              </a:lnSpc>
              <a:spcBef>
                <a:spcPts val="0"/>
              </a:spcBef>
              <a:spcAft>
                <a:spcPts val="0"/>
              </a:spcAft>
              <a:buNone/>
            </a:pPr>
            <a:r>
              <a:rPr b="0" i="0" lang="en" sz="650" u="none" cap="none" strike="noStrike">
                <a:solidFill>
                  <a:srgbClr val="2D2D2D"/>
                </a:solidFill>
                <a:latin typeface="Calibri"/>
                <a:ea typeface="Calibri"/>
                <a:cs typeface="Calibri"/>
                <a:sym typeface="Calibri"/>
              </a:rPr>
              <a:t>.1</a:t>
            </a:r>
            <a:r>
              <a:rPr b="0" i="0" lang="en" sz="400" u="none" cap="none" strike="noStrike">
                <a:solidFill>
                  <a:srgbClr val="2D2D2D"/>
                </a:solidFill>
                <a:latin typeface="Calibri"/>
                <a:ea typeface="Calibri"/>
                <a:cs typeface="Calibri"/>
                <a:sym typeface="Calibri"/>
              </a:rPr>
              <a:t> </a:t>
            </a:r>
            <a:r>
              <a:rPr b="0" i="0" lang="en" sz="650" u="none" cap="none" strike="noStrike">
                <a:solidFill>
                  <a:srgbClr val="2D2D2D"/>
                </a:solidFill>
                <a:latin typeface="Calibri"/>
                <a:ea typeface="Calibri"/>
                <a:cs typeface="Calibri"/>
                <a:sym typeface="Calibri"/>
              </a:rPr>
              <a:t>25</a:t>
            </a:r>
            <a:r>
              <a:rPr b="0" i="0" lang="en" sz="400" u="none" cap="none" strike="noStrike">
                <a:solidFill>
                  <a:srgbClr val="2D2D2D"/>
                </a:solidFill>
                <a:latin typeface="Calibri"/>
                <a:ea typeface="Calibri"/>
                <a:cs typeface="Calibri"/>
                <a:sym typeface="Calibri"/>
              </a:rPr>
              <a:t>.</a:t>
            </a:r>
            <a:r>
              <a:rPr b="0" i="0" lang="en" sz="650" u="none" cap="none" strike="noStrike">
                <a:solidFill>
                  <a:srgbClr val="2D2D2D"/>
                </a:solidFill>
                <a:latin typeface="Calibri"/>
                <a:ea typeface="Calibri"/>
                <a:cs typeface="Calibri"/>
                <a:sym typeface="Calibri"/>
              </a:rPr>
              <a:t>0</a:t>
            </a:r>
            <a:r>
              <a:rPr b="0" i="0" lang="en" sz="400" u="none" cap="none" strike="noStrike">
                <a:solidFill>
                  <a:srgbClr val="2D2D2D"/>
                </a:solidFill>
                <a:latin typeface="Calibri"/>
                <a:ea typeface="Calibri"/>
                <a:cs typeface="Calibri"/>
                <a:sym typeface="Calibri"/>
              </a:rPr>
              <a:t>-</a:t>
            </a:r>
            <a:r>
              <a:rPr b="0" i="0" lang="en" sz="950" u="none" cap="none" strike="noStrike">
                <a:solidFill>
                  <a:srgbClr val="2D2D2D"/>
                </a:solidFill>
                <a:latin typeface="Arial"/>
                <a:ea typeface="Arial"/>
                <a:cs typeface="Arial"/>
                <a:sym typeface="Arial"/>
              </a:rPr>
              <a:t>£7</a:t>
            </a:r>
            <a:endParaRPr/>
          </a:p>
          <a:p>
            <a:pPr indent="0" lvl="0" marL="0" marR="0" rtl="0" algn="l">
              <a:spcBef>
                <a:spcPts val="0"/>
              </a:spcBef>
              <a:spcAft>
                <a:spcPts val="0"/>
              </a:spcAft>
              <a:buNone/>
            </a:pPr>
            <a:r>
              <a:rPr b="1" i="0" lang="en" sz="650" u="none" cap="none" strike="noStrike">
                <a:solidFill>
                  <a:srgbClr val="2D2D2D"/>
                </a:solidFill>
                <a:latin typeface="Arial"/>
                <a:ea typeface="Arial"/>
                <a:cs typeface="Arial"/>
                <a:sym typeface="Arial"/>
              </a:rPr>
              <a:t>CD</a:t>
            </a:r>
            <a:endParaRPr/>
          </a:p>
          <a:p>
            <a:pPr indent="0" lvl="0" marL="0" marR="0" rtl="0" algn="l">
              <a:spcBef>
                <a:spcPts val="0"/>
              </a:spcBef>
              <a:spcAft>
                <a:spcPts val="0"/>
              </a:spcAft>
              <a:buNone/>
            </a:pPr>
            <a:r>
              <a:rPr b="1" i="1" lang="en" sz="950" u="none" cap="none" strike="noStrike">
                <a:solidFill>
                  <a:srgbClr val="2D2D2D"/>
                </a:solidFill>
                <a:latin typeface="Arial"/>
                <a:ea typeface="Arial"/>
                <a:cs typeface="Arial"/>
                <a:sym typeface="Arial"/>
              </a:rPr>
              <a:t>&gt;</a:t>
            </a:r>
            <a:endParaRPr/>
          </a:p>
          <a:p>
            <a:pPr indent="0" lvl="0" marL="0" marR="0" rtl="0" algn="l">
              <a:spcBef>
                <a:spcPts val="0"/>
              </a:spcBef>
              <a:spcAft>
                <a:spcPts val="0"/>
              </a:spcAft>
              <a:buNone/>
            </a:pPr>
            <a:r>
              <a:rPr b="0" i="0" lang="en" sz="700" u="none" cap="none" strike="noStrike">
                <a:solidFill>
                  <a:srgbClr val="3F3F3F"/>
                </a:solidFill>
                <a:latin typeface="Calibri"/>
                <a:ea typeface="Calibri"/>
                <a:cs typeface="Calibri"/>
                <a:sym typeface="Calibri"/>
              </a:rPr>
              <a:t>1</a:t>
            </a:r>
            <a:r>
              <a:rPr b="0" i="0" lang="en" sz="400" u="none" cap="none" strike="noStrike">
                <a:solidFill>
                  <a:srgbClr val="3F3F3F"/>
                </a:solidFill>
                <a:latin typeface="Calibri"/>
                <a:ea typeface="Calibri"/>
                <a:cs typeface="Calibri"/>
                <a:sym typeface="Calibri"/>
              </a:rPr>
              <a:t> </a:t>
            </a:r>
            <a:r>
              <a:rPr b="0" i="0" lang="en" sz="700" u="none" cap="none" strike="noStrike">
                <a:solidFill>
                  <a:srgbClr val="2D2D2D"/>
                </a:solidFill>
                <a:latin typeface="Calibri"/>
                <a:ea typeface="Calibri"/>
                <a:cs typeface="Calibri"/>
                <a:sym typeface="Calibri"/>
              </a:rPr>
              <a:t>22</a:t>
            </a:r>
            <a:r>
              <a:rPr b="0" i="0" lang="en" sz="400" u="none" cap="none" strike="noStrike">
                <a:solidFill>
                  <a:srgbClr val="2D2D2D"/>
                </a:solidFill>
                <a:latin typeface="Calibri"/>
                <a:ea typeface="Calibri"/>
                <a:cs typeface="Calibri"/>
                <a:sym typeface="Calibri"/>
              </a:rPr>
              <a:t>.</a:t>
            </a:r>
            <a:r>
              <a:rPr b="0" i="0" lang="en" sz="700" u="none" cap="none" strike="noStrike">
                <a:solidFill>
                  <a:srgbClr val="2D2D2D"/>
                </a:solidFill>
                <a:latin typeface="Calibri"/>
                <a:ea typeface="Calibri"/>
                <a:cs typeface="Calibri"/>
                <a:sym typeface="Calibri"/>
              </a:rPr>
              <a:t>5</a:t>
            </a:r>
            <a:r>
              <a:rPr b="0" i="0" lang="en" sz="400" u="none" cap="none" strike="noStrike">
                <a:solidFill>
                  <a:srgbClr val="2D2D2D"/>
                </a:solidFill>
                <a:latin typeface="Calibri"/>
                <a:ea typeface="Calibri"/>
                <a:cs typeface="Calibri"/>
                <a:sym typeface="Calibri"/>
              </a:rPr>
              <a:t>-</a:t>
            </a:r>
            <a:endParaRPr/>
          </a:p>
        </p:txBody>
      </p:sp>
      <p:sp>
        <p:nvSpPr>
          <p:cNvPr id="508" name="Google Shape;508;g377b8bda5b4_2_118"/>
          <p:cNvSpPr/>
          <p:nvPr/>
        </p:nvSpPr>
        <p:spPr>
          <a:xfrm>
            <a:off x="276644" y="3125984"/>
            <a:ext cx="331973" cy="46919"/>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750" u="none" cap="none" strike="noStrike">
                <a:solidFill>
                  <a:srgbClr val="3F3F3F"/>
                </a:solidFill>
                <a:latin typeface="Calibri"/>
                <a:ea typeface="Calibri"/>
                <a:cs typeface="Calibri"/>
                <a:sym typeface="Calibri"/>
              </a:rPr>
              <a:t>20.0</a:t>
            </a:r>
            <a:r>
              <a:rPr b="0" i="0" lang="en" sz="400" u="none" cap="none" strike="noStrike">
                <a:solidFill>
                  <a:srgbClr val="3F3F3F"/>
                </a:solidFill>
                <a:latin typeface="Arial"/>
                <a:ea typeface="Arial"/>
                <a:cs typeface="Arial"/>
                <a:sym typeface="Arial"/>
              </a:rPr>
              <a:t> </a:t>
            </a:r>
            <a:r>
              <a:rPr b="0" i="0" lang="en" sz="400" u="none" cap="none" strike="noStrike">
                <a:latin typeface="Arial"/>
                <a:ea typeface="Arial"/>
                <a:cs typeface="Arial"/>
                <a:sym typeface="Arial"/>
              </a:rPr>
              <a:t>-</a:t>
            </a:r>
            <a:endParaRPr/>
          </a:p>
        </p:txBody>
      </p:sp>
      <p:sp>
        <p:nvSpPr>
          <p:cNvPr id="509" name="Google Shape;509;g377b8bda5b4_2_118"/>
          <p:cNvSpPr/>
          <p:nvPr/>
        </p:nvSpPr>
        <p:spPr>
          <a:xfrm>
            <a:off x="284022" y="3322457"/>
            <a:ext cx="324596" cy="45453"/>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700" u="none" cap="none" strike="noStrike">
                <a:solidFill>
                  <a:srgbClr val="2D2D2D"/>
                </a:solidFill>
                <a:latin typeface="Calibri"/>
                <a:ea typeface="Calibri"/>
                <a:cs typeface="Calibri"/>
                <a:sym typeface="Calibri"/>
              </a:rPr>
              <a:t>17.5</a:t>
            </a:r>
            <a:r>
              <a:rPr b="0" i="0" lang="en" sz="700" u="none" cap="none" strike="noStrike">
                <a:latin typeface="Calibri"/>
                <a:ea typeface="Calibri"/>
                <a:cs typeface="Calibri"/>
                <a:sym typeface="Calibri"/>
              </a:rPr>
              <a:t> </a:t>
            </a:r>
            <a:r>
              <a:rPr b="0" i="0" lang="en" sz="400" u="none" cap="none" strike="noStrike">
                <a:solidFill>
                  <a:srgbClr val="2D2D2D"/>
                </a:solidFill>
                <a:latin typeface="Calibri"/>
                <a:ea typeface="Calibri"/>
                <a:cs typeface="Calibri"/>
                <a:sym typeface="Calibri"/>
              </a:rPr>
              <a:t>-</a:t>
            </a:r>
            <a:endParaRPr/>
          </a:p>
        </p:txBody>
      </p:sp>
      <p:sp>
        <p:nvSpPr>
          <p:cNvPr id="510" name="Google Shape;510;g377b8bda5b4_2_118"/>
          <p:cNvSpPr/>
          <p:nvPr/>
        </p:nvSpPr>
        <p:spPr>
          <a:xfrm>
            <a:off x="55329" y="3517465"/>
            <a:ext cx="7085786" cy="1354788"/>
          </a:xfrm>
          <a:prstGeom prst="rect">
            <a:avLst/>
          </a:prstGeom>
          <a:noFill/>
          <a:ln>
            <a:noFill/>
          </a:ln>
        </p:spPr>
        <p:txBody>
          <a:bodyPr anchorCtr="0" anchor="t" bIns="0" lIns="0" spcFirstLastPara="1" rIns="0" wrap="square" tIns="0">
            <a:noAutofit/>
          </a:bodyPr>
          <a:lstStyle/>
          <a:p>
            <a:pPr indent="0" lvl="0" marL="203200" marR="0" rtl="0" algn="just">
              <a:spcBef>
                <a:spcPts val="0"/>
              </a:spcBef>
              <a:spcAft>
                <a:spcPts val="0"/>
              </a:spcAft>
              <a:buNone/>
            </a:pPr>
            <a:r>
              <a:rPr b="0" i="0" lang="en" sz="700" u="none" cap="none" strike="noStrike">
                <a:solidFill>
                  <a:srgbClr val="3F3F3F"/>
                </a:solidFill>
                <a:latin typeface="Calibri"/>
                <a:ea typeface="Calibri"/>
                <a:cs typeface="Calibri"/>
                <a:sym typeface="Calibri"/>
              </a:rPr>
              <a:t>15.0</a:t>
            </a:r>
            <a:r>
              <a:rPr b="0" i="0" lang="en" sz="400" u="none" cap="none" strike="noStrike">
                <a:solidFill>
                  <a:srgbClr val="3F3F3F"/>
                </a:solidFill>
                <a:latin typeface="Calibri"/>
                <a:ea typeface="Calibri"/>
                <a:cs typeface="Calibri"/>
                <a:sym typeface="Calibri"/>
              </a:rPr>
              <a:t> -    --</a:t>
            </a:r>
            <a:endParaRPr/>
          </a:p>
          <a:p>
            <a:pPr indent="0" lvl="0" marL="1981200" marR="0" rtl="0" algn="just">
              <a:spcBef>
                <a:spcPts val="840"/>
              </a:spcBef>
              <a:spcAft>
                <a:spcPts val="0"/>
              </a:spcAft>
              <a:buNone/>
            </a:pPr>
            <a:r>
              <a:rPr b="1" i="0" lang="en" sz="650" u="none" cap="none" strike="noStrike">
                <a:solidFill>
                  <a:srgbClr val="3F3F3F"/>
                </a:solidFill>
                <a:latin typeface="Arial"/>
                <a:ea typeface="Arial"/>
                <a:cs typeface="Arial"/>
                <a:sym typeface="Arial"/>
              </a:rPr>
              <a:t>weekend    weekday</a:t>
            </a:r>
            <a:endParaRPr/>
          </a:p>
          <a:p>
            <a:pPr indent="0" lvl="0" marL="3556000" marR="0" rtl="0" algn="l">
              <a:spcBef>
                <a:spcPts val="0"/>
              </a:spcBef>
              <a:spcAft>
                <a:spcPts val="0"/>
              </a:spcAft>
              <a:buNone/>
            </a:pPr>
            <a:r>
              <a:rPr b="1" i="0" lang="en" sz="650" u="none" cap="none" strike="noStrike">
                <a:solidFill>
                  <a:srgbClr val="3F3F3F"/>
                </a:solidFill>
                <a:latin typeface="Arial"/>
                <a:ea typeface="Arial"/>
                <a:cs typeface="Arial"/>
                <a:sym typeface="Arial"/>
              </a:rPr>
              <a:t>day_of_the_week</a:t>
            </a:r>
            <a:endParaRPr/>
          </a:p>
          <a:p>
            <a:pPr indent="0" lvl="0" marL="0" marR="0" rtl="0" algn="l">
              <a:lnSpc>
                <a:spcPct val="118736"/>
              </a:lnSpc>
              <a:spcBef>
                <a:spcPts val="840"/>
              </a:spcBef>
              <a:spcAft>
                <a:spcPts val="0"/>
              </a:spcAft>
              <a:buNone/>
            </a:pPr>
            <a:r>
              <a:rPr b="1" i="0" lang="en" sz="850" u="none" cap="none" strike="noStrike">
                <a:latin typeface="Arial"/>
                <a:ea typeface="Arial"/>
                <a:cs typeface="Arial"/>
                <a:sym typeface="Arial"/>
              </a:rPr>
              <a:t>In [</a:t>
            </a:r>
            <a:r>
              <a:rPr b="1" i="0" lang="en" sz="950" u="none" cap="none" strike="noStrike">
                <a:latin typeface="Arial"/>
                <a:ea typeface="Arial"/>
                <a:cs typeface="Arial"/>
                <a:sym typeface="Arial"/>
              </a:rPr>
              <a:t>8</a:t>
            </a:r>
            <a:r>
              <a:rPr b="1" i="0" lang="en" sz="850" u="none" cap="none" strike="noStrike">
                <a:latin typeface="Arial"/>
                <a:ea typeface="Arial"/>
                <a:cs typeface="Arial"/>
                <a:sym typeface="Arial"/>
              </a:rPr>
              <a:t>]:</a:t>
            </a:r>
            <a:endParaRPr/>
          </a:p>
          <a:p>
            <a:pPr indent="0" lvl="0" marL="0" marR="1867407" rtl="0" algn="l">
              <a:lnSpc>
                <a:spcPct val="118736"/>
              </a:lnSpc>
              <a:spcBef>
                <a:spcPts val="0"/>
              </a:spcBef>
              <a:spcAft>
                <a:spcPts val="0"/>
              </a:spcAft>
              <a:buNone/>
            </a:pPr>
            <a:r>
              <a:rPr b="0" i="1" lang="en" sz="950" u="none" cap="none" strike="noStrike">
                <a:latin typeface="Arial"/>
                <a:ea typeface="Arial"/>
                <a:cs typeface="Arial"/>
                <a:sym typeface="Arial"/>
              </a:rPr>
              <a:t># Group by day_of_the_week and calculate min, avg, max delivery time </a:t>
            </a:r>
            <a:r>
              <a:rPr b="1" i="0" lang="en" sz="850" u="none" cap="none" strike="noStrike">
                <a:latin typeface="Arial"/>
                <a:ea typeface="Arial"/>
                <a:cs typeface="Arial"/>
                <a:sym typeface="Arial"/>
              </a:rPr>
              <a:t>delivery_time_stats = df.groupby('day_of_the_week')['delivery_time'].agg( min_time='min', avg_time='mean', max_time='max'</a:t>
            </a:r>
            <a:endParaRPr/>
          </a:p>
          <a:p>
            <a:pPr indent="0" lvl="0" marL="0" marR="0" rtl="0" algn="l">
              <a:spcBef>
                <a:spcPts val="0"/>
              </a:spcBef>
              <a:spcAft>
                <a:spcPts val="0"/>
              </a:spcAft>
              <a:buNone/>
            </a:pPr>
            <a:r>
              <a:rPr b="1" baseline="30000" i="0" lang="en" sz="850" u="none" cap="none" strike="noStrike">
                <a:latin typeface="Arial"/>
                <a:ea typeface="Arial"/>
                <a:cs typeface="Arial"/>
                <a:sym typeface="Arial"/>
              </a:rPr>
              <a:t>)</a:t>
            </a:r>
            <a:endParaRPr/>
          </a:p>
          <a:p>
            <a:pPr indent="0" lvl="0" marL="0" marR="0" rtl="0" algn="l">
              <a:spcBef>
                <a:spcPts val="840"/>
              </a:spcBef>
              <a:spcAft>
                <a:spcPts val="0"/>
              </a:spcAft>
              <a:buNone/>
            </a:pPr>
            <a:r>
              <a:rPr b="1" i="0" lang="en" sz="850" u="none" cap="none" strike="noStrike">
                <a:latin typeface="Arial"/>
                <a:ea typeface="Arial"/>
                <a:cs typeface="Arial"/>
                <a:sym typeface="Arial"/>
              </a:rPr>
              <a:t>print(delivery_time_stats)</a:t>
            </a:r>
            <a:endParaRPr/>
          </a:p>
          <a:p>
            <a:pPr indent="482600" lvl="0" marL="0" marR="4013708" rtl="0" algn="l">
              <a:lnSpc>
                <a:spcPct val="128000"/>
              </a:lnSpc>
              <a:spcBef>
                <a:spcPts val="420"/>
              </a:spcBef>
              <a:spcAft>
                <a:spcPts val="0"/>
              </a:spcAft>
              <a:buNone/>
            </a:pPr>
            <a:r>
              <a:rPr b="0" i="0" lang="en" sz="750" u="none" cap="none" strike="noStrike">
                <a:latin typeface="Arial"/>
                <a:ea typeface="Arial"/>
                <a:cs typeface="Arial"/>
                <a:sym typeface="Arial"/>
              </a:rPr>
              <a:t>min_time avg_time max_time day_of_the_week</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Weekday    24 28.340037    33</a:t>
            </a:r>
            <a:endParaRPr/>
          </a:p>
          <a:p>
            <a:pPr indent="0" lvl="0" marL="0" marR="0" rtl="0" algn="just">
              <a:lnSpc>
                <a:spcPct val="128000"/>
              </a:lnSpc>
              <a:spcBef>
                <a:spcPts val="0"/>
              </a:spcBef>
              <a:spcAft>
                <a:spcPts val="0"/>
              </a:spcAft>
              <a:buNone/>
            </a:pPr>
            <a:r>
              <a:rPr b="0" i="0" lang="en" sz="750" u="none" cap="none" strike="noStrike">
                <a:latin typeface="Arial"/>
                <a:ea typeface="Arial"/>
                <a:cs typeface="Arial"/>
                <a:sym typeface="Arial"/>
              </a:rPr>
              <a:t>Weekend    15 22.470022    30</a:t>
            </a:r>
            <a:endParaRPr/>
          </a:p>
          <a:p>
            <a:pPr indent="0" lvl="0" marL="0" marR="0" rtl="0" algn="just">
              <a:lnSpc>
                <a:spcPct val="135529"/>
              </a:lnSpc>
              <a:spcBef>
                <a:spcPts val="0"/>
              </a:spcBef>
              <a:spcAft>
                <a:spcPts val="0"/>
              </a:spcAft>
              <a:buNone/>
            </a:pPr>
            <a:r>
              <a:rPr b="1" i="0" lang="en" sz="850" u="none" cap="none" strike="noStrike">
                <a:latin typeface="Arial"/>
                <a:ea typeface="Arial"/>
                <a:cs typeface="Arial"/>
                <a:sym typeface="Arial"/>
              </a:rPr>
              <a:t>In [9]:</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#Run the below code and write your observations on thec</a:t>
            </a:r>
            <a:endParaRPr/>
          </a:p>
          <a:p>
            <a:pPr indent="0" lvl="0" marL="0" marR="0" rtl="0" algn="just">
              <a:lnSpc>
                <a:spcPct val="96000"/>
              </a:lnSpc>
              <a:spcBef>
                <a:spcPts val="0"/>
              </a:spcBef>
              <a:spcAft>
                <a:spcPts val="0"/>
              </a:spcAft>
              <a:buNone/>
            </a:pPr>
            <a:r>
              <a:rPr b="1" i="0" lang="en" sz="850" u="none" cap="none" strike="noStrike">
                <a:latin typeface="Arial"/>
                <a:ea typeface="Arial"/>
                <a:cs typeface="Arial"/>
                <a:sym typeface="Arial"/>
              </a:rPr>
              <a:t>df.groupby(['restaurant_name'])['cost_of_the_order'].sum</a:t>
            </a:r>
            <a:r>
              <a:rPr b="0" i="0" lang="en" sz="1200" u="none" cap="none" strike="noStrike">
                <a:latin typeface="Arial"/>
                <a:ea typeface="Arial"/>
                <a:cs typeface="Arial"/>
                <a:sym typeface="Arial"/>
              </a:rPr>
              <a:t>0</a:t>
            </a:r>
            <a:r>
              <a:rPr b="1" i="0" lang="en" sz="850" u="none" cap="none" strike="noStrike">
                <a:latin typeface="Arial"/>
                <a:ea typeface="Arial"/>
                <a:cs typeface="Arial"/>
                <a:sym typeface="Arial"/>
              </a:rPr>
              <a:t>.sort_values(ascending = False).head(14)</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pic>
        <p:nvPicPr>
          <p:cNvPr id="515" name="Google Shape;515;g377b8bda5b4_2_133"/>
          <p:cNvPicPr preferRelativeResize="0"/>
          <p:nvPr/>
        </p:nvPicPr>
        <p:blipFill rotWithShape="1">
          <a:blip r:embed="rId3">
            <a:alphaModFix/>
          </a:blip>
          <a:srcRect b="0" l="0" r="0" t="0"/>
          <a:stretch/>
        </p:blipFill>
        <p:spPr>
          <a:xfrm>
            <a:off x="73772" y="2686117"/>
            <a:ext cx="3576114" cy="1801986"/>
          </a:xfrm>
          <a:prstGeom prst="rect">
            <a:avLst/>
          </a:prstGeom>
          <a:noFill/>
          <a:ln>
            <a:noFill/>
          </a:ln>
        </p:spPr>
      </p:pic>
      <p:sp>
        <p:nvSpPr>
          <p:cNvPr id="516" name="Google Shape;516;g377b8bda5b4_2_133"/>
          <p:cNvSpPr/>
          <p:nvPr/>
        </p:nvSpPr>
        <p:spPr>
          <a:xfrm>
            <a:off x="59017" y="0"/>
            <a:ext cx="472140" cy="6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950" u="none" cap="none" strike="noStrike">
                <a:latin typeface="Arial"/>
                <a:ea typeface="Arial"/>
                <a:cs typeface="Arial"/>
                <a:sym typeface="Arial"/>
              </a:rPr>
              <a:t>Out[9]:</a:t>
            </a:r>
            <a:endParaRPr/>
          </a:p>
        </p:txBody>
      </p:sp>
      <p:sp>
        <p:nvSpPr>
          <p:cNvPr id="517" name="Google Shape;517;g377b8bda5b4_2_133"/>
          <p:cNvSpPr/>
          <p:nvPr/>
        </p:nvSpPr>
        <p:spPr>
          <a:xfrm>
            <a:off x="2353322" y="95304"/>
            <a:ext cx="1324205" cy="615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 sz="850" u="none" cap="none" strike="noStrike">
                <a:latin typeface="Arial"/>
                <a:ea typeface="Arial"/>
                <a:cs typeface="Arial"/>
                <a:sym typeface="Arial"/>
              </a:rPr>
              <a:t>cost of the order</a:t>
            </a:r>
            <a:endParaRPr/>
          </a:p>
        </p:txBody>
      </p:sp>
      <p:graphicFrame>
        <p:nvGraphicFramePr>
          <p:cNvPr id="518" name="Google Shape;518;g377b8bda5b4_2_133"/>
          <p:cNvGraphicFramePr/>
          <p:nvPr/>
        </p:nvGraphicFramePr>
        <p:xfrm>
          <a:off x="136478" y="227264"/>
          <a:ext cx="3000000" cy="3000000"/>
        </p:xfrm>
        <a:graphic>
          <a:graphicData uri="http://schemas.openxmlformats.org/drawingml/2006/table">
            <a:tbl>
              <a:tblPr>
                <a:noFill/>
                <a:tableStyleId>{027568D1-9BE7-4ABE-AB64-776F8D02060C}</a:tableStyleId>
              </a:tblPr>
              <a:tblGrid>
                <a:gridCol w="2541425"/>
                <a:gridCol w="992200"/>
              </a:tblGrid>
              <a:tr h="90900">
                <a:tc>
                  <a:txBody>
                    <a:bodyPr/>
                    <a:lstStyle/>
                    <a:p>
                      <a:pPr indent="0" lvl="0" marL="0" marR="177800" rtl="0" algn="r">
                        <a:spcBef>
                          <a:spcPts val="0"/>
                        </a:spcBef>
                        <a:spcAft>
                          <a:spcPts val="0"/>
                        </a:spcAft>
                        <a:buNone/>
                      </a:pPr>
                      <a:r>
                        <a:rPr b="1" lang="en" sz="400">
                          <a:latin typeface="Arial"/>
                          <a:ea typeface="Arial"/>
                          <a:cs typeface="Arial"/>
                          <a:sym typeface="Arial"/>
                        </a:rPr>
                        <a:t>restaurant_name</a:t>
                      </a:r>
                      <a:endParaRPr sz="700"/>
                    </a:p>
                  </a:txBody>
                  <a:tcPr marT="0" marB="0" marR="0" marL="0"/>
                </a:tc>
                <a:tc>
                  <a:txBody>
                    <a:bodyPr/>
                    <a:lstStyle/>
                    <a:p>
                      <a:pPr indent="0" lvl="0" marL="0" marR="0" rtl="0" algn="l">
                        <a:spcBef>
                          <a:spcPts val="0"/>
                        </a:spcBef>
                        <a:spcAft>
                          <a:spcPts val="0"/>
                        </a:spcAft>
                        <a:buNone/>
                      </a:pPr>
                      <a:r>
                        <a:t/>
                      </a:r>
                      <a:endParaRPr sz="400"/>
                    </a:p>
                  </a:txBody>
                  <a:tcPr marT="0" marB="0" marR="0" marL="0"/>
                </a:tc>
              </a:tr>
              <a:tr h="129025">
                <a:tc>
                  <a:txBody>
                    <a:bodyPr/>
                    <a:lstStyle/>
                    <a:p>
                      <a:pPr indent="0" lvl="0" marL="0" marR="177800" rtl="0" algn="r">
                        <a:spcBef>
                          <a:spcPts val="0"/>
                        </a:spcBef>
                        <a:spcAft>
                          <a:spcPts val="0"/>
                        </a:spcAft>
                        <a:buNone/>
                      </a:pPr>
                      <a:r>
                        <a:rPr b="1" lang="en" sz="400">
                          <a:latin typeface="Arial"/>
                          <a:ea typeface="Arial"/>
                          <a:cs typeface="Arial"/>
                          <a:sym typeface="Arial"/>
                        </a:rPr>
                        <a:t>Shake Shack</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3579.53</a:t>
                      </a:r>
                      <a:endParaRPr sz="700"/>
                    </a:p>
                  </a:txBody>
                  <a:tcPr marT="0" marB="0" marR="0" marL="0" anchor="ctr"/>
                </a:tc>
              </a:tr>
              <a:tr h="129025">
                <a:tc>
                  <a:txBody>
                    <a:bodyPr/>
                    <a:lstStyle/>
                    <a:p>
                      <a:pPr indent="0" lvl="0" marL="0" marR="177800" rtl="0" algn="r">
                        <a:spcBef>
                          <a:spcPts val="0"/>
                        </a:spcBef>
                        <a:spcAft>
                          <a:spcPts val="0"/>
                        </a:spcAft>
                        <a:buNone/>
                      </a:pPr>
                      <a:r>
                        <a:rPr b="1" lang="en" sz="400">
                          <a:latin typeface="Arial"/>
                          <a:ea typeface="Arial"/>
                          <a:cs typeface="Arial"/>
                          <a:sym typeface="Arial"/>
                        </a:rPr>
                        <a:t>The Meatball Shop</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2145.21</a:t>
                      </a:r>
                      <a:endParaRPr sz="700"/>
                    </a:p>
                  </a:txBody>
                  <a:tcPr marT="0" marB="0" marR="0" marL="0" anchor="ctr"/>
                </a:tc>
              </a:tr>
              <a:tr h="127550">
                <a:tc>
                  <a:txBody>
                    <a:bodyPr/>
                    <a:lstStyle/>
                    <a:p>
                      <a:pPr indent="0" lvl="0" marL="0" marR="177800" rtl="0" algn="r">
                        <a:spcBef>
                          <a:spcPts val="0"/>
                        </a:spcBef>
                        <a:spcAft>
                          <a:spcPts val="0"/>
                        </a:spcAft>
                        <a:buNone/>
                      </a:pPr>
                      <a:r>
                        <a:rPr b="1" lang="en" sz="400">
                          <a:latin typeface="Arial"/>
                          <a:ea typeface="Arial"/>
                          <a:cs typeface="Arial"/>
                          <a:sym typeface="Arial"/>
                        </a:rPr>
                        <a:t>Blue Ribbon Sushi</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1903.95</a:t>
                      </a:r>
                      <a:endParaRPr sz="700"/>
                    </a:p>
                  </a:txBody>
                  <a:tcPr marT="0" marB="0" marR="0" marL="0" anchor="ctr"/>
                </a:tc>
              </a:tr>
              <a:tr h="127550">
                <a:tc>
                  <a:txBody>
                    <a:bodyPr/>
                    <a:lstStyle/>
                    <a:p>
                      <a:pPr indent="0" lvl="0" marL="0" marR="177800" rtl="0" algn="r">
                        <a:spcBef>
                          <a:spcPts val="0"/>
                        </a:spcBef>
                        <a:spcAft>
                          <a:spcPts val="0"/>
                        </a:spcAft>
                        <a:buNone/>
                      </a:pPr>
                      <a:r>
                        <a:rPr b="1" lang="en" sz="400">
                          <a:latin typeface="Arial"/>
                          <a:ea typeface="Arial"/>
                          <a:cs typeface="Arial"/>
                          <a:sym typeface="Arial"/>
                        </a:rPr>
                        <a:t>Blue Ribbon Fried Chicken</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1662.29</a:t>
                      </a:r>
                      <a:endParaRPr sz="700"/>
                    </a:p>
                  </a:txBody>
                  <a:tcPr marT="0" marB="0" marR="0" marL="0" anchor="ctr"/>
                </a:tc>
              </a:tr>
              <a:tr h="127550">
                <a:tc>
                  <a:txBody>
                    <a:bodyPr/>
                    <a:lstStyle/>
                    <a:p>
                      <a:pPr indent="0" lvl="0" marL="0" marR="177800" rtl="0" algn="r">
                        <a:spcBef>
                          <a:spcPts val="0"/>
                        </a:spcBef>
                        <a:spcAft>
                          <a:spcPts val="0"/>
                        </a:spcAft>
                        <a:buNone/>
                      </a:pPr>
                      <a:r>
                        <a:rPr b="1" lang="en" sz="400">
                          <a:latin typeface="Arial"/>
                          <a:ea typeface="Arial"/>
                          <a:cs typeface="Arial"/>
                          <a:sym typeface="Arial"/>
                        </a:rPr>
                        <a:t>Parm</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1112.76</a:t>
                      </a:r>
                      <a:endParaRPr sz="700"/>
                    </a:p>
                  </a:txBody>
                  <a:tcPr marT="0" marB="0" marR="0" marL="0" anchor="ctr"/>
                </a:tc>
              </a:tr>
              <a:tr h="133425">
                <a:tc>
                  <a:txBody>
                    <a:bodyPr/>
                    <a:lstStyle/>
                    <a:p>
                      <a:pPr indent="0" lvl="0" marL="0" marR="177800" rtl="0" algn="r">
                        <a:spcBef>
                          <a:spcPts val="0"/>
                        </a:spcBef>
                        <a:spcAft>
                          <a:spcPts val="0"/>
                        </a:spcAft>
                        <a:buNone/>
                      </a:pPr>
                      <a:r>
                        <a:rPr b="1" lang="en" sz="400">
                          <a:latin typeface="Arial"/>
                          <a:ea typeface="Arial"/>
                          <a:cs typeface="Arial"/>
                          <a:sym typeface="Arial"/>
                        </a:rPr>
                        <a:t>RedFarm Broadway</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965.13</a:t>
                      </a:r>
                      <a:endParaRPr sz="700"/>
                    </a:p>
                  </a:txBody>
                  <a:tcPr marT="0" marB="0" marR="0" marL="0" anchor="ctr"/>
                </a:tc>
              </a:tr>
              <a:tr h="124625">
                <a:tc>
                  <a:txBody>
                    <a:bodyPr/>
                    <a:lstStyle/>
                    <a:p>
                      <a:pPr indent="0" lvl="0" marL="0" marR="177800" rtl="0" algn="r">
                        <a:spcBef>
                          <a:spcPts val="0"/>
                        </a:spcBef>
                        <a:spcAft>
                          <a:spcPts val="0"/>
                        </a:spcAft>
                        <a:buNone/>
                      </a:pPr>
                      <a:r>
                        <a:rPr b="1" lang="en" sz="400">
                          <a:latin typeface="Arial"/>
                          <a:ea typeface="Arial"/>
                          <a:cs typeface="Arial"/>
                          <a:sym typeface="Arial"/>
                        </a:rPr>
                        <a:t>RedFarm Hudson</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921.21</a:t>
                      </a:r>
                      <a:endParaRPr sz="700"/>
                    </a:p>
                  </a:txBody>
                  <a:tcPr marT="0" marB="0" marR="0" marL="0" anchor="ctr"/>
                </a:tc>
              </a:tr>
              <a:tr h="129025">
                <a:tc>
                  <a:txBody>
                    <a:bodyPr/>
                    <a:lstStyle/>
                    <a:p>
                      <a:pPr indent="0" lvl="0" marL="0" marR="177800" rtl="0" algn="r">
                        <a:spcBef>
                          <a:spcPts val="0"/>
                        </a:spcBef>
                        <a:spcAft>
                          <a:spcPts val="0"/>
                        </a:spcAft>
                        <a:buNone/>
                      </a:pPr>
                      <a:r>
                        <a:rPr b="1" lang="en" sz="400">
                          <a:latin typeface="Arial"/>
                          <a:ea typeface="Arial"/>
                          <a:cs typeface="Arial"/>
                          <a:sym typeface="Arial"/>
                        </a:rPr>
                        <a:t>TAO</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834.50</a:t>
                      </a:r>
                      <a:endParaRPr sz="700"/>
                    </a:p>
                  </a:txBody>
                  <a:tcPr marT="0" marB="0" marR="0" marL="0" anchor="ctr"/>
                </a:tc>
              </a:tr>
              <a:tr h="130475">
                <a:tc>
                  <a:txBody>
                    <a:bodyPr/>
                    <a:lstStyle/>
                    <a:p>
                      <a:pPr indent="0" lvl="0" marL="0" marR="177800" rtl="0" algn="r">
                        <a:spcBef>
                          <a:spcPts val="0"/>
                        </a:spcBef>
                        <a:spcAft>
                          <a:spcPts val="0"/>
                        </a:spcAft>
                        <a:buNone/>
                      </a:pPr>
                      <a:r>
                        <a:rPr b="1" lang="en" sz="400">
                          <a:latin typeface="Arial"/>
                          <a:ea typeface="Arial"/>
                          <a:cs typeface="Arial"/>
                          <a:sym typeface="Arial"/>
                        </a:rPr>
                        <a:t>Han Dynasty</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755.29</a:t>
                      </a:r>
                      <a:endParaRPr sz="700"/>
                    </a:p>
                  </a:txBody>
                  <a:tcPr marT="0" marB="0" marR="0" marL="0" anchor="ctr"/>
                </a:tc>
              </a:tr>
              <a:tr h="124625">
                <a:tc>
                  <a:txBody>
                    <a:bodyPr/>
                    <a:lstStyle/>
                    <a:p>
                      <a:pPr indent="0" lvl="0" marL="0" marR="177800" rtl="0" algn="r">
                        <a:spcBef>
                          <a:spcPts val="0"/>
                        </a:spcBef>
                        <a:spcAft>
                          <a:spcPts val="0"/>
                        </a:spcAft>
                        <a:buNone/>
                      </a:pPr>
                      <a:r>
                        <a:rPr b="1" lang="en" sz="400">
                          <a:latin typeface="Arial"/>
                          <a:ea typeface="Arial"/>
                          <a:cs typeface="Arial"/>
                          <a:sym typeface="Arial"/>
                        </a:rPr>
                        <a:t>Blue Ribbon Sushi Bar &amp; Grill</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666.62</a:t>
                      </a:r>
                      <a:endParaRPr sz="700"/>
                    </a:p>
                  </a:txBody>
                  <a:tcPr marT="0" marB="0" marR="0" marL="0" anchor="ctr"/>
                </a:tc>
              </a:tr>
              <a:tr h="129025">
                <a:tc>
                  <a:txBody>
                    <a:bodyPr/>
                    <a:lstStyle/>
                    <a:p>
                      <a:pPr indent="0" lvl="0" marL="0" marR="177800" rtl="0" algn="r">
                        <a:spcBef>
                          <a:spcPts val="0"/>
                        </a:spcBef>
                        <a:spcAft>
                          <a:spcPts val="0"/>
                        </a:spcAft>
                        <a:buNone/>
                      </a:pPr>
                      <a:r>
                        <a:rPr b="1" lang="en" sz="400">
                          <a:latin typeface="Arial"/>
                          <a:ea typeface="Arial"/>
                          <a:cs typeface="Arial"/>
                          <a:sym typeface="Arial"/>
                        </a:rPr>
                        <a:t>Rubirosa</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660.45</a:t>
                      </a:r>
                      <a:endParaRPr sz="700"/>
                    </a:p>
                  </a:txBody>
                  <a:tcPr marT="0" marB="0" marR="0" marL="0" anchor="ctr"/>
                </a:tc>
              </a:tr>
              <a:tr h="127550">
                <a:tc>
                  <a:txBody>
                    <a:bodyPr/>
                    <a:lstStyle/>
                    <a:p>
                      <a:pPr indent="0" lvl="0" marL="0" marR="177800" rtl="0" algn="r">
                        <a:spcBef>
                          <a:spcPts val="0"/>
                        </a:spcBef>
                        <a:spcAft>
                          <a:spcPts val="0"/>
                        </a:spcAft>
                        <a:buNone/>
                      </a:pPr>
                      <a:r>
                        <a:rPr b="1" lang="en" sz="400">
                          <a:latin typeface="Arial"/>
                          <a:ea typeface="Arial"/>
                          <a:cs typeface="Arial"/>
                          <a:sym typeface="Arial"/>
                        </a:rPr>
                        <a:t>Sushi of Gari 46</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640.87</a:t>
                      </a:r>
                      <a:endParaRPr sz="700"/>
                    </a:p>
                  </a:txBody>
                  <a:tcPr marT="0" marB="0" marR="0" marL="0" anchor="ctr"/>
                </a:tc>
              </a:tr>
              <a:tr h="129025">
                <a:tc>
                  <a:txBody>
                    <a:bodyPr/>
                    <a:lstStyle/>
                    <a:p>
                      <a:pPr indent="0" lvl="0" marL="0" marR="177800" rtl="0" algn="r">
                        <a:spcBef>
                          <a:spcPts val="0"/>
                        </a:spcBef>
                        <a:spcAft>
                          <a:spcPts val="0"/>
                        </a:spcAft>
                        <a:buNone/>
                      </a:pPr>
                      <a:r>
                        <a:rPr b="1" lang="en" sz="400">
                          <a:latin typeface="Arial"/>
                          <a:ea typeface="Arial"/>
                          <a:cs typeface="Arial"/>
                          <a:sym typeface="Arial"/>
                        </a:rPr>
                        <a:t>Nobu Next Door</a:t>
                      </a:r>
                      <a:endParaRPr sz="700"/>
                    </a:p>
                  </a:txBody>
                  <a:tcPr marT="0" marB="0" marR="0" marL="0" anchor="ctr"/>
                </a:tc>
                <a:tc>
                  <a:txBody>
                    <a:bodyPr/>
                    <a:lstStyle/>
                    <a:p>
                      <a:pPr indent="0" lvl="0" marL="0" marR="0" rtl="0" algn="r">
                        <a:spcBef>
                          <a:spcPts val="0"/>
                        </a:spcBef>
                        <a:spcAft>
                          <a:spcPts val="0"/>
                        </a:spcAft>
                        <a:buNone/>
                      </a:pPr>
                      <a:r>
                        <a:rPr b="1" lang="en" sz="400">
                          <a:latin typeface="Arial"/>
                          <a:ea typeface="Arial"/>
                          <a:cs typeface="Arial"/>
                          <a:sym typeface="Arial"/>
                        </a:rPr>
                        <a:t>623.67</a:t>
                      </a:r>
                      <a:endParaRPr sz="700"/>
                    </a:p>
                  </a:txBody>
                  <a:tcPr marT="0" marB="0" marR="0" marL="0" anchor="ctr"/>
                </a:tc>
              </a:tr>
              <a:tr h="107025">
                <a:tc>
                  <a:txBody>
                    <a:bodyPr/>
                    <a:lstStyle/>
                    <a:p>
                      <a:pPr indent="0" lvl="0" marL="0" marR="177800" rtl="0" algn="r">
                        <a:spcBef>
                          <a:spcPts val="0"/>
                        </a:spcBef>
                        <a:spcAft>
                          <a:spcPts val="0"/>
                        </a:spcAft>
                        <a:buNone/>
                      </a:pPr>
                      <a:r>
                        <a:rPr b="1" lang="en" sz="400">
                          <a:latin typeface="Arial"/>
                          <a:ea typeface="Arial"/>
                          <a:cs typeface="Arial"/>
                          <a:sym typeface="Arial"/>
                        </a:rPr>
                        <a:t>Five Guys Burgers and Fries</a:t>
                      </a:r>
                      <a:endParaRPr sz="700"/>
                    </a:p>
                  </a:txBody>
                  <a:tcPr marT="0" marB="0" marR="0" marL="0" anchor="b"/>
                </a:tc>
                <a:tc>
                  <a:txBody>
                    <a:bodyPr/>
                    <a:lstStyle/>
                    <a:p>
                      <a:pPr indent="0" lvl="0" marL="0" marR="0" rtl="0" algn="r">
                        <a:spcBef>
                          <a:spcPts val="0"/>
                        </a:spcBef>
                        <a:spcAft>
                          <a:spcPts val="0"/>
                        </a:spcAft>
                        <a:buNone/>
                      </a:pPr>
                      <a:r>
                        <a:rPr b="1" lang="en" sz="400">
                          <a:latin typeface="Arial"/>
                          <a:ea typeface="Arial"/>
                          <a:cs typeface="Arial"/>
                          <a:sym typeface="Arial"/>
                        </a:rPr>
                        <a:t>506.47</a:t>
                      </a:r>
                      <a:endParaRPr sz="700"/>
                    </a:p>
                  </a:txBody>
                  <a:tcPr marT="0" marB="0" marR="0" marL="0" anchor="b"/>
                </a:tc>
              </a:tr>
            </a:tbl>
          </a:graphicData>
        </a:graphic>
      </p:graphicFrame>
      <p:sp>
        <p:nvSpPr>
          <p:cNvPr id="519" name="Google Shape;519;g377b8bda5b4_2_133"/>
          <p:cNvSpPr/>
          <p:nvPr/>
        </p:nvSpPr>
        <p:spPr>
          <a:xfrm>
            <a:off x="55329" y="2247717"/>
            <a:ext cx="3463588" cy="420806"/>
          </a:xfrm>
          <a:prstGeom prst="rect">
            <a:avLst/>
          </a:prstGeom>
          <a:noFill/>
          <a:ln>
            <a:noFill/>
          </a:ln>
        </p:spPr>
        <p:txBody>
          <a:bodyPr anchorCtr="0" anchor="t" bIns="0" lIns="0" spcFirstLastPara="1" rIns="0" wrap="square" tIns="0">
            <a:noAutofit/>
          </a:bodyPr>
          <a:lstStyle/>
          <a:p>
            <a:pPr indent="0" lvl="0" marL="0" marR="2087372" rtl="0" algn="l">
              <a:lnSpc>
                <a:spcPct val="132705"/>
              </a:lnSpc>
              <a:spcBef>
                <a:spcPts val="0"/>
              </a:spcBef>
              <a:spcAft>
                <a:spcPts val="0"/>
              </a:spcAft>
              <a:buNone/>
            </a:pPr>
            <a:r>
              <a:rPr b="1" i="0" lang="en" sz="850" u="none" cap="none" strike="noStrike">
                <a:latin typeface="Arial"/>
                <a:ea typeface="Arial"/>
                <a:cs typeface="Arial"/>
                <a:sym typeface="Arial"/>
              </a:rPr>
              <a:t>dtype: float64 In [10]:</a:t>
            </a:r>
            <a:endParaRPr/>
          </a:p>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Relationship between rating and delivery time </a:t>
            </a:r>
            <a:r>
              <a:rPr b="1" i="0" lang="en" sz="850" u="none" cap="none" strike="noStrike">
                <a:latin typeface="Arial"/>
                <a:ea typeface="Arial"/>
                <a:cs typeface="Arial"/>
                <a:sym typeface="Arial"/>
              </a:rPr>
              <a:t>plt.figure(figsize=(15, 7))</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sns.pointplot(x = 'rating', y = 'delivery_time', data = df) plt.show()</a:t>
            </a:r>
            <a:endParaRPr/>
          </a:p>
        </p:txBody>
      </p:sp>
      <p:sp>
        <p:nvSpPr>
          <p:cNvPr id="520" name="Google Shape;520;g377b8bda5b4_2_133"/>
          <p:cNvSpPr/>
          <p:nvPr/>
        </p:nvSpPr>
        <p:spPr>
          <a:xfrm>
            <a:off x="55329" y="4495435"/>
            <a:ext cx="4098026" cy="133426"/>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1" lang="en" sz="950" u="none" cap="none" strike="noStrike">
                <a:latin typeface="Arial"/>
                <a:ea typeface="Arial"/>
                <a:cs typeface="Arial"/>
                <a:sym typeface="Arial"/>
              </a:rPr>
              <a:t>#    Replace 'Notgiven' with NaN</a:t>
            </a:r>
            <a:endParaRPr/>
          </a:p>
          <a:p>
            <a:pPr indent="0" lvl="0" marL="0" marR="0" rtl="0" algn="just">
              <a:spcBef>
                <a:spcPts val="210"/>
              </a:spcBef>
              <a:spcAft>
                <a:spcPts val="0"/>
              </a:spcAft>
              <a:buNone/>
            </a:pPr>
            <a:r>
              <a:rPr b="1" i="0" lang="en" sz="850" u="none" cap="none" strike="noStrike">
                <a:latin typeface="Arial"/>
                <a:ea typeface="Arial"/>
                <a:cs typeface="Arial"/>
                <a:sym typeface="Arial"/>
              </a:rPr>
              <a:t>df['rating'] = df['rating'].replace('Not given', pd.NA)</a:t>
            </a:r>
            <a:endParaRPr/>
          </a:p>
        </p:txBody>
      </p:sp>
      <p:sp>
        <p:nvSpPr>
          <p:cNvPr id="521" name="Google Shape;521;g377b8bda5b4_2_133"/>
          <p:cNvSpPr/>
          <p:nvPr/>
        </p:nvSpPr>
        <p:spPr>
          <a:xfrm>
            <a:off x="55329" y="4710969"/>
            <a:ext cx="4098026" cy="414941"/>
          </a:xfrm>
          <a:prstGeom prst="rect">
            <a:avLst/>
          </a:prstGeom>
          <a:noFill/>
          <a:ln>
            <a:noFill/>
          </a:ln>
        </p:spPr>
        <p:txBody>
          <a:bodyPr anchorCtr="0" anchor="t" bIns="0" lIns="0" spcFirstLastPara="1" rIns="0" wrap="square" tIns="0">
            <a:noAutofit/>
          </a:bodyPr>
          <a:lstStyle/>
          <a:p>
            <a:pPr indent="0" lvl="0" marL="0" marR="1379728" rtl="0" algn="l">
              <a:lnSpc>
                <a:spcPct val="118736"/>
              </a:lnSpc>
              <a:spcBef>
                <a:spcPts val="0"/>
              </a:spcBef>
              <a:spcAft>
                <a:spcPts val="0"/>
              </a:spcAft>
              <a:buNone/>
            </a:pPr>
            <a:r>
              <a:rPr b="0" i="1" lang="en" sz="950" u="none" cap="none" strike="noStrike">
                <a:latin typeface="Arial"/>
                <a:ea typeface="Arial"/>
                <a:cs typeface="Arial"/>
                <a:sym typeface="Arial"/>
              </a:rPr>
              <a:t>#    Convert rating column to numeric </a:t>
            </a:r>
            <a:r>
              <a:rPr b="1" i="0" lang="en" sz="850" u="none" cap="none" strike="noStrike">
                <a:latin typeface="Arial"/>
                <a:ea typeface="Arial"/>
                <a:cs typeface="Arial"/>
                <a:sym typeface="Arial"/>
              </a:rPr>
              <a:t>df['rating'] = pd.to_numeric(df['rating'])</a:t>
            </a:r>
            <a:endParaRPr/>
          </a:p>
          <a:p>
            <a:pPr indent="0" lvl="0" marL="0" marR="0" rtl="0" algn="just">
              <a:lnSpc>
                <a:spcPct val="118736"/>
              </a:lnSpc>
              <a:spcBef>
                <a:spcPts val="630"/>
              </a:spcBef>
              <a:spcAft>
                <a:spcPts val="0"/>
              </a:spcAft>
              <a:buNone/>
            </a:pPr>
            <a:r>
              <a:rPr b="0" i="1" lang="en" sz="950" u="none" cap="none" strike="noStrike">
                <a:latin typeface="Arial"/>
                <a:ea typeface="Arial"/>
                <a:cs typeface="Arial"/>
                <a:sym typeface="Arial"/>
              </a:rPr>
              <a:t>#    Now check correlation</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correlation = df['rating'].corr(df['delivery_time']) print("Correlation between rating &amp; delivery_time:", correlation)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pic>
        <p:nvPicPr>
          <p:cNvPr id="526" name="Google Shape;526;g377b8bda5b4_2_143"/>
          <p:cNvPicPr preferRelativeResize="0"/>
          <p:nvPr/>
        </p:nvPicPr>
        <p:blipFill rotWithShape="1">
          <a:blip r:embed="rId3">
            <a:alphaModFix/>
          </a:blip>
          <a:srcRect b="0" l="0" r="0" t="0"/>
          <a:stretch/>
        </p:blipFill>
        <p:spPr>
          <a:xfrm>
            <a:off x="73772" y="494117"/>
            <a:ext cx="3576114" cy="1812250"/>
          </a:xfrm>
          <a:prstGeom prst="rect">
            <a:avLst/>
          </a:prstGeom>
          <a:noFill/>
          <a:ln>
            <a:noFill/>
          </a:ln>
        </p:spPr>
      </p:pic>
      <p:pic>
        <p:nvPicPr>
          <p:cNvPr id="527" name="Google Shape;527;g377b8bda5b4_2_143"/>
          <p:cNvPicPr preferRelativeResize="0"/>
          <p:nvPr/>
        </p:nvPicPr>
        <p:blipFill rotWithShape="1">
          <a:blip r:embed="rId4">
            <a:alphaModFix/>
          </a:blip>
          <a:srcRect b="0" l="0" r="0" t="0"/>
          <a:stretch/>
        </p:blipFill>
        <p:spPr>
          <a:xfrm>
            <a:off x="73772" y="2683185"/>
            <a:ext cx="3576114" cy="1812250"/>
          </a:xfrm>
          <a:prstGeom prst="rect">
            <a:avLst/>
          </a:prstGeom>
          <a:noFill/>
          <a:ln>
            <a:noFill/>
          </a:ln>
        </p:spPr>
      </p:pic>
      <p:sp>
        <p:nvSpPr>
          <p:cNvPr id="528" name="Google Shape;528;g377b8bda5b4_2_143"/>
          <p:cNvSpPr/>
          <p:nvPr/>
        </p:nvSpPr>
        <p:spPr>
          <a:xfrm>
            <a:off x="55329" y="0"/>
            <a:ext cx="9037051" cy="4765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750" u="none" cap="none" strike="noStrike">
                <a:latin typeface="Arial"/>
                <a:ea typeface="Arial"/>
                <a:cs typeface="Arial"/>
                <a:sym typeface="Arial"/>
              </a:rPr>
              <a:t>Correlation between rating &amp; delivery_time: -0.009804253948165316</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In [19]:</a:t>
            </a:r>
            <a:endParaRPr/>
          </a:p>
          <a:p>
            <a:pPr indent="0" lvl="0" marL="0" marR="4419600" rtl="0" algn="l">
              <a:lnSpc>
                <a:spcPct val="118736"/>
              </a:lnSpc>
              <a:spcBef>
                <a:spcPts val="0"/>
              </a:spcBef>
              <a:spcAft>
                <a:spcPts val="0"/>
              </a:spcAft>
              <a:buNone/>
            </a:pPr>
            <a:r>
              <a:rPr b="0" i="1" lang="en" sz="950" u="none" cap="none" strike="noStrike">
                <a:latin typeface="Arial"/>
                <a:ea typeface="Arial"/>
                <a:cs typeface="Arial"/>
                <a:sym typeface="Arial"/>
              </a:rPr>
              <a:t>#Rating vs Food preparation time # Relationship between rating and food preparation time </a:t>
            </a:r>
            <a:r>
              <a:rPr b="1" i="0" lang="en" sz="850" u="none" cap="none" strike="noStrike">
                <a:latin typeface="Arial"/>
                <a:ea typeface="Arial"/>
                <a:cs typeface="Arial"/>
                <a:sym typeface="Arial"/>
              </a:rPr>
              <a:t>plt.figure(figsize=(15, 7))</a:t>
            </a:r>
            <a:endParaRPr/>
          </a:p>
          <a:p>
            <a:pPr indent="0" lvl="0" marL="0" marR="0" rtl="0" algn="just">
              <a:lnSpc>
                <a:spcPct val="118736"/>
              </a:lnSpc>
              <a:spcBef>
                <a:spcPts val="0"/>
              </a:spcBef>
              <a:spcAft>
                <a:spcPts val="0"/>
              </a:spcAft>
              <a:buNone/>
            </a:pPr>
            <a:r>
              <a:rPr b="1" i="0" lang="en" sz="850" u="none" cap="none" strike="noStrike">
                <a:latin typeface="Arial"/>
                <a:ea typeface="Arial"/>
                <a:cs typeface="Arial"/>
                <a:sym typeface="Arial"/>
              </a:rPr>
              <a:t>sns.pointplot(x = 'rating', y = 'food_preparation_time', data = df) </a:t>
            </a:r>
            <a:r>
              <a:rPr b="0" i="1" lang="en" sz="950" u="none" cap="none" strike="noStrike">
                <a:latin typeface="Arial"/>
                <a:ea typeface="Arial"/>
                <a:cs typeface="Arial"/>
                <a:sym typeface="Arial"/>
              </a:rPr>
              <a:t>## Complete the code to visualize the relationship between rating and food </a:t>
            </a:r>
            <a:r>
              <a:rPr b="1" i="0" lang="en" sz="850" u="none" cap="none" strike="noStrike">
                <a:latin typeface="Arial"/>
                <a:ea typeface="Arial"/>
                <a:cs typeface="Arial"/>
                <a:sym typeface="Arial"/>
              </a:rPr>
              <a:t>plt.show()</a:t>
            </a:r>
            <a:endParaRPr/>
          </a:p>
        </p:txBody>
      </p:sp>
      <p:sp>
        <p:nvSpPr>
          <p:cNvPr id="529" name="Google Shape;529;g377b8bda5b4_2_143"/>
          <p:cNvSpPr/>
          <p:nvPr/>
        </p:nvSpPr>
        <p:spPr>
          <a:xfrm>
            <a:off x="55329" y="2312231"/>
            <a:ext cx="9037051" cy="353359"/>
          </a:xfrm>
          <a:prstGeom prst="rect">
            <a:avLst/>
          </a:prstGeom>
          <a:noFill/>
          <a:ln>
            <a:noFill/>
          </a:ln>
        </p:spPr>
        <p:txBody>
          <a:bodyPr anchorCtr="0" anchor="t" bIns="0" lIns="0" spcFirstLastPara="1" rIns="0" wrap="square" tIns="0">
            <a:noAutofit/>
          </a:bodyPr>
          <a:lstStyle/>
          <a:p>
            <a:pPr indent="0" lvl="0" marL="0" marR="4686300" rtl="0" algn="l">
              <a:lnSpc>
                <a:spcPct val="118736"/>
              </a:lnSpc>
              <a:spcBef>
                <a:spcPts val="0"/>
              </a:spcBef>
              <a:spcAft>
                <a:spcPts val="0"/>
              </a:spcAft>
              <a:buNone/>
            </a:pPr>
            <a:r>
              <a:rPr b="0" i="1" lang="en" sz="950" u="none" cap="none" strike="noStrike">
                <a:latin typeface="Arial"/>
                <a:ea typeface="Arial"/>
                <a:cs typeface="Arial"/>
                <a:sym typeface="Arial"/>
              </a:rPr>
              <a:t>#Rating vs Cost of the order # Relationship between rating and cost of the order </a:t>
            </a:r>
            <a:r>
              <a:rPr b="1" i="0" lang="en" sz="850" u="none" cap="none" strike="noStrike">
                <a:latin typeface="Arial"/>
                <a:ea typeface="Arial"/>
                <a:cs typeface="Arial"/>
                <a:sym typeface="Arial"/>
              </a:rPr>
              <a:t>plt.figure(figsize=(15, 7))</a:t>
            </a:r>
            <a:endParaRPr/>
          </a:p>
          <a:p>
            <a:pPr indent="0" lvl="0" marL="0" marR="0" rtl="0" algn="just">
              <a:lnSpc>
                <a:spcPct val="118736"/>
              </a:lnSpc>
              <a:spcBef>
                <a:spcPts val="0"/>
              </a:spcBef>
              <a:spcAft>
                <a:spcPts val="0"/>
              </a:spcAft>
              <a:buNone/>
            </a:pPr>
            <a:r>
              <a:rPr b="1" i="0" lang="en" sz="850" u="none" cap="none" strike="noStrike">
                <a:latin typeface="Arial"/>
                <a:ea typeface="Arial"/>
                <a:cs typeface="Arial"/>
                <a:sym typeface="Arial"/>
              </a:rPr>
              <a:t>sns.pointplot(x='rating', y='cost_of_the_order', data=df,order=["Not given", 1,2, 3, 4, 5]) </a:t>
            </a:r>
            <a:r>
              <a:rPr b="0" i="1" lang="en" sz="950" u="none" cap="none" strike="noStrike">
                <a:latin typeface="Arial"/>
                <a:ea typeface="Arial"/>
                <a:cs typeface="Arial"/>
                <a:sym typeface="Arial"/>
              </a:rPr>
              <a:t>## Complete the code to visualize the relationship b </a:t>
            </a:r>
            <a:r>
              <a:rPr b="1" i="0" lang="en" sz="850" u="none" cap="none" strike="noStrike">
                <a:latin typeface="Arial"/>
                <a:ea typeface="Arial"/>
                <a:cs typeface="Arial"/>
                <a:sym typeface="Arial"/>
              </a:rPr>
              <a:t>plt.show()</a:t>
            </a:r>
            <a:endParaRPr/>
          </a:p>
        </p:txBody>
      </p:sp>
      <p:sp>
        <p:nvSpPr>
          <p:cNvPr id="530" name="Google Shape;530;g377b8bda5b4_2_143"/>
          <p:cNvSpPr/>
          <p:nvPr/>
        </p:nvSpPr>
        <p:spPr>
          <a:xfrm>
            <a:off x="55329" y="4501299"/>
            <a:ext cx="5842730" cy="422272"/>
          </a:xfrm>
          <a:prstGeom prst="rect">
            <a:avLst/>
          </a:prstGeom>
          <a:noFill/>
          <a:ln>
            <a:noFill/>
          </a:ln>
        </p:spPr>
        <p:txBody>
          <a:bodyPr anchorCtr="0" anchor="t" bIns="0" lIns="0" spcFirstLastPara="1" rIns="0" wrap="square" tIns="0">
            <a:noAutofit/>
          </a:bodyPr>
          <a:lstStyle/>
          <a:p>
            <a:pPr indent="0" lvl="0" marL="0" marR="1780032" rtl="0" algn="l">
              <a:lnSpc>
                <a:spcPct val="118736"/>
              </a:lnSpc>
              <a:spcBef>
                <a:spcPts val="0"/>
              </a:spcBef>
              <a:spcAft>
                <a:spcPts val="0"/>
              </a:spcAft>
              <a:buNone/>
            </a:pPr>
            <a:r>
              <a:rPr b="0" i="1" lang="en" sz="950" u="none" cap="none" strike="noStrike">
                <a:latin typeface="Arial"/>
                <a:ea typeface="Arial"/>
                <a:cs typeface="Arial"/>
                <a:sym typeface="Arial"/>
              </a:rPr>
              <a:t>#Correlation among variables # Plot the heatmap</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col_list = ['cost_of_the_order', 'food_preparation_time', 'delivery_time'] plt.figure(figsize=(15, 7))</a:t>
            </a:r>
            <a:endParaRPr/>
          </a:p>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sns.heatmap(df[col_list].corr(), annot=True, vmin=-1, vmax=1, fmt=".2f", cmap="Spectral") plt.show()</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pic>
        <p:nvPicPr>
          <p:cNvPr id="535" name="Google Shape;535;g377b8bda5b4_2_151"/>
          <p:cNvPicPr preferRelativeResize="0"/>
          <p:nvPr/>
        </p:nvPicPr>
        <p:blipFill rotWithShape="1">
          <a:blip r:embed="rId3">
            <a:alphaModFix/>
          </a:blip>
          <a:srcRect b="0" l="0" r="0" t="0"/>
          <a:stretch/>
        </p:blipFill>
        <p:spPr>
          <a:xfrm>
            <a:off x="73772" y="0"/>
            <a:ext cx="3576114" cy="1892892"/>
          </a:xfrm>
          <a:prstGeom prst="rect">
            <a:avLst/>
          </a:prstGeom>
          <a:noFill/>
          <a:ln>
            <a:noFill/>
          </a:ln>
        </p:spPr>
      </p:pic>
      <p:sp>
        <p:nvSpPr>
          <p:cNvPr id="536" name="Google Shape;536;g377b8bda5b4_2_151"/>
          <p:cNvSpPr/>
          <p:nvPr/>
        </p:nvSpPr>
        <p:spPr>
          <a:xfrm>
            <a:off x="55329" y="1975000"/>
            <a:ext cx="9037051" cy="2117224"/>
          </a:xfrm>
          <a:prstGeom prst="rect">
            <a:avLst/>
          </a:prstGeom>
          <a:noFill/>
          <a:ln>
            <a:noFill/>
          </a:ln>
        </p:spPr>
        <p:txBody>
          <a:bodyPr anchorCtr="0" anchor="t" bIns="0" lIns="0" spcFirstLastPara="1" rIns="0" wrap="square" tIns="0">
            <a:noAutofit/>
          </a:bodyPr>
          <a:lstStyle/>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13: The company wants to provide a promotional offer in the advertisement of the restaurants.</a:t>
            </a:r>
            <a:endParaRPr/>
          </a:p>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The condition to get the offer is that the restaurants must have a rating count of more than 50 and the average rating should be greater than 4. Find the restaurants fulfilling the criteria to get the promotional offer. [3 marks]</a:t>
            </a:r>
            <a:endParaRPr/>
          </a:p>
          <a:p>
            <a:pPr indent="0" lvl="0" marL="0" marR="0" rtl="0" algn="l">
              <a:lnSpc>
                <a:spcPct val="121263"/>
              </a:lnSpc>
              <a:spcBef>
                <a:spcPts val="0"/>
              </a:spcBef>
              <a:spcAft>
                <a:spcPts val="0"/>
              </a:spcAft>
              <a:buNone/>
            </a:pPr>
            <a:r>
              <a:rPr b="0" i="0" lang="en" sz="950" u="none" cap="none" strike="noStrike">
                <a:latin typeface="Arial"/>
                <a:ea typeface="Arial"/>
                <a:cs typeface="Arial"/>
                <a:sym typeface="Arial"/>
              </a:rPr>
              <a:t>In [32]:</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Write the code here</a:t>
            </a:r>
            <a:endParaRPr/>
          </a:p>
          <a:p>
            <a:pPr indent="0" lvl="0" marL="0" marR="0" rtl="0" algn="just">
              <a:lnSpc>
                <a:spcPct val="121263"/>
              </a:lnSpc>
              <a:spcBef>
                <a:spcPts val="0"/>
              </a:spcBef>
              <a:spcAft>
                <a:spcPts val="0"/>
              </a:spcAft>
              <a:buNone/>
            </a:pPr>
            <a:r>
              <a:rPr b="0" i="1" lang="en" sz="950" u="none" cap="none" strike="noStrike">
                <a:latin typeface="Arial"/>
                <a:ea typeface="Arial"/>
                <a:cs typeface="Arial"/>
                <a:sym typeface="Arial"/>
              </a:rPr>
              <a:t>#    Filter the rated restaurants</a:t>
            </a:r>
            <a:endParaRPr/>
          </a:p>
          <a:p>
            <a:pPr indent="0" lvl="0" marL="0" marR="0" rtl="0" algn="just">
              <a:lnSpc>
                <a:spcPct val="121263"/>
              </a:lnSpc>
              <a:spcBef>
                <a:spcPts val="0"/>
              </a:spcBef>
              <a:spcAft>
                <a:spcPts val="0"/>
              </a:spcAft>
              <a:buNone/>
            </a:pPr>
            <a:r>
              <a:rPr b="0" i="0" lang="en" sz="950" u="none" cap="none" strike="noStrike">
                <a:latin typeface="Arial"/>
                <a:ea typeface="Arial"/>
                <a:cs typeface="Arial"/>
                <a:sym typeface="Arial"/>
              </a:rPr>
              <a:t>df_rated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df[df['rating']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'Not given']</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copy()</a:t>
            </a:r>
            <a:endParaRPr/>
          </a:p>
          <a:p>
            <a:pPr indent="0" lvl="0" marL="0" marR="330200" rtl="0" algn="l">
              <a:lnSpc>
                <a:spcPct val="118736"/>
              </a:lnSpc>
              <a:spcBef>
                <a:spcPts val="840"/>
              </a:spcBef>
              <a:spcAft>
                <a:spcPts val="0"/>
              </a:spcAft>
              <a:buNone/>
            </a:pPr>
            <a:r>
              <a:rPr b="0" i="1" lang="en" sz="950" u="none" cap="none" strike="noStrike">
                <a:latin typeface="Arial"/>
                <a:ea typeface="Arial"/>
                <a:cs typeface="Arial"/>
                <a:sym typeface="Arial"/>
              </a:rPr>
              <a:t>#    Convert rating column from object to integer </a:t>
            </a:r>
            <a:r>
              <a:rPr b="0" i="0" lang="en" sz="950" u="none" cap="none" strike="noStrike">
                <a:latin typeface="Arial"/>
                <a:ea typeface="Arial"/>
                <a:cs typeface="Arial"/>
                <a:sym typeface="Arial"/>
              </a:rPr>
              <a:t>df_rated['rating']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df_rated['rating']</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astype('int')</a:t>
            </a:r>
            <a:endParaRPr/>
          </a:p>
          <a:p>
            <a:pPr indent="0" lvl="0" marL="0" marR="0" rtl="0" algn="just">
              <a:lnSpc>
                <a:spcPct val="118736"/>
              </a:lnSpc>
              <a:spcBef>
                <a:spcPts val="840"/>
              </a:spcBef>
              <a:spcAft>
                <a:spcPts val="0"/>
              </a:spcAft>
              <a:buNone/>
            </a:pPr>
            <a:r>
              <a:rPr b="0" i="1" lang="en" sz="950" u="none" cap="none" strike="noStrike">
                <a:latin typeface="Arial"/>
                <a:ea typeface="Arial"/>
                <a:cs typeface="Arial"/>
                <a:sym typeface="Arial"/>
              </a:rPr>
              <a:t>#    Create a dataframe that contains the restaurant names with their rating counts</a:t>
            </a:r>
            <a:endParaRPr/>
          </a:p>
          <a:p>
            <a:pPr indent="0" lvl="0" marL="0" marR="0" rtl="0" algn="l">
              <a:lnSpc>
                <a:spcPct val="118736"/>
              </a:lnSpc>
              <a:spcBef>
                <a:spcPts val="0"/>
              </a:spcBef>
              <a:spcAft>
                <a:spcPts val="0"/>
              </a:spcAft>
              <a:buNone/>
            </a:pPr>
            <a:r>
              <a:rPr b="0" i="0" lang="en" sz="950" u="none" cap="none" strike="noStrike">
                <a:latin typeface="Arial"/>
                <a:ea typeface="Arial"/>
                <a:cs typeface="Arial"/>
                <a:sym typeface="Arial"/>
              </a:rPr>
              <a:t>df_rating_count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df_rated</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groupby(['restaurant_name'])['rating']</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count()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sort_values(ascending </a:t>
            </a:r>
            <a:r>
              <a:rPr b="1" i="0" lang="en" sz="850" u="none" cap="none" strike="noStrike">
                <a:latin typeface="Arial"/>
                <a:ea typeface="Arial"/>
                <a:cs typeface="Arial"/>
                <a:sym typeface="Arial"/>
              </a:rPr>
              <a:t>= False</a:t>
            </a:r>
            <a:r>
              <a:rPr b="0" i="0" lang="en" sz="950" u="none" cap="none" strike="noStrike">
                <a:latin typeface="Arial"/>
                <a:ea typeface="Arial"/>
                <a:cs typeface="Arial"/>
                <a:sym typeface="Arial"/>
              </a:rPr>
              <a: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resetJndexO print(df_rating_count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head())</a:t>
            </a:r>
            <a:endParaRPr/>
          </a:p>
          <a:p>
            <a:pPr indent="0" lvl="0" marL="0" marR="0" rtl="0" algn="just">
              <a:spcBef>
                <a:spcPts val="840"/>
              </a:spcBef>
              <a:spcAft>
                <a:spcPts val="0"/>
              </a:spcAft>
              <a:buNone/>
            </a:pPr>
            <a:r>
              <a:rPr b="0" i="1" lang="en" sz="950" u="none" cap="none" strike="noStrike">
                <a:latin typeface="Arial"/>
                <a:ea typeface="Arial"/>
                <a:cs typeface="Arial"/>
                <a:sym typeface="Arial"/>
              </a:rPr>
              <a:t>#    Get the restaurant names that have rating count more than 50</a:t>
            </a:r>
            <a:endParaRPr/>
          </a:p>
          <a:p>
            <a:pPr indent="0" lvl="0" marL="0" marR="0" rtl="0" algn="just">
              <a:spcBef>
                <a:spcPts val="0"/>
              </a:spcBef>
              <a:spcAft>
                <a:spcPts val="0"/>
              </a:spcAft>
              <a:buNone/>
            </a:pPr>
            <a:r>
              <a:rPr b="0" i="0" lang="en" sz="950" u="none" cap="none" strike="noStrike">
                <a:latin typeface="Arial"/>
                <a:ea typeface="Arial"/>
                <a:cs typeface="Arial"/>
                <a:sym typeface="Arial"/>
              </a:rPr>
              <a:t>rest_names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df_rating_count[df_rating_count['rating'] </a:t>
            </a:r>
            <a:r>
              <a:rPr b="1" i="0" lang="en" sz="850" u="none" cap="none" strike="noStrike">
                <a:latin typeface="Arial"/>
                <a:ea typeface="Arial"/>
                <a:cs typeface="Arial"/>
                <a:sym typeface="Arial"/>
              </a:rPr>
              <a:t>&gt;</a:t>
            </a:r>
            <a:r>
              <a:rPr b="0" i="0" lang="en" sz="950" u="none" cap="none" strike="noStrike">
                <a:latin typeface="Arial"/>
                <a:ea typeface="Arial"/>
                <a:cs typeface="Arial"/>
                <a:sym typeface="Arial"/>
              </a:rPr>
              <a:t>50 ]['restaurant_name'] </a:t>
            </a:r>
            <a:r>
              <a:rPr b="0" i="1" lang="en" sz="950" u="none" cap="none" strike="noStrike">
                <a:latin typeface="Arial"/>
                <a:ea typeface="Arial"/>
                <a:cs typeface="Arial"/>
                <a:sym typeface="Arial"/>
              </a:rPr>
              <a:t>## Complete the code to get the restaurant names having r</a:t>
            </a:r>
            <a:endParaRPr/>
          </a:p>
          <a:p>
            <a:pPr indent="0" lvl="0" marL="0" marR="330200" rtl="0" algn="l">
              <a:lnSpc>
                <a:spcPct val="121263"/>
              </a:lnSpc>
              <a:spcBef>
                <a:spcPts val="840"/>
              </a:spcBef>
              <a:spcAft>
                <a:spcPts val="0"/>
              </a:spcAft>
              <a:buNone/>
            </a:pPr>
            <a:r>
              <a:rPr b="0" i="1" lang="en" sz="950" u="none" cap="none" strike="noStrike">
                <a:latin typeface="Arial"/>
                <a:ea typeface="Arial"/>
                <a:cs typeface="Arial"/>
                <a:sym typeface="Arial"/>
              </a:rPr>
              <a:t>#    Filter to get the data of restaurants that have rating count more than 50 </a:t>
            </a:r>
            <a:r>
              <a:rPr b="0" i="0" lang="en" sz="950" u="none" cap="none" strike="noStrike">
                <a:latin typeface="Arial"/>
                <a:ea typeface="Arial"/>
                <a:cs typeface="Arial"/>
                <a:sym typeface="Arial"/>
              </a:rPr>
              <a:t>df_mean_4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df_rated[df_rated['restaurant_name']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isin(rest_names)]</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copy()</a:t>
            </a:r>
            <a:endParaRPr/>
          </a:p>
          <a:p>
            <a:pPr indent="0" lvl="0" marL="0" marR="0" rtl="0" algn="just">
              <a:spcBef>
                <a:spcPts val="840"/>
              </a:spcBef>
              <a:spcAft>
                <a:spcPts val="0"/>
              </a:spcAft>
              <a:buNone/>
            </a:pPr>
            <a:r>
              <a:rPr b="0" i="1" lang="en" sz="950" u="none" cap="none" strike="noStrike">
                <a:latin typeface="Arial"/>
                <a:ea typeface="Arial"/>
                <a:cs typeface="Arial"/>
                <a:sym typeface="Arial"/>
              </a:rPr>
              <a:t>#    Group the restaurant names with their ratings and find the mean rating of each restaurant</a:t>
            </a:r>
            <a:endParaRPr/>
          </a:p>
          <a:p>
            <a:pPr indent="0" lvl="0" marL="0" marR="0" rtl="0" algn="just">
              <a:spcBef>
                <a:spcPts val="0"/>
              </a:spcBef>
              <a:spcAft>
                <a:spcPts val="0"/>
              </a:spcAft>
              <a:buNone/>
            </a:pPr>
            <a:r>
              <a:rPr b="0" i="0" lang="en" sz="950" u="none" cap="none" strike="noStrike">
                <a:latin typeface="Arial"/>
                <a:ea typeface="Arial"/>
                <a:cs typeface="Arial"/>
                <a:sym typeface="Arial"/>
              </a:rPr>
              <a:t>df_mean_4_rating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df_mean_4</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groupby(['restaurant_name'])['rating']</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mean()</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sort_values(ascending </a:t>
            </a:r>
            <a:r>
              <a:rPr b="1" i="0" lang="en" sz="850" u="none" cap="none" strike="noStrike">
                <a:latin typeface="Arial"/>
                <a:ea typeface="Arial"/>
                <a:cs typeface="Arial"/>
                <a:sym typeface="Arial"/>
              </a:rPr>
              <a:t>= False</a:t>
            </a:r>
            <a:r>
              <a:rPr b="0" i="0" lang="en" sz="950" u="none" cap="none" strike="noStrike">
                <a:latin typeface="Arial"/>
                <a:ea typeface="Arial"/>
                <a:cs typeface="Arial"/>
                <a:sym typeface="Arial"/>
              </a:rPr>
              <a: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reset</a:t>
            </a:r>
            <a:r>
              <a:rPr b="1" i="0" lang="en" sz="850" u="none" cap="none" strike="noStrike">
                <a:latin typeface="Arial"/>
                <a:ea typeface="Arial"/>
                <a:cs typeface="Arial"/>
                <a:sym typeface="Arial"/>
              </a:rPr>
              <a:t>J</a:t>
            </a:r>
            <a:r>
              <a:rPr b="0" i="0" lang="en" sz="950" u="none" cap="none" strike="noStrike">
                <a:latin typeface="Arial"/>
                <a:ea typeface="Arial"/>
                <a:cs typeface="Arial"/>
                <a:sym typeface="Arial"/>
              </a:rPr>
              <a:t>ndex()</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dropna</a:t>
            </a:r>
            <a:r>
              <a:rPr b="1" i="0" lang="en" sz="850" u="none" cap="none" strike="noStrike">
                <a:latin typeface="Arial"/>
                <a:ea typeface="Arial"/>
                <a:cs typeface="Arial"/>
                <a:sym typeface="Arial"/>
              </a:rPr>
              <a:t>O </a:t>
            </a:r>
            <a:r>
              <a:rPr b="0" i="1" lang="en" sz="950" u="none" cap="none" strike="noStrike">
                <a:latin typeface="Arial"/>
                <a:ea typeface="Arial"/>
                <a:cs typeface="Arial"/>
                <a:sym typeface="Arial"/>
              </a:rPr>
              <a:t>## Co</a:t>
            </a:r>
            <a:endParaRPr/>
          </a:p>
          <a:p>
            <a:pPr indent="0" lvl="0" marL="0" marR="0" rtl="0" algn="just">
              <a:spcBef>
                <a:spcPts val="840"/>
              </a:spcBef>
              <a:spcAft>
                <a:spcPts val="0"/>
              </a:spcAft>
              <a:buNone/>
            </a:pPr>
            <a:r>
              <a:rPr b="0" i="1" lang="en" sz="950" u="none" cap="none" strike="noStrike">
                <a:latin typeface="Arial"/>
                <a:ea typeface="Arial"/>
                <a:cs typeface="Arial"/>
                <a:sym typeface="Arial"/>
              </a:rPr>
              <a:t>#    filter for average rating greater than 4</a:t>
            </a:r>
            <a:endParaRPr/>
          </a:p>
          <a:p>
            <a:pPr indent="0" lvl="0" marL="0" marR="0" rtl="0" algn="just">
              <a:lnSpc>
                <a:spcPct val="240000"/>
              </a:lnSpc>
              <a:spcBef>
                <a:spcPts val="0"/>
              </a:spcBef>
              <a:spcAft>
                <a:spcPts val="0"/>
              </a:spcAft>
              <a:buNone/>
            </a:pPr>
            <a:r>
              <a:rPr b="0" i="0" lang="en" sz="950" u="none" cap="none" strike="noStrike">
                <a:latin typeface="Arial"/>
                <a:ea typeface="Arial"/>
                <a:cs typeface="Arial"/>
                <a:sym typeface="Arial"/>
              </a:rPr>
              <a:t>df_avg_rating_greater_than_4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df_mean_4_rating[df_mean_4_rating['rating'] </a:t>
            </a:r>
            <a:r>
              <a:rPr b="1" i="0" lang="en" sz="850" u="none" cap="none" strike="noStrike">
                <a:latin typeface="Arial"/>
                <a:ea typeface="Arial"/>
                <a:cs typeface="Arial"/>
                <a:sym typeface="Arial"/>
              </a:rPr>
              <a:t>&gt; </a:t>
            </a:r>
            <a:r>
              <a:rPr b="0" i="0" lang="en" sz="950" u="none" cap="none" strike="noStrike">
                <a:latin typeface="Arial"/>
                <a:ea typeface="Arial"/>
                <a:cs typeface="Arial"/>
                <a:sym typeface="Arial"/>
              </a:rPr>
              <a:t>4]</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sort_values(by</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'rating', ascending</a:t>
            </a:r>
            <a:r>
              <a:rPr b="1" i="0" lang="en" sz="850" u="none" cap="none" strike="noStrike">
                <a:latin typeface="Arial"/>
                <a:ea typeface="Arial"/>
                <a:cs typeface="Arial"/>
                <a:sym typeface="Arial"/>
              </a:rPr>
              <a:t>=False</a:t>
            </a:r>
            <a:r>
              <a:rPr b="0" i="0" lang="en" sz="950" u="none" cap="none" strike="noStrike">
                <a:latin typeface="Arial"/>
                <a:ea typeface="Arial"/>
                <a:cs typeface="Arial"/>
                <a:sym typeface="Arial"/>
              </a:rPr>
              <a:t>)</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reset_index(d df_avg_rating_greater_than_4</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g377b8bda5b4_2_156"/>
          <p:cNvSpPr/>
          <p:nvPr/>
        </p:nvSpPr>
        <p:spPr>
          <a:xfrm>
            <a:off x="55329" y="0"/>
            <a:ext cx="1925445" cy="420806"/>
          </a:xfrm>
          <a:prstGeom prst="rect">
            <a:avLst/>
          </a:prstGeom>
          <a:noFill/>
          <a:ln>
            <a:noFill/>
          </a:ln>
        </p:spPr>
        <p:txBody>
          <a:bodyPr anchorCtr="0" anchor="t" bIns="0" lIns="0" spcFirstLastPara="1" rIns="0" wrap="square" tIns="0">
            <a:noAutofit/>
          </a:bodyPr>
          <a:lstStyle/>
          <a:p>
            <a:pPr indent="0" lvl="0" marL="381000" marR="0" rtl="0" algn="l">
              <a:lnSpc>
                <a:spcPct val="124800"/>
              </a:lnSpc>
              <a:spcBef>
                <a:spcPts val="0"/>
              </a:spcBef>
              <a:spcAft>
                <a:spcPts val="0"/>
              </a:spcAft>
              <a:buNone/>
            </a:pPr>
            <a:r>
              <a:rPr b="0" i="0" lang="en" sz="750" u="none" cap="none" strike="noStrike">
                <a:latin typeface="Arial"/>
                <a:ea typeface="Arial"/>
                <a:cs typeface="Arial"/>
                <a:sym typeface="Arial"/>
              </a:rPr>
              <a:t>restaurant_name rating</a:t>
            </a:r>
            <a:endParaRPr/>
          </a:p>
          <a:p>
            <a:pPr indent="0" lvl="0" marL="0" marR="0" rtl="0" algn="just">
              <a:lnSpc>
                <a:spcPct val="124800"/>
              </a:lnSpc>
              <a:spcBef>
                <a:spcPts val="0"/>
              </a:spcBef>
              <a:spcAft>
                <a:spcPts val="0"/>
              </a:spcAft>
              <a:buNone/>
            </a:pPr>
            <a:r>
              <a:rPr b="0" i="0" lang="en" sz="750" u="none" cap="none" strike="noStrike">
                <a:latin typeface="Arial"/>
                <a:ea typeface="Arial"/>
                <a:cs typeface="Arial"/>
                <a:sym typeface="Arial"/>
              </a:rPr>
              <a:t>0    Shake Shack 133</a:t>
            </a:r>
            <a:endParaRPr/>
          </a:p>
          <a:p>
            <a:pPr indent="0" lvl="0" marL="0" marR="0" rtl="0" algn="just">
              <a:lnSpc>
                <a:spcPct val="124800"/>
              </a:lnSpc>
              <a:spcBef>
                <a:spcPts val="0"/>
              </a:spcBef>
              <a:spcAft>
                <a:spcPts val="0"/>
              </a:spcAft>
              <a:buNone/>
            </a:pPr>
            <a:r>
              <a:rPr b="0" i="0" lang="en" sz="750" u="none" cap="none" strike="noStrike">
                <a:latin typeface="Arial"/>
                <a:ea typeface="Arial"/>
                <a:cs typeface="Arial"/>
                <a:sym typeface="Arial"/>
              </a:rPr>
              <a:t>1    The Meatball Shop    84</a:t>
            </a:r>
            <a:endParaRPr/>
          </a:p>
          <a:p>
            <a:pPr indent="0" lvl="0" marL="0" marR="0" rtl="0" algn="just">
              <a:lnSpc>
                <a:spcPct val="124800"/>
              </a:lnSpc>
              <a:spcBef>
                <a:spcPts val="0"/>
              </a:spcBef>
              <a:spcAft>
                <a:spcPts val="0"/>
              </a:spcAft>
              <a:buNone/>
            </a:pPr>
            <a:r>
              <a:rPr b="0" i="0" lang="en" sz="750" u="none" cap="none" strike="noStrike">
                <a:latin typeface="Arial"/>
                <a:ea typeface="Arial"/>
                <a:cs typeface="Arial"/>
                <a:sym typeface="Arial"/>
              </a:rPr>
              <a:t>2    Blue Ribbon Sushi    73</a:t>
            </a:r>
            <a:endParaRPr/>
          </a:p>
          <a:p>
            <a:pPr indent="0" lvl="0" marL="0" marR="0" rtl="0" algn="just">
              <a:lnSpc>
                <a:spcPct val="124800"/>
              </a:lnSpc>
              <a:spcBef>
                <a:spcPts val="0"/>
              </a:spcBef>
              <a:spcAft>
                <a:spcPts val="0"/>
              </a:spcAft>
              <a:buNone/>
            </a:pPr>
            <a:r>
              <a:rPr b="0" i="0" lang="en" sz="750" u="none" cap="none" strike="noStrike">
                <a:latin typeface="Arial"/>
                <a:ea typeface="Arial"/>
                <a:cs typeface="Arial"/>
                <a:sym typeface="Arial"/>
              </a:rPr>
              <a:t>3    Blue Ribbon Fried Chicken 64</a:t>
            </a:r>
            <a:endParaRPr/>
          </a:p>
          <a:p>
            <a:pPr indent="0" lvl="0" marL="0" marR="0" rtl="0" algn="just">
              <a:lnSpc>
                <a:spcPct val="147200"/>
              </a:lnSpc>
              <a:spcBef>
                <a:spcPts val="0"/>
              </a:spcBef>
              <a:spcAft>
                <a:spcPts val="0"/>
              </a:spcAft>
              <a:buNone/>
            </a:pPr>
            <a:r>
              <a:rPr b="0" i="0" lang="en" sz="750" u="none" cap="none" strike="noStrike">
                <a:latin typeface="Arial"/>
                <a:ea typeface="Arial"/>
                <a:cs typeface="Arial"/>
                <a:sym typeface="Arial"/>
              </a:rPr>
              <a:t>4    RedFarm Broadway    41</a:t>
            </a:r>
            <a:endParaRPr/>
          </a:p>
          <a:p>
            <a:pPr indent="0" lvl="0" marL="0" marR="0" rtl="0" algn="just">
              <a:lnSpc>
                <a:spcPct val="116210"/>
              </a:lnSpc>
              <a:spcBef>
                <a:spcPts val="0"/>
              </a:spcBef>
              <a:spcAft>
                <a:spcPts val="0"/>
              </a:spcAft>
              <a:buNone/>
            </a:pPr>
            <a:r>
              <a:rPr b="0" i="0" lang="en" sz="950" u="none" cap="none" strike="noStrike">
                <a:latin typeface="Arial"/>
                <a:ea typeface="Arial"/>
                <a:cs typeface="Arial"/>
                <a:sym typeface="Arial"/>
              </a:rPr>
              <a:t>Out[32]:</a:t>
            </a:r>
            <a:endParaRPr/>
          </a:p>
        </p:txBody>
      </p:sp>
      <p:graphicFrame>
        <p:nvGraphicFramePr>
          <p:cNvPr id="542" name="Google Shape;542;g377b8bda5b4_2_156"/>
          <p:cNvGraphicFramePr/>
          <p:nvPr/>
        </p:nvGraphicFramePr>
        <p:xfrm>
          <a:off x="129101" y="447197"/>
          <a:ext cx="3000000" cy="3000000"/>
        </p:xfrm>
        <a:graphic>
          <a:graphicData uri="http://schemas.openxmlformats.org/drawingml/2006/table">
            <a:tbl>
              <a:tblPr>
                <a:noFill/>
                <a:tableStyleId>{027568D1-9BE7-4ABE-AB64-776F8D02060C}</a:tableStyleId>
              </a:tblPr>
              <a:tblGrid>
                <a:gridCol w="435250"/>
                <a:gridCol w="1634050"/>
                <a:gridCol w="704525"/>
              </a:tblGrid>
              <a:tr h="96750">
                <a:tc>
                  <a:txBody>
                    <a:bodyPr/>
                    <a:lstStyle/>
                    <a:p>
                      <a:pPr indent="0" lvl="0" marL="0" marR="0" rtl="0" algn="l">
                        <a:spcBef>
                          <a:spcPts val="0"/>
                        </a:spcBef>
                        <a:spcAft>
                          <a:spcPts val="0"/>
                        </a:spcAft>
                        <a:buNone/>
                      </a:pPr>
                      <a:r>
                        <a:t/>
                      </a:r>
                      <a:endParaRPr sz="5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restaurant_name</a:t>
                      </a:r>
                      <a:endParaRPr sz="700"/>
                    </a:p>
                  </a:txBody>
                  <a:tcPr marT="0" marB="0" marR="0" marL="0"/>
                </a:tc>
                <a:tc>
                  <a:txBody>
                    <a:bodyPr/>
                    <a:lstStyle/>
                    <a:p>
                      <a:pPr indent="0" lvl="0" marL="0" marR="0" rtl="0" algn="r">
                        <a:spcBef>
                          <a:spcPts val="0"/>
                        </a:spcBef>
                        <a:spcAft>
                          <a:spcPts val="0"/>
                        </a:spcAft>
                        <a:buNone/>
                      </a:pPr>
                      <a:r>
                        <a:rPr b="1" lang="en" sz="400">
                          <a:latin typeface="Arial"/>
                          <a:ea typeface="Arial"/>
                          <a:cs typeface="Arial"/>
                          <a:sym typeface="Arial"/>
                        </a:rPr>
                        <a:t>rating</a:t>
                      </a:r>
                      <a:endParaRPr sz="700"/>
                    </a:p>
                  </a:txBody>
                  <a:tcPr marT="0" marB="0" marR="0" marL="0"/>
                </a:tc>
              </a:tr>
              <a:tr h="127550">
                <a:tc>
                  <a:txBody>
                    <a:bodyPr/>
                    <a:lstStyle/>
                    <a:p>
                      <a:pPr indent="0" lvl="0" marL="0" marR="0" rtl="0" algn="l">
                        <a:spcBef>
                          <a:spcPts val="0"/>
                        </a:spcBef>
                        <a:spcAft>
                          <a:spcPts val="0"/>
                        </a:spcAft>
                        <a:buNone/>
                      </a:pPr>
                      <a:r>
                        <a:rPr lang="en" sz="500">
                          <a:latin typeface="Arial"/>
                          <a:ea typeface="Arial"/>
                          <a:cs typeface="Arial"/>
                          <a:sym typeface="Arial"/>
                        </a:rPr>
                        <a:t>0</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The Meatball Shop</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4.511905</a:t>
                      </a:r>
                      <a:endParaRPr sz="700"/>
                    </a:p>
                  </a:txBody>
                  <a:tcPr marT="0" marB="0" marR="0" marL="0" anchor="ctr"/>
                </a:tc>
              </a:tr>
              <a:tr h="196450">
                <a:tc>
                  <a:txBody>
                    <a:bodyPr/>
                    <a:lstStyle/>
                    <a:p>
                      <a:pPr indent="0" lvl="0" marL="0" marR="0" rtl="0" algn="l">
                        <a:spcBef>
                          <a:spcPts val="0"/>
                        </a:spcBef>
                        <a:spcAft>
                          <a:spcPts val="0"/>
                        </a:spcAft>
                        <a:buNone/>
                      </a:pPr>
                      <a:r>
                        <a:rPr lang="en" sz="500">
                          <a:latin typeface="Arial"/>
                          <a:ea typeface="Arial"/>
                          <a:cs typeface="Arial"/>
                          <a:sym typeface="Arial"/>
                        </a:rPr>
                        <a:t>1</a:t>
                      </a:r>
                      <a:endParaRPr sz="700"/>
                    </a:p>
                  </a:txBody>
                  <a:tcPr marT="0" marB="0" marR="0" marL="0" anchor="ctr"/>
                </a:tc>
                <a:tc>
                  <a:txBody>
                    <a:bodyPr/>
                    <a:lstStyle/>
                    <a:p>
                      <a:pPr indent="0" lvl="0" marL="152400" marR="0" rtl="0" algn="r">
                        <a:lnSpc>
                          <a:spcPct val="121263"/>
                        </a:lnSpc>
                        <a:spcBef>
                          <a:spcPts val="0"/>
                        </a:spcBef>
                        <a:spcAft>
                          <a:spcPts val="0"/>
                        </a:spcAft>
                        <a:buNone/>
                      </a:pPr>
                      <a:r>
                        <a:rPr lang="en" sz="500">
                          <a:latin typeface="Arial"/>
                          <a:ea typeface="Arial"/>
                          <a:cs typeface="Arial"/>
                          <a:sym typeface="Arial"/>
                        </a:rPr>
                        <a:t>Blue Ribbon Fried Chicken</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4.328125</a:t>
                      </a:r>
                      <a:endParaRPr sz="700"/>
                    </a:p>
                  </a:txBody>
                  <a:tcPr marT="0" marB="0" marR="0" marL="0" anchor="ctr"/>
                </a:tc>
              </a:tr>
              <a:tr h="127550">
                <a:tc>
                  <a:txBody>
                    <a:bodyPr/>
                    <a:lstStyle/>
                    <a:p>
                      <a:pPr indent="0" lvl="0" marL="0" marR="0" rtl="0" algn="l">
                        <a:spcBef>
                          <a:spcPts val="0"/>
                        </a:spcBef>
                        <a:spcAft>
                          <a:spcPts val="0"/>
                        </a:spcAft>
                        <a:buNone/>
                      </a:pPr>
                      <a:r>
                        <a:rPr lang="en" sz="500">
                          <a:latin typeface="Arial"/>
                          <a:ea typeface="Arial"/>
                          <a:cs typeface="Arial"/>
                          <a:sym typeface="Arial"/>
                        </a:rPr>
                        <a:t>2</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Shake Shack</a:t>
                      </a:r>
                      <a:endParaRPr sz="700"/>
                    </a:p>
                  </a:txBody>
                  <a:tcPr marT="0" marB="0" marR="0" marL="0" anchor="ctr"/>
                </a:tc>
                <a:tc>
                  <a:txBody>
                    <a:bodyPr/>
                    <a:lstStyle/>
                    <a:p>
                      <a:pPr indent="0" lvl="0" marL="0" marR="0" rtl="0" algn="r">
                        <a:spcBef>
                          <a:spcPts val="0"/>
                        </a:spcBef>
                        <a:spcAft>
                          <a:spcPts val="0"/>
                        </a:spcAft>
                        <a:buNone/>
                      </a:pPr>
                      <a:r>
                        <a:rPr lang="en" sz="500">
                          <a:latin typeface="Arial"/>
                          <a:ea typeface="Arial"/>
                          <a:cs typeface="Arial"/>
                          <a:sym typeface="Arial"/>
                        </a:rPr>
                        <a:t>4.278195</a:t>
                      </a:r>
                      <a:endParaRPr sz="700"/>
                    </a:p>
                  </a:txBody>
                  <a:tcPr marT="0" marB="0" marR="0" marL="0" anchor="ctr"/>
                </a:tc>
              </a:tr>
              <a:tr h="96750">
                <a:tc>
                  <a:txBody>
                    <a:bodyPr/>
                    <a:lstStyle/>
                    <a:p>
                      <a:pPr indent="0" lvl="0" marL="0" marR="0" rtl="0" algn="l">
                        <a:spcBef>
                          <a:spcPts val="0"/>
                        </a:spcBef>
                        <a:spcAft>
                          <a:spcPts val="0"/>
                        </a:spcAft>
                        <a:buNone/>
                      </a:pPr>
                      <a:r>
                        <a:rPr b="1" lang="en" sz="400">
                          <a:latin typeface="Arial"/>
                          <a:ea typeface="Arial"/>
                          <a:cs typeface="Arial"/>
                          <a:sym typeface="Arial"/>
                        </a:rPr>
                        <a:t>3</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Blue Ribbon Sushi</a:t>
                      </a:r>
                      <a:endParaRPr sz="700"/>
                    </a:p>
                  </a:txBody>
                  <a:tcPr marT="0" marB="0" marR="0" marL="0" anchor="b"/>
                </a:tc>
                <a:tc>
                  <a:txBody>
                    <a:bodyPr/>
                    <a:lstStyle/>
                    <a:p>
                      <a:pPr indent="0" lvl="0" marL="0" marR="0" rtl="0" algn="r">
                        <a:spcBef>
                          <a:spcPts val="0"/>
                        </a:spcBef>
                        <a:spcAft>
                          <a:spcPts val="0"/>
                        </a:spcAft>
                        <a:buNone/>
                      </a:pPr>
                      <a:r>
                        <a:rPr lang="en" sz="500">
                          <a:latin typeface="Arial"/>
                          <a:ea typeface="Arial"/>
                          <a:cs typeface="Arial"/>
                          <a:sym typeface="Arial"/>
                        </a:rPr>
                        <a:t>4.219178</a:t>
                      </a:r>
                      <a:endParaRPr sz="700"/>
                    </a:p>
                  </a:txBody>
                  <a:tcPr marT="0" marB="0" marR="0" marL="0" anchor="b"/>
                </a:tc>
              </a:tr>
            </a:tbl>
          </a:graphicData>
        </a:graphic>
      </p:graphicFrame>
      <p:sp>
        <p:nvSpPr>
          <p:cNvPr id="543" name="Google Shape;543;g377b8bda5b4_2_156"/>
          <p:cNvSpPr/>
          <p:nvPr/>
        </p:nvSpPr>
        <p:spPr>
          <a:xfrm>
            <a:off x="59017" y="1263883"/>
            <a:ext cx="7454645" cy="417873"/>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i="0" lang="en" sz="850" u="none" cap="none" strike="noStrike">
                <a:latin typeface="Arial"/>
                <a:ea typeface="Arial"/>
                <a:cs typeface="Arial"/>
                <a:sym typeface="Arial"/>
              </a:rPr>
              <a:t>Observations:</a:t>
            </a:r>
            <a:endParaRPr/>
          </a:p>
          <a:p>
            <a:pPr indent="0" lvl="0" marL="0" marR="0" rtl="0" algn="l">
              <a:lnSpc>
                <a:spcPct val="118736"/>
              </a:lnSpc>
              <a:spcBef>
                <a:spcPts val="1050"/>
              </a:spcBef>
              <a:spcAft>
                <a:spcPts val="0"/>
              </a:spcAft>
              <a:buNone/>
            </a:pPr>
            <a:r>
              <a:rPr b="0" i="0" lang="en" sz="950" u="none" cap="none" strike="noStrike">
                <a:latin typeface="Arial"/>
                <a:ea typeface="Arial"/>
                <a:cs typeface="Arial"/>
                <a:sym typeface="Arial"/>
              </a:rPr>
              <a:t>Restaurant for promotion offer are base don criteria of rating count &gt; 50 and avg rating &gt; 4 are The Meatball Shop Blue Ribbon Fried Chicken Shake Shack Blue Ribbon Sushi</a:t>
            </a:r>
            <a:endParaRPr/>
          </a:p>
        </p:txBody>
      </p:sp>
      <p:sp>
        <p:nvSpPr>
          <p:cNvPr id="544" name="Google Shape;544;g377b8bda5b4_2_156"/>
          <p:cNvSpPr/>
          <p:nvPr/>
        </p:nvSpPr>
        <p:spPr>
          <a:xfrm>
            <a:off x="55329" y="1923682"/>
            <a:ext cx="9037051" cy="2988159"/>
          </a:xfrm>
          <a:prstGeom prst="rect">
            <a:avLst/>
          </a:prstGeom>
          <a:noFill/>
          <a:ln>
            <a:noFill/>
          </a:ln>
        </p:spPr>
        <p:txBody>
          <a:bodyPr anchorCtr="0" anchor="t" bIns="0" lIns="0" spcFirstLastPara="1" rIns="0" wrap="square" tIns="0">
            <a:noAutofit/>
          </a:bodyPr>
          <a:lstStyle/>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14: The company charges the restaurant 25% on the orders having cost greater than 20 dollars and 15% on the orders having cost greater than 5 dollars. Find the net revenue generated by the company across all orders. [3 marks]</a:t>
            </a:r>
            <a:endParaRPr/>
          </a:p>
          <a:p>
            <a:pPr indent="0" lvl="0" marL="0" marR="0" rtl="0" algn="just">
              <a:lnSpc>
                <a:spcPct val="118736"/>
              </a:lnSpc>
              <a:spcBef>
                <a:spcPts val="210"/>
              </a:spcBef>
              <a:spcAft>
                <a:spcPts val="0"/>
              </a:spcAft>
              <a:buNone/>
            </a:pPr>
            <a:r>
              <a:rPr b="0" i="0" lang="en" sz="950" u="none" cap="none" strike="noStrike">
                <a:latin typeface="Arial"/>
                <a:ea typeface="Arial"/>
                <a:cs typeface="Arial"/>
                <a:sym typeface="Arial"/>
              </a:rPr>
              <a:t>In [33]:</a:t>
            </a:r>
            <a:endParaRPr/>
          </a:p>
          <a:p>
            <a:pPr indent="0" lvl="0" marL="0" marR="5575300" rtl="0" algn="l">
              <a:lnSpc>
                <a:spcPct val="118736"/>
              </a:lnSpc>
              <a:spcBef>
                <a:spcPts val="0"/>
              </a:spcBef>
              <a:spcAft>
                <a:spcPts val="0"/>
              </a:spcAft>
              <a:buNone/>
            </a:pPr>
            <a:r>
              <a:rPr b="0" i="1" lang="en" sz="950" u="none" cap="none" strike="noStrike">
                <a:latin typeface="Arial"/>
                <a:ea typeface="Arial"/>
                <a:cs typeface="Arial"/>
                <a:sym typeface="Arial"/>
              </a:rPr>
              <a:t>#    Write the code here #function to determine the revenue </a:t>
            </a:r>
            <a:r>
              <a:rPr b="1" i="0" lang="en" sz="850" u="none" cap="none" strike="noStrike">
                <a:latin typeface="Arial"/>
                <a:ea typeface="Arial"/>
                <a:cs typeface="Arial"/>
                <a:sym typeface="Arial"/>
              </a:rPr>
              <a:t>def </a:t>
            </a:r>
            <a:r>
              <a:rPr b="0" i="0" lang="en" sz="950" u="none" cap="none" strike="noStrike">
                <a:latin typeface="Arial"/>
                <a:ea typeface="Arial"/>
                <a:cs typeface="Arial"/>
                <a:sym typeface="Arial"/>
              </a:rPr>
              <a:t>compute_rev(x):</a:t>
            </a:r>
            <a:endParaRPr/>
          </a:p>
          <a:p>
            <a:pPr indent="0" lvl="0" marL="152400" marR="0" rtl="0" algn="l">
              <a:lnSpc>
                <a:spcPct val="118736"/>
              </a:lnSpc>
              <a:spcBef>
                <a:spcPts val="0"/>
              </a:spcBef>
              <a:spcAft>
                <a:spcPts val="0"/>
              </a:spcAft>
              <a:buNone/>
            </a:pPr>
            <a:r>
              <a:rPr b="1" i="0" lang="en" sz="850" u="none" cap="none" strike="noStrike">
                <a:latin typeface="Arial"/>
                <a:ea typeface="Arial"/>
                <a:cs typeface="Arial"/>
                <a:sym typeface="Arial"/>
              </a:rPr>
              <a:t>if </a:t>
            </a:r>
            <a:r>
              <a:rPr b="0" i="0" lang="en" sz="950" u="none" cap="none" strike="noStrike">
                <a:latin typeface="Arial"/>
                <a:ea typeface="Arial"/>
                <a:cs typeface="Arial"/>
                <a:sym typeface="Arial"/>
              </a:rPr>
              <a:t>x </a:t>
            </a:r>
            <a:r>
              <a:rPr b="1" i="0" lang="en" sz="850" u="none" cap="none" strike="noStrike">
                <a:latin typeface="Arial"/>
                <a:ea typeface="Arial"/>
                <a:cs typeface="Arial"/>
                <a:sym typeface="Arial"/>
              </a:rPr>
              <a:t>&gt; </a:t>
            </a:r>
            <a:r>
              <a:rPr b="0" i="0" lang="en" sz="950" u="none" cap="none" strike="noStrike">
                <a:latin typeface="Arial"/>
                <a:ea typeface="Arial"/>
                <a:cs typeface="Arial"/>
                <a:sym typeface="Arial"/>
              </a:rPr>
              <a:t>20:</a:t>
            </a:r>
            <a:endParaRPr/>
          </a:p>
          <a:p>
            <a:pPr indent="152400" lvl="0" marL="152400" marR="6451600" rtl="0" algn="l">
              <a:lnSpc>
                <a:spcPct val="118736"/>
              </a:lnSpc>
              <a:spcBef>
                <a:spcPts val="0"/>
              </a:spcBef>
              <a:spcAft>
                <a:spcPts val="0"/>
              </a:spcAft>
              <a:buNone/>
            </a:pPr>
            <a:r>
              <a:rPr b="1" i="0" lang="en" sz="850" u="none" cap="none" strike="noStrike">
                <a:latin typeface="Arial"/>
                <a:ea typeface="Arial"/>
                <a:cs typeface="Arial"/>
                <a:sym typeface="Arial"/>
              </a:rPr>
              <a:t>return </a:t>
            </a:r>
            <a:r>
              <a:rPr b="0" i="0" lang="en" sz="950" u="none" cap="none" strike="noStrike">
                <a:latin typeface="Arial"/>
                <a:ea typeface="Arial"/>
                <a:cs typeface="Arial"/>
                <a:sym typeface="Arial"/>
              </a:rPr>
              <a:t>x</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0.25 </a:t>
            </a:r>
            <a:r>
              <a:rPr b="1" i="0" lang="en" sz="850" u="none" cap="none" strike="noStrike">
                <a:latin typeface="Arial"/>
                <a:ea typeface="Arial"/>
                <a:cs typeface="Arial"/>
                <a:sym typeface="Arial"/>
              </a:rPr>
              <a:t>elif </a:t>
            </a:r>
            <a:r>
              <a:rPr b="0" i="0" lang="en" sz="950" u="none" cap="none" strike="noStrike">
                <a:latin typeface="Arial"/>
                <a:ea typeface="Arial"/>
                <a:cs typeface="Arial"/>
                <a:sym typeface="Arial"/>
              </a:rPr>
              <a:t>x </a:t>
            </a:r>
            <a:r>
              <a:rPr b="1" i="0" lang="en" sz="850" u="none" cap="none" strike="noStrike">
                <a:latin typeface="Arial"/>
                <a:ea typeface="Arial"/>
                <a:cs typeface="Arial"/>
                <a:sym typeface="Arial"/>
              </a:rPr>
              <a:t>&gt; </a:t>
            </a:r>
            <a:r>
              <a:rPr b="0" i="0" lang="en" sz="950" u="none" cap="none" strike="noStrike">
                <a:latin typeface="Arial"/>
                <a:ea typeface="Arial"/>
                <a:cs typeface="Arial"/>
                <a:sym typeface="Arial"/>
              </a:rPr>
              <a:t>5: </a:t>
            </a:r>
            <a:r>
              <a:rPr b="1" i="0" lang="en" sz="850" u="none" cap="none" strike="noStrike">
                <a:latin typeface="Arial"/>
                <a:ea typeface="Arial"/>
                <a:cs typeface="Arial"/>
                <a:sym typeface="Arial"/>
              </a:rPr>
              <a:t>return </a:t>
            </a:r>
            <a:r>
              <a:rPr b="0" i="0" lang="en" sz="950" u="none" cap="none" strike="noStrike">
                <a:latin typeface="Arial"/>
                <a:ea typeface="Arial"/>
                <a:cs typeface="Arial"/>
                <a:sym typeface="Arial"/>
              </a:rPr>
              <a:t>x</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0.15 </a:t>
            </a:r>
            <a:r>
              <a:rPr b="1" i="0" lang="en" sz="850" u="none" cap="none" strike="noStrike">
                <a:latin typeface="Arial"/>
                <a:ea typeface="Arial"/>
                <a:cs typeface="Arial"/>
                <a:sym typeface="Arial"/>
              </a:rPr>
              <a:t>else</a:t>
            </a:r>
            <a:r>
              <a:rPr b="0" i="0" lang="en" sz="950" u="none" cap="none" strike="noStrike">
                <a:latin typeface="Arial"/>
                <a:ea typeface="Arial"/>
                <a:cs typeface="Arial"/>
                <a:sym typeface="Arial"/>
              </a:rPr>
              <a:t>:</a:t>
            </a:r>
            <a:endParaRPr/>
          </a:p>
          <a:p>
            <a:pPr indent="152400" lvl="0" marL="152400" marR="0" rtl="0" algn="l">
              <a:lnSpc>
                <a:spcPct val="118736"/>
              </a:lnSpc>
              <a:spcBef>
                <a:spcPts val="0"/>
              </a:spcBef>
              <a:spcAft>
                <a:spcPts val="0"/>
              </a:spcAft>
              <a:buNone/>
            </a:pPr>
            <a:r>
              <a:rPr b="1" i="0" lang="en" sz="850" u="none" cap="none" strike="noStrike">
                <a:latin typeface="Arial"/>
                <a:ea typeface="Arial"/>
                <a:cs typeface="Arial"/>
                <a:sym typeface="Arial"/>
              </a:rPr>
              <a:t>return </a:t>
            </a:r>
            <a:r>
              <a:rPr b="0" i="0" lang="en" sz="950" u="none" cap="none" strike="noStrike">
                <a:latin typeface="Arial"/>
                <a:ea typeface="Arial"/>
                <a:cs typeface="Arial"/>
                <a:sym typeface="Arial"/>
              </a:rPr>
              <a:t>x</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0</a:t>
            </a:r>
            <a:endParaRPr/>
          </a:p>
          <a:p>
            <a:pPr indent="0" lvl="0" marL="0" marR="990600" rtl="0" algn="l">
              <a:lnSpc>
                <a:spcPct val="118736"/>
              </a:lnSpc>
              <a:spcBef>
                <a:spcPts val="630"/>
              </a:spcBef>
              <a:spcAft>
                <a:spcPts val="0"/>
              </a:spcAft>
              <a:buNone/>
            </a:pPr>
            <a:r>
              <a:rPr b="0" i="0" lang="en" sz="950" u="none" cap="none" strike="noStrike">
                <a:latin typeface="Arial"/>
                <a:ea typeface="Arial"/>
                <a:cs typeface="Arial"/>
                <a:sym typeface="Arial"/>
              </a:rPr>
              <a:t>df['Revenue']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df['cost_of_the_order']</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apply(compute_rev) </a:t>
            </a:r>
            <a:r>
              <a:rPr b="0" i="1" lang="en" sz="950" u="none" cap="none" strike="noStrike">
                <a:latin typeface="Arial"/>
                <a:ea typeface="Arial"/>
                <a:cs typeface="Arial"/>
                <a:sym typeface="Arial"/>
              </a:rPr>
              <a:t>## Write the apprpriate column name to compute the revenue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head()</a:t>
            </a:r>
            <a:endParaRPr/>
          </a:p>
          <a:p>
            <a:pPr indent="0" lvl="0" marL="0" marR="0" rtl="0" algn="just">
              <a:lnSpc>
                <a:spcPct val="118736"/>
              </a:lnSpc>
              <a:spcBef>
                <a:spcPts val="630"/>
              </a:spcBef>
              <a:spcAft>
                <a:spcPts val="0"/>
              </a:spcAft>
              <a:buNone/>
            </a:pPr>
            <a:r>
              <a:rPr b="0" i="1" lang="en" sz="950" u="none" cap="none" strike="noStrike">
                <a:latin typeface="Arial"/>
                <a:ea typeface="Arial"/>
                <a:cs typeface="Arial"/>
                <a:sym typeface="Arial"/>
              </a:rPr>
              <a:t>#    get the total revenue and print it</a:t>
            </a:r>
            <a:endParaRPr/>
          </a:p>
          <a:p>
            <a:pPr indent="0" lvl="0" marL="0" marR="2730500" rtl="0" algn="l">
              <a:lnSpc>
                <a:spcPct val="118736"/>
              </a:lnSpc>
              <a:spcBef>
                <a:spcPts val="0"/>
              </a:spcBef>
              <a:spcAft>
                <a:spcPts val="0"/>
              </a:spcAft>
              <a:buNone/>
            </a:pPr>
            <a:r>
              <a:rPr b="0" i="0" lang="en" sz="950" u="none" cap="none" strike="noStrike">
                <a:latin typeface="Arial"/>
                <a:ea typeface="Arial"/>
                <a:cs typeface="Arial"/>
                <a:sym typeface="Arial"/>
              </a:rPr>
              <a:t>total_rev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df['Revenue']</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sum() </a:t>
            </a:r>
            <a:r>
              <a:rPr b="0" i="1" lang="en" sz="950" u="none" cap="none" strike="noStrike">
                <a:latin typeface="Arial"/>
                <a:ea typeface="Arial"/>
                <a:cs typeface="Arial"/>
                <a:sym typeface="Arial"/>
              </a:rPr>
              <a:t>## Write the appropriate function to get the total revenue </a:t>
            </a:r>
            <a:r>
              <a:rPr b="0" i="0" lang="en" sz="950" u="none" cap="none" strike="noStrike">
                <a:latin typeface="Arial"/>
                <a:ea typeface="Arial"/>
                <a:cs typeface="Arial"/>
                <a:sym typeface="Arial"/>
              </a:rPr>
              <a:t>print('The net revenue is around', round(total_rev, 2), 'dollars')</a:t>
            </a:r>
            <a:endParaRPr/>
          </a:p>
          <a:p>
            <a:pPr indent="0" lvl="0" marL="0" marR="0" rtl="0" algn="just">
              <a:spcBef>
                <a:spcPts val="0"/>
              </a:spcBef>
              <a:spcAft>
                <a:spcPts val="0"/>
              </a:spcAft>
              <a:buNone/>
            </a:pPr>
            <a:r>
              <a:rPr b="0" i="0" lang="en" sz="750" u="none" cap="none" strike="noStrike">
                <a:latin typeface="Arial"/>
                <a:ea typeface="Arial"/>
                <a:cs typeface="Arial"/>
                <a:sym typeface="Arial"/>
              </a:rPr>
              <a:t>The net revenue is around 6166.3 dollars</a:t>
            </a:r>
            <a:endParaRPr/>
          </a:p>
          <a:p>
            <a:pPr indent="0" lvl="0" marL="0" marR="0" rtl="0" algn="just">
              <a:spcBef>
                <a:spcPts val="1050"/>
              </a:spcBef>
              <a:spcAft>
                <a:spcPts val="0"/>
              </a:spcAft>
              <a:buNone/>
            </a:pPr>
            <a:r>
              <a:rPr b="1" i="0" lang="en" sz="850" u="none" cap="none" strike="noStrike">
                <a:latin typeface="Arial"/>
                <a:ea typeface="Arial"/>
                <a:cs typeface="Arial"/>
                <a:sym typeface="Arial"/>
              </a:rPr>
              <a:t>Observations:</a:t>
            </a:r>
            <a:endParaRPr/>
          </a:p>
          <a:p>
            <a:pPr indent="0" lvl="0" marL="0" marR="304800" rtl="0" algn="just">
              <a:lnSpc>
                <a:spcPct val="124363"/>
              </a:lnSpc>
              <a:spcBef>
                <a:spcPts val="1050"/>
              </a:spcBef>
              <a:spcAft>
                <a:spcPts val="0"/>
              </a:spcAft>
              <a:buNone/>
            </a:pPr>
            <a:r>
              <a:rPr b="1" i="0" lang="en" sz="1100" u="none" cap="none" strike="noStrike">
                <a:latin typeface="Arial"/>
                <a:ea typeface="Arial"/>
                <a:cs typeface="Arial"/>
                <a:sym typeface="Arial"/>
              </a:rPr>
              <a:t>Question 15: The company wants to analyze the total time required to deliver the food. What percentage of orders take more than 60 minutes to get delivered from the time the order is placed? (The food has to be prepared and then delivered.) [2 marks]</a:t>
            </a:r>
            <a:endParaRPr/>
          </a:p>
          <a:p>
            <a:pPr indent="0" lvl="0" marL="0" marR="0" rtl="0" algn="just">
              <a:spcBef>
                <a:spcPts val="210"/>
              </a:spcBef>
              <a:spcAft>
                <a:spcPts val="0"/>
              </a:spcAft>
              <a:buNone/>
            </a:pPr>
            <a:r>
              <a:rPr b="0" i="0" lang="en" sz="950" u="none" cap="none" strike="noStrike">
                <a:latin typeface="Arial"/>
                <a:ea typeface="Arial"/>
                <a:cs typeface="Arial"/>
                <a:sym typeface="Arial"/>
              </a:rPr>
              <a:t>In [34]:</a:t>
            </a:r>
            <a:endParaRPr/>
          </a:p>
          <a:p>
            <a:pPr indent="0" lvl="0" marL="0" marR="0" rtl="0" algn="just">
              <a:spcBef>
                <a:spcPts val="210"/>
              </a:spcBef>
              <a:spcAft>
                <a:spcPts val="0"/>
              </a:spcAft>
              <a:buNone/>
            </a:pPr>
            <a:r>
              <a:rPr b="0" i="1" lang="en" sz="950" u="none" cap="none" strike="noStrike">
                <a:latin typeface="Arial"/>
                <a:ea typeface="Arial"/>
                <a:cs typeface="Arial"/>
                <a:sym typeface="Arial"/>
              </a:rPr>
              <a:t>#    Write the code here</a:t>
            </a:r>
            <a:endParaRPr/>
          </a:p>
          <a:p>
            <a:pPr indent="0" lvl="0" marL="0" marR="1917700" rtl="0" algn="l">
              <a:lnSpc>
                <a:spcPct val="121263"/>
              </a:lnSpc>
              <a:spcBef>
                <a:spcPts val="210"/>
              </a:spcBef>
              <a:spcAft>
                <a:spcPts val="0"/>
              </a:spcAft>
              <a:buNone/>
            </a:pPr>
            <a:r>
              <a:rPr b="0" i="1" lang="en" sz="950" u="none" cap="none" strike="noStrike">
                <a:latin typeface="Arial"/>
                <a:ea typeface="Arial"/>
                <a:cs typeface="Arial"/>
                <a:sym typeface="Arial"/>
              </a:rPr>
              <a:t>#    Calculate total delivery time and add a new column to the dataframe df to store the total delivery time </a:t>
            </a:r>
            <a:r>
              <a:rPr b="0" i="0" lang="en" sz="950" u="none" cap="none" strike="noStrike">
                <a:latin typeface="Arial"/>
                <a:ea typeface="Arial"/>
                <a:cs typeface="Arial"/>
                <a:sym typeface="Arial"/>
              </a:rPr>
              <a:t>df['total_time']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df['food_preparation_time']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df['delivery_time']</a:t>
            </a:r>
            <a:endParaRPr/>
          </a:p>
          <a:p>
            <a:pPr indent="0" lvl="0" marL="0" marR="0" rtl="0" algn="just">
              <a:lnSpc>
                <a:spcPct val="118736"/>
              </a:lnSpc>
              <a:spcBef>
                <a:spcPts val="630"/>
              </a:spcBef>
              <a:spcAft>
                <a:spcPts val="0"/>
              </a:spcAft>
              <a:buNone/>
            </a:pPr>
            <a:r>
              <a:rPr b="0" i="1" lang="en" sz="950" u="none" cap="none" strike="noStrike">
                <a:latin typeface="Arial"/>
                <a:ea typeface="Arial"/>
                <a:cs typeface="Arial"/>
                <a:sym typeface="Arial"/>
              </a:rPr>
              <a:t>## Write the code below to find the percentage of orders that have more than 60 minutes of total delivery time (see Question 9 for referenc </a:t>
            </a:r>
            <a:r>
              <a:rPr b="0" i="0" lang="en" sz="950" u="none" cap="none" strike="noStrike">
                <a:latin typeface="Arial"/>
                <a:ea typeface="Arial"/>
                <a:cs typeface="Arial"/>
                <a:sym typeface="Arial"/>
              </a:rPr>
              <a:t>perc_over_60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(df[df['total_time'] </a:t>
            </a:r>
            <a:r>
              <a:rPr b="1" i="0" lang="en" sz="850" u="none" cap="none" strike="noStrike">
                <a:latin typeface="Arial"/>
                <a:ea typeface="Arial"/>
                <a:cs typeface="Arial"/>
                <a:sym typeface="Arial"/>
              </a:rPr>
              <a:t>&gt; </a:t>
            </a:r>
            <a:r>
              <a:rPr b="0" i="0" lang="en" sz="950" u="none" cap="none" strike="noStrike">
                <a:latin typeface="Arial"/>
                <a:ea typeface="Arial"/>
                <a:cs typeface="Arial"/>
                <a:sym typeface="Arial"/>
              </a:rPr>
              <a:t>60]</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shape[0]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df</a:t>
            </a:r>
            <a:r>
              <a:rPr b="1" i="0" lang="en" sz="850" u="none" cap="none" strike="noStrike">
                <a:latin typeface="Arial"/>
                <a:ea typeface="Arial"/>
                <a:cs typeface="Arial"/>
                <a:sym typeface="Arial"/>
              </a:rPr>
              <a:t>.</a:t>
            </a:r>
            <a:r>
              <a:rPr b="0" i="0" lang="en" sz="950" u="none" cap="none" strike="noStrike">
                <a:latin typeface="Arial"/>
                <a:ea typeface="Arial"/>
                <a:cs typeface="Arial"/>
                <a:sym typeface="Arial"/>
              </a:rPr>
              <a:t>shape[0]) </a:t>
            </a:r>
            <a:r>
              <a:rPr b="1" i="0" lang="en" sz="850" u="none" cap="none" strike="noStrike">
                <a:latin typeface="Arial"/>
                <a:ea typeface="Arial"/>
                <a:cs typeface="Arial"/>
                <a:sym typeface="Arial"/>
              </a:rPr>
              <a:t>* </a:t>
            </a:r>
            <a:r>
              <a:rPr b="0" i="0" lang="en" sz="950" u="none" cap="none" strike="noStrike">
                <a:latin typeface="Arial"/>
                <a:ea typeface="Arial"/>
                <a:cs typeface="Arial"/>
                <a:sym typeface="Arial"/>
              </a:rPr>
              <a:t>100</a:t>
            </a:r>
            <a:endParaRPr/>
          </a:p>
          <a:p>
            <a:pPr indent="0" lvl="0" marL="0" marR="2730500" rtl="0" algn="l">
              <a:lnSpc>
                <a:spcPct val="121263"/>
              </a:lnSpc>
              <a:spcBef>
                <a:spcPts val="630"/>
              </a:spcBef>
              <a:spcAft>
                <a:spcPts val="0"/>
              </a:spcAft>
              <a:buNone/>
            </a:pPr>
            <a:r>
              <a:rPr b="0" i="1" lang="en" sz="950" u="none" cap="none" strike="noStrike">
                <a:latin typeface="Arial"/>
                <a:ea typeface="Arial"/>
                <a:cs typeface="Arial"/>
                <a:sym typeface="Arial"/>
              </a:rPr>
              <a:t>#    Calculate percentage of orders taking more than 60 minutes </a:t>
            </a:r>
            <a:r>
              <a:rPr b="0" i="0" lang="en" sz="950" u="none" cap="none" strike="noStrike">
                <a:latin typeface="Arial"/>
                <a:ea typeface="Arial"/>
                <a:cs typeface="Arial"/>
                <a:sym typeface="Arial"/>
              </a:rPr>
              <a:t>print("Percentage of orders taking more than 60 minutes:", round(perc_over_60, 2), "%")</a:t>
            </a:r>
            <a:endParaRPr/>
          </a:p>
          <a:p>
            <a:pPr indent="0" lvl="0" marL="0" marR="0" rtl="0" algn="just">
              <a:spcBef>
                <a:spcPts val="0"/>
              </a:spcBef>
              <a:spcAft>
                <a:spcPts val="0"/>
              </a:spcAft>
              <a:buNone/>
            </a:pPr>
            <a:r>
              <a:rPr b="0" i="0" lang="en" sz="750" u="none" cap="none" strike="noStrike">
                <a:latin typeface="Arial"/>
                <a:ea typeface="Arial"/>
                <a:cs typeface="Arial"/>
                <a:sym typeface="Arial"/>
              </a:rPr>
              <a:t>Percentage of orders taking more than 60 minutes: 10.54 %</a:t>
            </a:r>
            <a:endParaRPr/>
          </a:p>
          <a:p>
            <a:pPr indent="0" lvl="0" marL="0" marR="0" rtl="0" algn="just">
              <a:spcBef>
                <a:spcPts val="1050"/>
              </a:spcBef>
              <a:spcAft>
                <a:spcPts val="0"/>
              </a:spcAft>
              <a:buNone/>
            </a:pPr>
            <a:r>
              <a:rPr b="1" i="0" lang="en" sz="850" u="none" cap="none" strike="noStrike">
                <a:latin typeface="Arial"/>
                <a:ea typeface="Arial"/>
                <a:cs typeface="Arial"/>
                <a:sym typeface="Arial"/>
              </a:rPr>
              <a:t>Observations:</a:t>
            </a:r>
            <a:endParaRPr/>
          </a:p>
        </p:txBody>
      </p:sp>
      <p:sp>
        <p:nvSpPr>
          <p:cNvPr id="545" name="Google Shape;545;g377b8bda5b4_2_156"/>
          <p:cNvSpPr/>
          <p:nvPr/>
        </p:nvSpPr>
        <p:spPr>
          <a:xfrm>
            <a:off x="66395" y="4996882"/>
            <a:ext cx="3924662" cy="73311"/>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0" i="0" lang="en" sz="950" u="none" cap="none" strike="noStrike">
                <a:latin typeface="Arial"/>
                <a:ea typeface="Arial"/>
                <a:cs typeface="Arial"/>
                <a:sym typeface="Arial"/>
              </a:rPr>
              <a:t>Percentage of orders taking more than 60 minutes: 10.54 %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g377b8bda5b4_2_164"/>
          <p:cNvSpPr/>
          <p:nvPr/>
        </p:nvSpPr>
        <p:spPr>
          <a:xfrm>
            <a:off x="81149" y="70379"/>
            <a:ext cx="8634995" cy="149555"/>
          </a:xfrm>
          <a:prstGeom prst="rect">
            <a:avLst/>
          </a:prstGeom>
          <a:noFill/>
          <a:ln>
            <a:noFill/>
          </a:ln>
        </p:spPr>
        <p:txBody>
          <a:bodyPr anchorCtr="0" anchor="t" bIns="0" lIns="0" spcFirstLastPara="1" rIns="0" wrap="square" tIns="0">
            <a:noAutofit/>
          </a:bodyPr>
          <a:lstStyle/>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16: The company wants to analyze the delivery time of the orders on weekdays and weekends. How does the mean delivery time vary during weekdays and weekends? [2 marks]</a:t>
            </a:r>
            <a:endParaRPr/>
          </a:p>
        </p:txBody>
      </p:sp>
      <p:sp>
        <p:nvSpPr>
          <p:cNvPr id="551" name="Google Shape;551;g377b8bda5b4_2_164"/>
          <p:cNvSpPr/>
          <p:nvPr/>
        </p:nvSpPr>
        <p:spPr>
          <a:xfrm>
            <a:off x="88526" y="272717"/>
            <a:ext cx="427877" cy="54250"/>
          </a:xfrm>
          <a:prstGeom prst="rect">
            <a:avLst/>
          </a:prstGeom>
          <a:noFill/>
          <a:ln>
            <a:noFill/>
          </a:ln>
        </p:spPr>
        <p:txBody>
          <a:bodyPr anchorCtr="0" anchor="t" bIns="0" lIns="0" spcFirstLastPara="1" rIns="0" wrap="square" tIns="0">
            <a:noAutofit/>
          </a:bodyPr>
          <a:lstStyle/>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In [35]:</a:t>
            </a:r>
            <a:endParaRPr/>
          </a:p>
        </p:txBody>
      </p:sp>
      <p:sp>
        <p:nvSpPr>
          <p:cNvPr id="552" name="Google Shape;552;g377b8bda5b4_2_164"/>
          <p:cNvSpPr/>
          <p:nvPr/>
        </p:nvSpPr>
        <p:spPr>
          <a:xfrm>
            <a:off x="81149" y="343096"/>
            <a:ext cx="1405354" cy="43987"/>
          </a:xfrm>
          <a:prstGeom prst="rect">
            <a:avLst/>
          </a:prstGeom>
          <a:noFill/>
          <a:ln>
            <a:noFill/>
          </a:ln>
        </p:spPr>
        <p:txBody>
          <a:bodyPr anchorCtr="0" anchor="t" bIns="0" lIns="0" spcFirstLastPara="1" rIns="0" wrap="square" tIns="0">
            <a:noAutofit/>
          </a:bodyPr>
          <a:lstStyle/>
          <a:p>
            <a:pPr indent="0" lvl="0" marL="0" marR="0" rtl="0" algn="just">
              <a:lnSpc>
                <a:spcPct val="118736"/>
              </a:lnSpc>
              <a:spcBef>
                <a:spcPts val="0"/>
              </a:spcBef>
              <a:spcAft>
                <a:spcPts val="0"/>
              </a:spcAft>
              <a:buNone/>
            </a:pPr>
            <a:r>
              <a:rPr b="0" i="1" lang="en" sz="950" u="none" cap="none" strike="noStrike">
                <a:latin typeface="Arial"/>
                <a:ea typeface="Arial"/>
                <a:cs typeface="Arial"/>
                <a:sym typeface="Arial"/>
              </a:rPr>
              <a:t>#    Write the code here</a:t>
            </a:r>
            <a:endParaRPr/>
          </a:p>
        </p:txBody>
      </p:sp>
      <p:sp>
        <p:nvSpPr>
          <p:cNvPr id="553" name="Google Shape;553;g377b8bda5b4_2_164"/>
          <p:cNvSpPr/>
          <p:nvPr/>
        </p:nvSpPr>
        <p:spPr>
          <a:xfrm>
            <a:off x="81149" y="410542"/>
            <a:ext cx="3522606" cy="127561"/>
          </a:xfrm>
          <a:prstGeom prst="rect">
            <a:avLst/>
          </a:prstGeom>
          <a:noFill/>
          <a:ln>
            <a:noFill/>
          </a:ln>
        </p:spPr>
        <p:txBody>
          <a:bodyPr anchorCtr="0" anchor="t" bIns="0" lIns="0" spcFirstLastPara="1" rIns="0" wrap="square" tIns="0">
            <a:noAutofit/>
          </a:bodyPr>
          <a:lstStyle/>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Get the mean delivery time on weekdays and print it </a:t>
            </a:r>
            <a:r>
              <a:rPr b="1" i="0" lang="en" sz="850" u="none" cap="none" strike="noStrike">
                <a:latin typeface="Arial"/>
                <a:ea typeface="Arial"/>
                <a:cs typeface="Arial"/>
                <a:sym typeface="Arial"/>
              </a:rPr>
              <a:t>print('The mean delivery time on weekdays is around',</a:t>
            </a:r>
            <a:endParaRPr/>
          </a:p>
        </p:txBody>
      </p:sp>
      <p:sp>
        <p:nvSpPr>
          <p:cNvPr id="554" name="Google Shape;554;g377b8bda5b4_2_164"/>
          <p:cNvSpPr/>
          <p:nvPr/>
        </p:nvSpPr>
        <p:spPr>
          <a:xfrm>
            <a:off x="335662" y="551299"/>
            <a:ext cx="4518526" cy="55716"/>
          </a:xfrm>
          <a:prstGeom prst="rect">
            <a:avLst/>
          </a:prstGeom>
          <a:noFill/>
          <a:ln>
            <a:noFill/>
          </a:ln>
        </p:spPr>
        <p:txBody>
          <a:bodyPr anchorCtr="0" anchor="t" bIns="0" lIns="0" spcFirstLastPara="1" rIns="0" wrap="square" tIns="0">
            <a:noAutofit/>
          </a:bodyPr>
          <a:lstStyle/>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round(df[df['day_of_the_week'] == 'Weekday']['delivery_time'].mean()),</a:t>
            </a:r>
            <a:endParaRPr/>
          </a:p>
        </p:txBody>
      </p:sp>
      <p:sp>
        <p:nvSpPr>
          <p:cNvPr id="555" name="Google Shape;555;g377b8bda5b4_2_164"/>
          <p:cNvSpPr/>
          <p:nvPr/>
        </p:nvSpPr>
        <p:spPr>
          <a:xfrm>
            <a:off x="284022" y="621678"/>
            <a:ext cx="601241" cy="52784"/>
          </a:xfrm>
          <a:prstGeom prst="rect">
            <a:avLst/>
          </a:prstGeom>
          <a:noFill/>
          <a:ln>
            <a:noFill/>
          </a:ln>
        </p:spPr>
        <p:txBody>
          <a:bodyPr anchorCtr="0" anchor="t" bIns="0" lIns="0" spcFirstLastPara="1" rIns="0" wrap="square" tIns="0">
            <a:noAutofit/>
          </a:bodyPr>
          <a:lstStyle/>
          <a:p>
            <a:pPr indent="0" lvl="0" marL="0" marR="0" rtl="0" algn="l">
              <a:lnSpc>
                <a:spcPct val="132705"/>
              </a:lnSpc>
              <a:spcBef>
                <a:spcPts val="0"/>
              </a:spcBef>
              <a:spcAft>
                <a:spcPts val="0"/>
              </a:spcAft>
              <a:buNone/>
            </a:pPr>
            <a:r>
              <a:rPr b="1" i="0" lang="en" sz="850" u="none" cap="none" strike="noStrike">
                <a:latin typeface="Arial"/>
                <a:ea typeface="Arial"/>
                <a:cs typeface="Arial"/>
                <a:sym typeface="Arial"/>
              </a:rPr>
              <a:t>'minutes')</a:t>
            </a:r>
            <a:endParaRPr/>
          </a:p>
        </p:txBody>
      </p:sp>
      <p:sp>
        <p:nvSpPr>
          <p:cNvPr id="556" name="Google Shape;556;g377b8bda5b4_2_164"/>
          <p:cNvSpPr/>
          <p:nvPr/>
        </p:nvSpPr>
        <p:spPr>
          <a:xfrm>
            <a:off x="55329" y="821084"/>
            <a:ext cx="8472697" cy="1407572"/>
          </a:xfrm>
          <a:prstGeom prst="rect">
            <a:avLst/>
          </a:prstGeom>
          <a:noFill/>
          <a:ln>
            <a:noFill/>
          </a:ln>
        </p:spPr>
        <p:txBody>
          <a:bodyPr anchorCtr="0" anchor="t" bIns="0" lIns="0" spcFirstLastPara="1" rIns="0" wrap="square" tIns="0">
            <a:noAutofit/>
          </a:bodyPr>
          <a:lstStyle/>
          <a:p>
            <a:pPr indent="0" lvl="0" marL="0" marR="0" rtl="0" algn="l">
              <a:lnSpc>
                <a:spcPct val="118736"/>
              </a:lnSpc>
              <a:spcBef>
                <a:spcPts val="0"/>
              </a:spcBef>
              <a:spcAft>
                <a:spcPts val="0"/>
              </a:spcAft>
              <a:buNone/>
            </a:pPr>
            <a:r>
              <a:rPr b="0" i="1" lang="en" sz="950" u="none" cap="none" strike="noStrike">
                <a:latin typeface="Arial"/>
                <a:ea typeface="Arial"/>
                <a:cs typeface="Arial"/>
                <a:sym typeface="Arial"/>
              </a:rPr>
              <a:t>## Write the code below to get the mean delivery time on weekends and print it </a:t>
            </a:r>
            <a:r>
              <a:rPr b="1" i="0" lang="en" sz="850" u="none" cap="none" strike="noStrike">
                <a:latin typeface="Arial"/>
                <a:ea typeface="Arial"/>
                <a:cs typeface="Arial"/>
                <a:sym typeface="Arial"/>
              </a:rPr>
              <a:t>print('The mean delivery time on weekdays is around',</a:t>
            </a:r>
            <a:endParaRPr/>
          </a:p>
          <a:p>
            <a:pPr indent="0" lvl="0" marL="215900" marR="0" rtl="0" algn="l">
              <a:lnSpc>
                <a:spcPct val="132705"/>
              </a:lnSpc>
              <a:spcBef>
                <a:spcPts val="0"/>
              </a:spcBef>
              <a:spcAft>
                <a:spcPts val="0"/>
              </a:spcAft>
              <a:buNone/>
            </a:pPr>
            <a:r>
              <a:rPr b="1" i="0" lang="en" sz="850" u="none" cap="none" strike="noStrike">
                <a:latin typeface="Arial"/>
                <a:ea typeface="Arial"/>
                <a:cs typeface="Arial"/>
                <a:sym typeface="Arial"/>
              </a:rPr>
              <a:t>round(df[df['day_of_the_week'] == 'Weekend']['delivery_time'].mean()),</a:t>
            </a:r>
            <a:endParaRPr/>
          </a:p>
          <a:p>
            <a:pPr indent="0" lvl="0" marL="215900" marR="0" rtl="0" algn="l">
              <a:lnSpc>
                <a:spcPct val="132705"/>
              </a:lnSpc>
              <a:spcBef>
                <a:spcPts val="0"/>
              </a:spcBef>
              <a:spcAft>
                <a:spcPts val="0"/>
              </a:spcAft>
              <a:buNone/>
            </a:pPr>
            <a:r>
              <a:rPr b="1" i="0" lang="en" sz="850" u="none" cap="none" strike="noStrike">
                <a:latin typeface="Arial"/>
                <a:ea typeface="Arial"/>
                <a:cs typeface="Arial"/>
                <a:sym typeface="Arial"/>
              </a:rPr>
              <a:t>'minutes')</a:t>
            </a:r>
            <a:endParaRPr/>
          </a:p>
          <a:p>
            <a:pPr indent="0" lvl="0" marL="0" marR="0" rtl="0" algn="l">
              <a:lnSpc>
                <a:spcPct val="128000"/>
              </a:lnSpc>
              <a:spcBef>
                <a:spcPts val="0"/>
              </a:spcBef>
              <a:spcAft>
                <a:spcPts val="0"/>
              </a:spcAft>
              <a:buNone/>
            </a:pPr>
            <a:r>
              <a:rPr b="0" i="0" lang="en" sz="750" u="none" cap="none" strike="noStrike">
                <a:latin typeface="Arial"/>
                <a:ea typeface="Arial"/>
                <a:cs typeface="Arial"/>
                <a:sym typeface="Arial"/>
              </a:rPr>
              <a:t>The mean delivery time on weekdays is around 28 minutes The mean delivery time on weekdays is around 22 minutes</a:t>
            </a:r>
            <a:endParaRPr/>
          </a:p>
          <a:p>
            <a:pPr indent="0" lvl="0" marL="0" marR="0" rtl="0" algn="just">
              <a:spcBef>
                <a:spcPts val="840"/>
              </a:spcBef>
              <a:spcAft>
                <a:spcPts val="0"/>
              </a:spcAft>
              <a:buNone/>
            </a:pPr>
            <a:r>
              <a:rPr b="1" i="0" lang="en" sz="850" u="none" cap="none" strike="noStrike">
                <a:latin typeface="Arial"/>
                <a:ea typeface="Arial"/>
                <a:cs typeface="Arial"/>
                <a:sym typeface="Arial"/>
              </a:rPr>
              <a:t>Observations:</a:t>
            </a:r>
            <a:endParaRPr/>
          </a:p>
          <a:p>
            <a:pPr indent="0" lvl="0" marL="0" marR="0" rtl="0" algn="just">
              <a:lnSpc>
                <a:spcPct val="333176"/>
              </a:lnSpc>
              <a:spcBef>
                <a:spcPts val="840"/>
              </a:spcBef>
              <a:spcAft>
                <a:spcPts val="0"/>
              </a:spcAft>
              <a:buNone/>
            </a:pPr>
            <a:r>
              <a:rPr b="1" i="0" lang="en" sz="850" u="none" cap="none" strike="noStrike">
                <a:latin typeface="Arial"/>
                <a:ea typeface="Arial"/>
                <a:cs typeface="Arial"/>
                <a:sym typeface="Arial"/>
              </a:rPr>
              <a:t>Mean delivery time on weekdays » 28 minutes Mean delivery time on weekends » 22 minutes</a:t>
            </a:r>
            <a:endParaRPr/>
          </a:p>
          <a:p>
            <a:pPr indent="0" lvl="0" marL="0" marR="0" rtl="0" algn="just">
              <a:lnSpc>
                <a:spcPct val="257454"/>
              </a:lnSpc>
              <a:spcBef>
                <a:spcPts val="0"/>
              </a:spcBef>
              <a:spcAft>
                <a:spcPts val="0"/>
              </a:spcAft>
              <a:buNone/>
            </a:pPr>
            <a:r>
              <a:rPr b="1" i="0" lang="en" sz="1100" u="none" cap="none" strike="noStrike">
                <a:latin typeface="Arial"/>
                <a:ea typeface="Arial"/>
                <a:cs typeface="Arial"/>
                <a:sym typeface="Arial"/>
              </a:rPr>
              <a:t>Conclusion and Recommendations</a:t>
            </a:r>
            <a:endParaRPr/>
          </a:p>
          <a:p>
            <a:pPr indent="0" lvl="0" marL="0" marR="0" rtl="0" algn="l">
              <a:lnSpc>
                <a:spcPct val="124363"/>
              </a:lnSpc>
              <a:spcBef>
                <a:spcPts val="0"/>
              </a:spcBef>
              <a:spcAft>
                <a:spcPts val="0"/>
              </a:spcAft>
              <a:buNone/>
            </a:pPr>
            <a:r>
              <a:rPr b="1" i="0" lang="en" sz="1100" u="none" cap="none" strike="noStrike">
                <a:latin typeface="Arial"/>
                <a:ea typeface="Arial"/>
                <a:cs typeface="Arial"/>
                <a:sym typeface="Arial"/>
              </a:rPr>
              <a:t>Question 17: What are your conclusions from the analysis? What recommendations would you like to share to help improve the business? (You can use cuisine type and feedback ratings to drive your business recommendations.) [6 marks]</a:t>
            </a:r>
            <a:endParaRPr/>
          </a:p>
          <a:p>
            <a:pPr indent="0" lvl="0" marL="0" marR="0" rtl="0" algn="just">
              <a:spcBef>
                <a:spcPts val="840"/>
              </a:spcBef>
              <a:spcAft>
                <a:spcPts val="0"/>
              </a:spcAft>
              <a:buNone/>
            </a:pPr>
            <a:r>
              <a:rPr b="1" i="0" lang="en" sz="1100" u="none" cap="none" strike="noStrike">
                <a:latin typeface="Arial"/>
                <a:ea typeface="Arial"/>
                <a:cs typeface="Arial"/>
                <a:sym typeface="Arial"/>
              </a:rPr>
              <a:t>Conclusions:</a:t>
            </a:r>
            <a:endParaRPr/>
          </a:p>
        </p:txBody>
      </p:sp>
      <p:sp>
        <p:nvSpPr>
          <p:cNvPr id="557" name="Google Shape;557;g377b8bda5b4_2_164"/>
          <p:cNvSpPr/>
          <p:nvPr/>
        </p:nvSpPr>
        <p:spPr>
          <a:xfrm>
            <a:off x="66395" y="2473515"/>
            <a:ext cx="1641424" cy="70379"/>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i="0" lang="en" sz="1100" u="none" cap="none" strike="noStrike">
                <a:latin typeface="Arial"/>
                <a:ea typeface="Arial"/>
                <a:cs typeface="Arial"/>
                <a:sym typeface="Arial"/>
              </a:rPr>
              <a:t>Recommendations: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0"/>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565" name="Google Shape;565;p10"/>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